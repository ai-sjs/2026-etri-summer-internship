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80" r:id="rId3"/>
    <p:sldId id="279" r:id="rId4"/>
    <p:sldId id="259" r:id="rId5"/>
    <p:sldId id="260" r:id="rId6"/>
    <p:sldId id="261" r:id="rId7"/>
    <p:sldId id="263" r:id="rId8"/>
    <p:sldId id="262" r:id="rId9"/>
    <p:sldId id="258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C96"/>
    <a:srgbClr val="192E46"/>
    <a:srgbClr val="1856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46" autoAdjust="0"/>
  </p:normalViewPr>
  <p:slideViewPr>
    <p:cSldViewPr snapToGrid="0">
      <p:cViewPr varScale="1">
        <p:scale>
          <a:sx n="100" d="100"/>
          <a:sy n="100" d="100"/>
        </p:scale>
        <p:origin x="4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mIoU (%)</c:v>
          </c:tx>
          <c:spPr>
            <a:solidFill>
              <a:srgbClr val="2464A0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8D98A5"/>
              </a:solidFill>
            </c:spPr>
            <c:extLst>
              <c:ext xmlns:c16="http://schemas.microsoft.com/office/drawing/2014/chart" uri="{C3380CC4-5D6E-409C-BE32-E72D297353CC}">
                <c16:uniqueId val="{00000001-3841-47E2-8A51-C4CE987742C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41-47E2-8A51-C4CE987742C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5-3841-47E2-8A51-C4CE987742C8}"/>
              </c:ext>
            </c:extLst>
          </c:dPt>
          <c:dPt>
            <c:idx val="3"/>
            <c:invertIfNegative val="0"/>
            <c:bubble3D val="0"/>
            <c:spPr>
              <a:solidFill>
                <a:srgbClr val="008C96"/>
              </a:solidFill>
            </c:spPr>
            <c:extLst>
              <c:ext xmlns:c16="http://schemas.microsoft.com/office/drawing/2014/chart" uri="{C3380CC4-5D6E-409C-BE32-E72D297353CC}">
                <c16:uniqueId val="{00000007-3841-47E2-8A51-C4CE987742C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92E46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Baseline
P128</c:v>
                </c:pt>
                <c:pt idx="1">
                  <c:v>RGB-16
P128</c:v>
                </c:pt>
                <c:pt idx="2">
                  <c:v>Full-Z
P64</c:v>
                </c:pt>
                <c:pt idx="3">
                  <c:v>Full-Z+RGB-16
P32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46.35</c:v>
                </c:pt>
                <c:pt idx="1">
                  <c:v>47.73</c:v>
                </c:pt>
                <c:pt idx="2">
                  <c:v>47.62</c:v>
                </c:pt>
                <c:pt idx="3">
                  <c:v>48.86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3841-47E2-8A51-C4CE987742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3DDE6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D3DDE6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Baseline</c:v>
          </c:tx>
          <c:spPr>
            <a:ln w="31433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8D98A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32</c:v>
                </c:pt>
                <c:pt idx="1">
                  <c:v>64</c:v>
                </c:pt>
                <c:pt idx="2">
                  <c:v>128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39.39</c:v>
                </c:pt>
                <c:pt idx="1">
                  <c:v>44.35</c:v>
                </c:pt>
                <c:pt idx="2">
                  <c:v>46.35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CD-4807-90CC-60F0722803F4}"/>
            </c:ext>
          </c:extLst>
        </c:ser>
        <c:ser>
          <c:idx val="1"/>
          <c:order val="1"/>
          <c:tx>
            <c:v>RGB-16</c:v>
          </c:tx>
          <c:spPr>
            <a:ln w="31433">
              <a:solidFill>
                <a:srgbClr val="0070C0"/>
              </a:solidFill>
              <a:prstDash val="solid"/>
            </a:ln>
          </c:spPr>
          <c:marker>
            <c:symbol val="square"/>
            <c:size val="8"/>
            <c:spPr>
              <a:solidFill>
                <a:srgbClr val="2464A0"/>
              </a:solidFill>
              <a:ln>
                <a:solidFill>
                  <a:srgbClr val="0070C0"/>
                </a:solidFill>
              </a:ln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32</c:v>
                </c:pt>
                <c:pt idx="1">
                  <c:v>64</c:v>
                </c:pt>
                <c:pt idx="2">
                  <c:v>128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42.62</c:v>
                </c:pt>
                <c:pt idx="1">
                  <c:v>43.86</c:v>
                </c:pt>
                <c:pt idx="2">
                  <c:v>47.73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CD-4807-90CC-60F0722803F4}"/>
            </c:ext>
          </c:extLst>
        </c:ser>
        <c:ser>
          <c:idx val="2"/>
          <c:order val="2"/>
          <c:tx>
            <c:v>Full-Z</c:v>
          </c:tx>
          <c:spPr>
            <a:ln w="31433">
              <a:solidFill>
                <a:schemeClr val="accent2"/>
              </a:solidFill>
              <a:prstDash val="solid"/>
            </a:ln>
          </c:spPr>
          <c:marker>
            <c:symbol val="diamond"/>
            <c:size val="8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32</c:v>
                </c:pt>
                <c:pt idx="1">
                  <c:v>64</c:v>
                </c:pt>
                <c:pt idx="2">
                  <c:v>128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43.13</c:v>
                </c:pt>
                <c:pt idx="1">
                  <c:v>47.62</c:v>
                </c:pt>
                <c:pt idx="2">
                  <c:v>45.51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CD-4807-90CC-60F0722803F4}"/>
            </c:ext>
          </c:extLst>
        </c:ser>
        <c:ser>
          <c:idx val="3"/>
          <c:order val="3"/>
          <c:tx>
            <c:v>Full-Z+RGB-16</c:v>
          </c:tx>
          <c:spPr>
            <a:ln w="31433">
              <a:solidFill>
                <a:srgbClr val="008C96"/>
              </a:solidFill>
              <a:prstDash val="solid"/>
            </a:ln>
          </c:spPr>
          <c:marker>
            <c:symbol val="triangle"/>
            <c:size val="8"/>
            <c:spPr>
              <a:solidFill>
                <a:srgbClr val="008C96"/>
              </a:solidFill>
              <a:ln>
                <a:solidFill>
                  <a:srgbClr val="008C96"/>
                </a:solidFill>
              </a:ln>
            </c:spPr>
          </c:marker>
          <c:cat>
            <c:numRef>
              <c:f>'Chart Data'!$G$2:$G$4</c:f>
              <c:numCache>
                <c:formatCode>General</c:formatCode>
                <c:ptCount val="3"/>
                <c:pt idx="0">
                  <c:v>32</c:v>
                </c:pt>
                <c:pt idx="1">
                  <c:v>64</c:v>
                </c:pt>
                <c:pt idx="2">
                  <c:v>128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48.86</c:v>
                </c:pt>
                <c:pt idx="1">
                  <c:v>47.2</c:v>
                </c:pt>
                <c:pt idx="2">
                  <c:v>47.65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8CD-4807-90CC-60F0722803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650">
                    <a:solidFill>
                      <a:srgbClr val="27313C"/>
                    </a:solidFill>
                    <a:latin typeface="Malgun Gothic"/>
                    <a:ea typeface="Malgun Gothic"/>
                    <a:cs typeface="Malgun Gothic"/>
                  </a:rPr>
                  <a:t>패치 크기 </a:t>
                </a:r>
                <a:r>
                  <a:rPr lang="en-US" sz="1650">
                    <a:solidFill>
                      <a:srgbClr val="27313C"/>
                    </a:solidFill>
                    <a:latin typeface="Malgun Gothic"/>
                    <a:ea typeface="Malgun Gothic"/>
                    <a:cs typeface="Malgun Gothic"/>
                  </a:rPr>
                  <a:t>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3DDE6"/>
            </a:solidFill>
          </a:ln>
        </c:spPr>
        <c:txPr>
          <a:bodyPr anchorCtr="1"/>
          <a:lstStyle/>
          <a:p>
            <a:pPr>
              <a:defRPr sz="165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"/>
          <c:min val="38"/>
        </c:scaling>
        <c:delete val="0"/>
        <c:axPos val="l"/>
        <c:majorGridlines>
          <c:spPr>
            <a:ln w="9525">
              <a:solidFill>
                <a:srgbClr val="D3DD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650">
                    <a:solidFill>
                      <a:srgbClr val="27313C"/>
                    </a:solidFill>
                    <a:latin typeface="Malgun Gothic"/>
                    <a:ea typeface="Malgun Gothic"/>
                    <a:cs typeface="Malgun Gothic"/>
                  </a:rPr>
                  <a:t>mIoU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2"/>
      </c:valAx>
    </c:plotArea>
    <c:legend>
      <c:legendPos val="b"/>
      <c:overlay val="0"/>
      <c:spPr>
        <a:ln cmpd="sng">
          <a:solidFill>
            <a:schemeClr val="tx1">
              <a:lumMod val="50000"/>
              <a:lumOff val="50000"/>
            </a:schemeClr>
          </a:solidFill>
        </a:ln>
      </c:spPr>
      <c:txPr>
        <a:bodyPr anchorCtr="1"/>
        <a:lstStyle/>
        <a:p>
          <a:pPr>
            <a:defRPr sz="1425">
              <a:solidFill>
                <a:srgbClr val="27313C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IoU (%)</c:v>
          </c:tx>
          <c:spPr>
            <a:solidFill>
              <a:srgbClr val="2464A0"/>
            </a:solidFill>
          </c:spPr>
          <c:invertIfNegative val="1"/>
          <c:dPt>
            <c:idx val="5"/>
            <c:invertIfNegative val="0"/>
            <c:bubble3D val="0"/>
            <c:spPr>
              <a:solidFill>
                <a:srgbClr val="BD704A"/>
              </a:solidFill>
            </c:spPr>
            <c:extLst>
              <c:ext xmlns:c16="http://schemas.microsoft.com/office/drawing/2014/chart" uri="{C3380CC4-5D6E-409C-BE32-E72D297353CC}">
                <c16:uniqueId val="{00000001-DF58-4A19-9FC6-6C84432372E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192E46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Ground</c:v>
                </c:pt>
                <c:pt idx="1">
                  <c:v>Building</c:v>
                </c:pt>
                <c:pt idx="2">
                  <c:v>Tree</c:v>
                </c:pt>
                <c:pt idx="3">
                  <c:v>Car</c:v>
                </c:pt>
                <c:pt idx="4">
                  <c:v>Light pole</c:v>
                </c:pt>
                <c:pt idx="5">
                  <c:v>Fence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82.8</c:v>
                </c:pt>
                <c:pt idx="1">
                  <c:v>68.3</c:v>
                </c:pt>
                <c:pt idx="2">
                  <c:v>58.7</c:v>
                </c:pt>
                <c:pt idx="3">
                  <c:v>26.2</c:v>
                </c:pt>
                <c:pt idx="4">
                  <c:v>50.2</c:v>
                </c:pt>
                <c:pt idx="5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F58-4A19-9FC6-6C84432372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3DDE6"/>
            </a:solidFill>
          </a:ln>
        </c:spPr>
        <c:txPr>
          <a:bodyPr anchorCtr="1"/>
          <a:lstStyle/>
          <a:p>
            <a:pPr>
              <a:defRPr sz="120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3DDE6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25"/>
      </c:valAx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안녕하세요</a:t>
            </a:r>
            <a:r>
              <a:rPr dirty="0"/>
              <a:t>.</a:t>
            </a:r>
            <a:r>
              <a:rPr lang="en-US" dirty="0"/>
              <a:t> </a:t>
            </a:r>
            <a:r>
              <a:rPr lang="ko-KR" altLang="en-US" dirty="0"/>
              <a:t>저는 동국대학교 컴퓨터공학부 김재홍입니다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제가 발표드릴 주제는 </a:t>
            </a:r>
            <a:r>
              <a:rPr lang="en-US" altLang="ko-KR" dirty="0"/>
              <a:t>3D CNN </a:t>
            </a:r>
            <a:r>
              <a:rPr lang="ko-KR" altLang="en-US" dirty="0"/>
              <a:t>기반 도심 </a:t>
            </a:r>
            <a:r>
              <a:rPr lang="en-US" altLang="ko-KR" dirty="0"/>
              <a:t>3</a:t>
            </a:r>
            <a:r>
              <a:rPr lang="ko-KR" altLang="en-US" dirty="0"/>
              <a:t>차원 데이터의 의미론적 분할을 위한 </a:t>
            </a:r>
            <a:r>
              <a:rPr lang="ko-KR" altLang="en-US" dirty="0" err="1"/>
              <a:t>복셀화</a:t>
            </a:r>
            <a:r>
              <a:rPr lang="ko-KR" altLang="en-US" dirty="0"/>
              <a:t> 기법별 성능 비교 입니다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간단하게 요약해서 </a:t>
            </a:r>
            <a:r>
              <a:rPr lang="ko-KR" altLang="en-US" dirty="0" err="1"/>
              <a:t>설명드리면</a:t>
            </a:r>
            <a:r>
              <a:rPr dirty="0"/>
              <a:t> </a:t>
            </a:r>
            <a:r>
              <a:rPr dirty="0" err="1"/>
              <a:t>복셀</a:t>
            </a:r>
            <a:r>
              <a:rPr dirty="0"/>
              <a:t> </a:t>
            </a:r>
            <a:r>
              <a:rPr dirty="0" err="1"/>
              <a:t>데이터의</a:t>
            </a:r>
            <a:r>
              <a:rPr dirty="0"/>
              <a:t> </a:t>
            </a:r>
            <a:r>
              <a:rPr dirty="0" err="1"/>
              <a:t>색상</a:t>
            </a:r>
            <a:r>
              <a:rPr dirty="0"/>
              <a:t> </a:t>
            </a:r>
            <a:r>
              <a:rPr dirty="0" err="1"/>
              <a:t>대표값과</a:t>
            </a:r>
            <a:r>
              <a:rPr dirty="0"/>
              <a:t> </a:t>
            </a:r>
            <a:r>
              <a:rPr dirty="0" err="1"/>
              <a:t>공간</a:t>
            </a:r>
            <a:r>
              <a:rPr dirty="0"/>
              <a:t> </a:t>
            </a:r>
            <a:r>
              <a:rPr dirty="0" err="1"/>
              <a:t>범위를</a:t>
            </a:r>
            <a:r>
              <a:rPr dirty="0"/>
              <a:t> </a:t>
            </a:r>
            <a:r>
              <a:rPr dirty="0" err="1"/>
              <a:t>다르게</a:t>
            </a:r>
            <a:r>
              <a:rPr dirty="0"/>
              <a:t> </a:t>
            </a:r>
            <a:r>
              <a:rPr dirty="0" err="1"/>
              <a:t>구성했을</a:t>
            </a:r>
            <a:r>
              <a:rPr dirty="0"/>
              <a:t> 때, </a:t>
            </a:r>
            <a:r>
              <a:rPr dirty="0" err="1"/>
              <a:t>도시</a:t>
            </a:r>
            <a:r>
              <a:rPr dirty="0"/>
              <a:t> </a:t>
            </a:r>
            <a:r>
              <a:rPr dirty="0" err="1"/>
              <a:t>객체</a:t>
            </a:r>
            <a:r>
              <a:rPr dirty="0"/>
              <a:t> </a:t>
            </a:r>
            <a:r>
              <a:rPr dirty="0" err="1"/>
              <a:t>분할</a:t>
            </a:r>
            <a:r>
              <a:rPr dirty="0"/>
              <a:t> </a:t>
            </a:r>
            <a:r>
              <a:rPr dirty="0" err="1"/>
              <a:t>성능이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달라지는</a:t>
            </a:r>
            <a:r>
              <a:rPr lang="ko-KR" altLang="en-US" dirty="0"/>
              <a:t>지에 대한 연구를 수행하였습니다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그럼 발표 시작하겠습니다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최근 공간정보 트렌드 </a:t>
            </a:r>
            <a:r>
              <a:rPr lang="en-US" altLang="ko-KR" dirty="0"/>
              <a:t>-&gt; 3</a:t>
            </a:r>
            <a:r>
              <a:rPr lang="ko-KR" altLang="en-US" dirty="0"/>
              <a:t>차원 공간정보의 구조화 </a:t>
            </a:r>
            <a:r>
              <a:rPr lang="en-US" altLang="ko-KR" dirty="0"/>
              <a:t>-&gt; </a:t>
            </a:r>
            <a:r>
              <a:rPr lang="ko-KR" altLang="en-US" dirty="0" err="1"/>
              <a:t>머신리더블</a:t>
            </a:r>
            <a:r>
              <a:rPr lang="ko-KR" altLang="en-US" dirty="0"/>
              <a:t> 데이터 구축 </a:t>
            </a:r>
            <a:r>
              <a:rPr lang="en-US" altLang="ko-KR" dirty="0"/>
              <a:t>-&gt; </a:t>
            </a:r>
            <a:r>
              <a:rPr lang="ko-KR" altLang="en-US" dirty="0" err="1"/>
              <a:t>무인이동체</a:t>
            </a:r>
            <a:r>
              <a:rPr lang="ko-KR" altLang="en-US" dirty="0"/>
              <a:t> 역시 </a:t>
            </a:r>
            <a:r>
              <a:rPr lang="en-US" altLang="ko-KR" dirty="0"/>
              <a:t>LiDAR, SLAM</a:t>
            </a:r>
            <a:r>
              <a:rPr lang="ko-KR" altLang="en-US" dirty="0"/>
              <a:t>을 통해 포인트 클라우드를 수집하여 별도의 </a:t>
            </a:r>
            <a:r>
              <a:rPr lang="en-US" altLang="ko-KR" dirty="0"/>
              <a:t>map</a:t>
            </a:r>
            <a:r>
              <a:rPr lang="ko-KR" altLang="en-US" dirty="0"/>
              <a:t>을 구축하여 활용되고 있었으나 최근에는 의미론적 분할이 된 </a:t>
            </a:r>
            <a:r>
              <a:rPr lang="ko-KR" altLang="en-US" dirty="0" err="1"/>
              <a:t>시멘틱</a:t>
            </a:r>
            <a:r>
              <a:rPr lang="ko-KR" altLang="en-US" dirty="0"/>
              <a:t> </a:t>
            </a:r>
            <a:r>
              <a:rPr lang="ko-KR" altLang="en-US" dirty="0" err="1"/>
              <a:t>복셀</a:t>
            </a:r>
            <a:r>
              <a:rPr lang="en-US" altLang="ko-KR" dirty="0"/>
              <a:t>map</a:t>
            </a:r>
            <a:r>
              <a:rPr lang="ko-KR" altLang="en-US" dirty="0"/>
              <a:t>을 주로 활용하는 연구가 다수 수행 중 </a:t>
            </a:r>
            <a:r>
              <a:rPr lang="en-US" altLang="ko-KR" dirty="0"/>
              <a:t>-&gt; </a:t>
            </a:r>
            <a:r>
              <a:rPr lang="ko-KR" altLang="en-US" dirty="0"/>
              <a:t>이러한 배경에서 우리는 </a:t>
            </a:r>
            <a:r>
              <a:rPr lang="en-US" altLang="ko-KR" dirty="0"/>
              <a:t>AI</a:t>
            </a:r>
            <a:r>
              <a:rPr lang="ko-KR" altLang="en-US" dirty="0"/>
              <a:t>를 기반으로 기존 포인트 클라우드를 </a:t>
            </a:r>
            <a:r>
              <a:rPr lang="ko-KR" altLang="en-US" dirty="0" err="1"/>
              <a:t>복셀화</a:t>
            </a:r>
            <a:r>
              <a:rPr lang="ko-KR" altLang="en-US" dirty="0"/>
              <a:t> 하고 의미론적 분할을 통해 공간 구조와 객체 의미를 함께 반영한 </a:t>
            </a:r>
            <a:r>
              <a:rPr lang="ko-KR" altLang="en-US" dirty="0" err="1"/>
              <a:t>복셀</a:t>
            </a:r>
            <a:r>
              <a:rPr lang="ko-KR" altLang="en-US" dirty="0"/>
              <a:t> 기반 학습 데이터셋 구축을 하고자 함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학습을 </a:t>
            </a:r>
            <a:r>
              <a:rPr lang="ko-KR" altLang="en-US" dirty="0" err="1"/>
              <a:t>할때</a:t>
            </a:r>
            <a:r>
              <a:rPr lang="ko-KR" altLang="en-US" dirty="0"/>
              <a:t> 어떤 공간구조나 패턴이 </a:t>
            </a:r>
            <a:r>
              <a:rPr lang="en-US" altLang="ko-KR" dirty="0"/>
              <a:t>AI </a:t>
            </a:r>
            <a:r>
              <a:rPr lang="ko-KR" altLang="en-US" dirty="0"/>
              <a:t>기반 </a:t>
            </a:r>
            <a:r>
              <a:rPr lang="ko-KR" altLang="en-US"/>
              <a:t>분류 성능을 </a:t>
            </a:r>
            <a:r>
              <a:rPr lang="ko-KR" altLang="en-US" dirty="0"/>
              <a:t>어떻게 달라지는가를 정량적으로 분석하는 것이 저희 연구의 주된 목적입니다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499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색상</a:t>
            </a:r>
            <a:r>
              <a:rPr dirty="0"/>
              <a:t> </a:t>
            </a:r>
            <a:r>
              <a:rPr dirty="0" err="1"/>
              <a:t>대표값</a:t>
            </a:r>
            <a:r>
              <a:rPr dirty="0"/>
              <a:t> 2종, </a:t>
            </a:r>
            <a:r>
              <a:rPr dirty="0" err="1"/>
              <a:t>공간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2종, </a:t>
            </a:r>
            <a:r>
              <a:rPr dirty="0" err="1"/>
              <a:t>패치</a:t>
            </a:r>
            <a:r>
              <a:rPr dirty="0"/>
              <a:t> </a:t>
            </a:r>
            <a:r>
              <a:rPr dirty="0" err="1"/>
              <a:t>크기</a:t>
            </a:r>
            <a:r>
              <a:rPr dirty="0"/>
              <a:t> 3종의 </a:t>
            </a:r>
            <a:r>
              <a:rPr dirty="0" err="1"/>
              <a:t>조합</a:t>
            </a:r>
            <a:endParaRPr dirty="0"/>
          </a:p>
          <a:p>
            <a:r>
              <a:rPr dirty="0"/>
              <a:t>총 12개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조건에</a:t>
            </a:r>
            <a:r>
              <a:rPr dirty="0"/>
              <a:t> </a:t>
            </a:r>
            <a:r>
              <a:rPr dirty="0" err="1"/>
              <a:t>동일</a:t>
            </a:r>
            <a:r>
              <a:rPr dirty="0"/>
              <a:t> Sparse 3D CNN </a:t>
            </a:r>
            <a:r>
              <a:rPr dirty="0" err="1"/>
              <a:t>적용</a:t>
            </a:r>
            <a:endParaRPr dirty="0"/>
          </a:p>
          <a:p>
            <a:r>
              <a:rPr dirty="0" err="1"/>
              <a:t>복셀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학습에</a:t>
            </a:r>
            <a:r>
              <a:rPr dirty="0"/>
              <a:t> </a:t>
            </a:r>
            <a:r>
              <a:rPr dirty="0" err="1"/>
              <a:t>적합한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  <a:p>
            <a:r>
              <a:rPr dirty="0" err="1"/>
              <a:t>도형은</a:t>
            </a:r>
            <a:r>
              <a:rPr dirty="0"/>
              <a:t>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요소를</a:t>
            </a:r>
            <a:r>
              <a:rPr dirty="0"/>
              <a:t> </a:t>
            </a:r>
            <a:r>
              <a:rPr dirty="0" err="1"/>
              <a:t>설명하는</a:t>
            </a:r>
            <a:r>
              <a:rPr dirty="0"/>
              <a:t> </a:t>
            </a:r>
            <a:r>
              <a:rPr dirty="0" err="1"/>
              <a:t>개념도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장면</a:t>
            </a:r>
            <a:r>
              <a:rPr dirty="0"/>
              <a:t>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나누고</a:t>
            </a:r>
            <a:r>
              <a:rPr dirty="0"/>
              <a:t>, </a:t>
            </a:r>
            <a:r>
              <a:rPr dirty="0" err="1"/>
              <a:t>공통된</a:t>
            </a:r>
            <a:r>
              <a:rPr dirty="0"/>
              <a:t> </a:t>
            </a:r>
            <a:r>
              <a:rPr dirty="0" err="1"/>
              <a:t>규칙으로</a:t>
            </a:r>
            <a:r>
              <a:rPr dirty="0"/>
              <a:t> </a:t>
            </a:r>
            <a:r>
              <a:rPr dirty="0" err="1"/>
              <a:t>복셀을</a:t>
            </a:r>
            <a:r>
              <a:rPr dirty="0"/>
              <a:t> </a:t>
            </a:r>
            <a:r>
              <a:rPr dirty="0" err="1"/>
              <a:t>만듭니다</a:t>
            </a:r>
            <a:r>
              <a:rPr dirty="0"/>
              <a:t>. </a:t>
            </a:r>
            <a:r>
              <a:rPr dirty="0" err="1"/>
              <a:t>다음으로</a:t>
            </a:r>
            <a:r>
              <a:rPr dirty="0"/>
              <a:t> </a:t>
            </a:r>
            <a:r>
              <a:rPr dirty="0" err="1"/>
              <a:t>색상과</a:t>
            </a:r>
            <a:r>
              <a:rPr dirty="0"/>
              <a:t> </a:t>
            </a:r>
            <a:r>
              <a:rPr dirty="0" err="1"/>
              <a:t>공간</a:t>
            </a:r>
            <a:r>
              <a:rPr dirty="0"/>
              <a:t> </a:t>
            </a:r>
            <a:r>
              <a:rPr dirty="0" err="1"/>
              <a:t>구성을</a:t>
            </a:r>
            <a:r>
              <a:rPr dirty="0"/>
              <a:t> </a:t>
            </a:r>
            <a:r>
              <a:rPr dirty="0" err="1"/>
              <a:t>바꾼</a:t>
            </a:r>
            <a:r>
              <a:rPr dirty="0"/>
              <a:t> 12가지 </a:t>
            </a:r>
            <a:r>
              <a:rPr dirty="0" err="1"/>
              <a:t>조건을</a:t>
            </a:r>
            <a:r>
              <a:rPr dirty="0"/>
              <a:t> </a:t>
            </a:r>
            <a:r>
              <a:rPr dirty="0" err="1"/>
              <a:t>학습합니다</a:t>
            </a:r>
            <a:r>
              <a:rPr dirty="0"/>
              <a:t>. </a:t>
            </a:r>
            <a:r>
              <a:rPr dirty="0" err="1"/>
              <a:t>마지막으로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장면의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점유</a:t>
            </a:r>
            <a:r>
              <a:rPr dirty="0"/>
              <a:t> </a:t>
            </a:r>
            <a:r>
              <a:rPr dirty="0" err="1"/>
              <a:t>복셀을</a:t>
            </a:r>
            <a:r>
              <a:rPr dirty="0"/>
              <a:t> </a:t>
            </a:r>
            <a:r>
              <a:rPr dirty="0" err="1"/>
              <a:t>예측해</a:t>
            </a:r>
            <a:r>
              <a:rPr dirty="0"/>
              <a:t> </a:t>
            </a:r>
            <a:r>
              <a:rPr dirty="0" err="1"/>
              <a:t>정답과</a:t>
            </a:r>
            <a:r>
              <a:rPr dirty="0"/>
              <a:t> </a:t>
            </a:r>
            <a:r>
              <a:rPr dirty="0" err="1"/>
              <a:t>비교합니다</a:t>
            </a:r>
            <a:r>
              <a:rPr dirty="0"/>
              <a:t>. </a:t>
            </a:r>
            <a:r>
              <a:rPr dirty="0" err="1"/>
              <a:t>색상을</a:t>
            </a:r>
            <a:r>
              <a:rPr dirty="0"/>
              <a:t> </a:t>
            </a:r>
            <a:r>
              <a:rPr dirty="0" err="1"/>
              <a:t>계산할</a:t>
            </a:r>
            <a:r>
              <a:rPr dirty="0"/>
              <a:t> 때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라벨을</a:t>
            </a:r>
            <a:r>
              <a:rPr dirty="0"/>
              <a:t> </a:t>
            </a:r>
            <a:r>
              <a:rPr dirty="0" err="1"/>
              <a:t>쓰지는</a:t>
            </a:r>
            <a:r>
              <a:rPr dirty="0"/>
              <a:t> </a:t>
            </a:r>
            <a:r>
              <a:rPr dirty="0" err="1"/>
              <a:t>않습니다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합성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63개 </a:t>
            </a:r>
            <a:r>
              <a:rPr dirty="0" err="1"/>
              <a:t>장면</a:t>
            </a:r>
            <a:r>
              <a:rPr dirty="0"/>
              <a:t> 중 </a:t>
            </a:r>
            <a:r>
              <a:rPr dirty="0" err="1"/>
              <a:t>학습</a:t>
            </a:r>
            <a:r>
              <a:rPr dirty="0"/>
              <a:t> 50개, </a:t>
            </a:r>
            <a:r>
              <a:rPr dirty="0" err="1"/>
              <a:t>검증</a:t>
            </a:r>
            <a:r>
              <a:rPr dirty="0"/>
              <a:t> 13개로 </a:t>
            </a:r>
            <a:r>
              <a:rPr dirty="0" err="1"/>
              <a:t>분할</a:t>
            </a:r>
            <a:endParaRPr dirty="0"/>
          </a:p>
          <a:p>
            <a:r>
              <a:rPr dirty="0" err="1"/>
              <a:t>동일</a:t>
            </a:r>
            <a:r>
              <a:rPr dirty="0"/>
              <a:t> </a:t>
            </a:r>
            <a:r>
              <a:rPr dirty="0" err="1"/>
              <a:t>장면의</a:t>
            </a:r>
            <a:r>
              <a:rPr dirty="0"/>
              <a:t> </a:t>
            </a:r>
            <a:r>
              <a:rPr dirty="0" err="1"/>
              <a:t>패치를</a:t>
            </a:r>
            <a:r>
              <a:rPr dirty="0"/>
              <a:t> </a:t>
            </a:r>
            <a:r>
              <a:rPr dirty="0" err="1"/>
              <a:t>학습·검증에</a:t>
            </a:r>
            <a:r>
              <a:rPr dirty="0"/>
              <a:t>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배정하지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장면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분할</a:t>
            </a:r>
            <a:endParaRPr dirty="0"/>
          </a:p>
          <a:p>
            <a:r>
              <a:rPr dirty="0" err="1"/>
              <a:t>실제</a:t>
            </a:r>
            <a:r>
              <a:rPr dirty="0"/>
              <a:t> WMSC 1개 </a:t>
            </a:r>
            <a:r>
              <a:rPr dirty="0" err="1"/>
              <a:t>장면의</a:t>
            </a:r>
            <a:r>
              <a:rPr dirty="0"/>
              <a:t> 2,139,806개 </a:t>
            </a:r>
            <a:r>
              <a:rPr dirty="0" err="1"/>
              <a:t>점유</a:t>
            </a:r>
            <a:r>
              <a:rPr dirty="0"/>
              <a:t> </a:t>
            </a:r>
            <a:r>
              <a:rPr dirty="0" err="1"/>
              <a:t>복셀</a:t>
            </a:r>
            <a:r>
              <a:rPr dirty="0"/>
              <a:t> </a:t>
            </a:r>
            <a:r>
              <a:rPr dirty="0" err="1"/>
              <a:t>평가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정답은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클래스의</a:t>
            </a:r>
            <a:r>
              <a:rPr dirty="0"/>
              <a:t> </a:t>
            </a:r>
            <a:r>
              <a:rPr dirty="0" err="1"/>
              <a:t>최다득표로</a:t>
            </a:r>
            <a:r>
              <a:rPr dirty="0"/>
              <a:t> </a:t>
            </a:r>
            <a:r>
              <a:rPr dirty="0" err="1"/>
              <a:t>정합니다</a:t>
            </a:r>
            <a:r>
              <a:rPr dirty="0"/>
              <a:t>. </a:t>
            </a:r>
            <a:r>
              <a:rPr dirty="0" err="1"/>
              <a:t>최다</a:t>
            </a:r>
            <a:r>
              <a:rPr dirty="0"/>
              <a:t> </a:t>
            </a:r>
            <a:r>
              <a:rPr dirty="0" err="1"/>
              <a:t>빈도</a:t>
            </a:r>
            <a:r>
              <a:rPr dirty="0"/>
              <a:t> </a:t>
            </a:r>
            <a:r>
              <a:rPr dirty="0" err="1"/>
              <a:t>클래스가</a:t>
            </a:r>
            <a:r>
              <a:rPr dirty="0"/>
              <a:t> </a:t>
            </a:r>
            <a:r>
              <a:rPr dirty="0" err="1"/>
              <a:t>동률이면</a:t>
            </a:r>
            <a:r>
              <a:rPr dirty="0"/>
              <a:t> 그 </a:t>
            </a:r>
            <a:r>
              <a:rPr dirty="0" err="1"/>
              <a:t>동률</a:t>
            </a:r>
            <a:r>
              <a:rPr dirty="0"/>
              <a:t> </a:t>
            </a:r>
            <a:r>
              <a:rPr dirty="0" err="1"/>
              <a:t>클래스에</a:t>
            </a:r>
            <a:r>
              <a:rPr dirty="0"/>
              <a:t> </a:t>
            </a:r>
            <a:r>
              <a:rPr dirty="0" err="1"/>
              <a:t>속한</a:t>
            </a:r>
            <a:r>
              <a:rPr dirty="0"/>
              <a:t> 점 중 </a:t>
            </a:r>
            <a:r>
              <a:rPr dirty="0" err="1"/>
              <a:t>복셀</a:t>
            </a:r>
            <a:r>
              <a:rPr dirty="0"/>
              <a:t> </a:t>
            </a:r>
            <a:r>
              <a:rPr dirty="0" err="1"/>
              <a:t>중심에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가까운</a:t>
            </a:r>
            <a:r>
              <a:rPr dirty="0"/>
              <a:t> </a:t>
            </a:r>
            <a:r>
              <a:rPr dirty="0" err="1"/>
              <a:t>점의</a:t>
            </a:r>
            <a:r>
              <a:rPr dirty="0"/>
              <a:t> </a:t>
            </a:r>
            <a:r>
              <a:rPr dirty="0" err="1"/>
              <a:t>클래스를</a:t>
            </a:r>
            <a:r>
              <a:rPr dirty="0"/>
              <a:t> </a:t>
            </a:r>
            <a:r>
              <a:rPr dirty="0" err="1"/>
              <a:t>고릅니다</a:t>
            </a:r>
            <a:r>
              <a:rPr dirty="0"/>
              <a:t>. 그 후 </a:t>
            </a:r>
            <a:r>
              <a:rPr dirty="0" err="1"/>
              <a:t>공통</a:t>
            </a:r>
            <a:r>
              <a:rPr dirty="0"/>
              <a:t> </a:t>
            </a:r>
            <a:r>
              <a:rPr dirty="0" err="1"/>
              <a:t>클래스로</a:t>
            </a:r>
            <a:r>
              <a:rPr dirty="0"/>
              <a:t> </a:t>
            </a:r>
            <a:r>
              <a:rPr dirty="0" err="1"/>
              <a:t>통합합니다</a:t>
            </a:r>
            <a:r>
              <a:rPr dirty="0"/>
              <a:t>. </a:t>
            </a:r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식생</a:t>
            </a:r>
            <a:r>
              <a:rPr dirty="0"/>
              <a:t> </a:t>
            </a:r>
            <a:r>
              <a:rPr dirty="0" err="1"/>
              <a:t>클래스를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Tree로</a:t>
            </a:r>
            <a:r>
              <a:rPr dirty="0"/>
              <a:t> </a:t>
            </a:r>
            <a:r>
              <a:rPr dirty="0" err="1"/>
              <a:t>합쳐</a:t>
            </a:r>
            <a:r>
              <a:rPr dirty="0"/>
              <a:t> </a:t>
            </a:r>
            <a:r>
              <a:rPr dirty="0" err="1"/>
              <a:t>투표하는</a:t>
            </a:r>
            <a:r>
              <a:rPr dirty="0"/>
              <a:t> </a:t>
            </a:r>
            <a:r>
              <a:rPr dirty="0" err="1"/>
              <a:t>방식과</a:t>
            </a:r>
            <a:r>
              <a:rPr dirty="0"/>
              <a:t> </a:t>
            </a:r>
            <a:r>
              <a:rPr dirty="0" err="1"/>
              <a:t>결과가</a:t>
            </a:r>
            <a:r>
              <a:rPr dirty="0"/>
              <a:t> </a:t>
            </a:r>
            <a:r>
              <a:rPr dirty="0" err="1"/>
              <a:t>달라질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표는</a:t>
            </a:r>
            <a:r>
              <a:rPr dirty="0"/>
              <a:t> 본 </a:t>
            </a:r>
            <a:r>
              <a:rPr dirty="0" err="1"/>
              <a:t>실험에서</a:t>
            </a:r>
            <a:r>
              <a:rPr dirty="0"/>
              <a:t> </a:t>
            </a:r>
            <a:r>
              <a:rPr dirty="0" err="1"/>
              <a:t>사용한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범주입니다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복셀</a:t>
            </a:r>
            <a:r>
              <a:rPr dirty="0"/>
              <a:t> 한 </a:t>
            </a:r>
            <a:r>
              <a:rPr dirty="0" err="1"/>
              <a:t>변은</a:t>
            </a:r>
            <a:r>
              <a:rPr dirty="0"/>
              <a:t> 0.3미터로 </a:t>
            </a:r>
            <a:r>
              <a:rPr dirty="0" err="1"/>
              <a:t>고정했습니다</a:t>
            </a:r>
            <a:r>
              <a:rPr dirty="0"/>
              <a:t>. </a:t>
            </a:r>
            <a:r>
              <a:rPr dirty="0" err="1"/>
              <a:t>점이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격자는</a:t>
            </a:r>
            <a:r>
              <a:rPr dirty="0"/>
              <a:t> </a:t>
            </a:r>
            <a:r>
              <a:rPr dirty="0" err="1"/>
              <a:t>저장하지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희소</a:t>
            </a:r>
            <a:r>
              <a:rPr dirty="0"/>
              <a:t> </a:t>
            </a:r>
            <a:r>
              <a:rPr dirty="0" err="1"/>
              <a:t>표현을</a:t>
            </a:r>
            <a:r>
              <a:rPr dirty="0"/>
              <a:t> </a:t>
            </a:r>
            <a:r>
              <a:rPr dirty="0" err="1"/>
              <a:t>사용합니다</a:t>
            </a:r>
            <a:r>
              <a:rPr dirty="0"/>
              <a:t>. 각 </a:t>
            </a:r>
            <a:r>
              <a:rPr dirty="0" err="1"/>
              <a:t>복셀의</a:t>
            </a:r>
            <a:r>
              <a:rPr dirty="0"/>
              <a:t> </a:t>
            </a:r>
            <a:r>
              <a:rPr dirty="0" err="1"/>
              <a:t>정답은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점의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클래스를</a:t>
            </a:r>
            <a:r>
              <a:rPr dirty="0"/>
              <a:t> </a:t>
            </a:r>
            <a:r>
              <a:rPr dirty="0" err="1"/>
              <a:t>투표해</a:t>
            </a:r>
            <a:r>
              <a:rPr dirty="0"/>
              <a:t> </a:t>
            </a:r>
            <a:r>
              <a:rPr dirty="0" err="1"/>
              <a:t>정하고</a:t>
            </a:r>
            <a:r>
              <a:rPr dirty="0"/>
              <a:t>, 그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여섯</a:t>
            </a:r>
            <a:r>
              <a:rPr dirty="0"/>
              <a:t> </a:t>
            </a:r>
            <a:r>
              <a:rPr dirty="0" err="1"/>
              <a:t>클래스로</a:t>
            </a:r>
            <a:r>
              <a:rPr dirty="0"/>
              <a:t> </a:t>
            </a:r>
            <a:r>
              <a:rPr dirty="0" err="1"/>
              <a:t>통합합니다</a:t>
            </a:r>
            <a:r>
              <a:rPr dirty="0"/>
              <a:t>. </a:t>
            </a:r>
            <a:r>
              <a:rPr dirty="0" err="1"/>
              <a:t>뒤에서</a:t>
            </a:r>
            <a:r>
              <a:rPr dirty="0"/>
              <a:t> </a:t>
            </a:r>
            <a:r>
              <a:rPr dirty="0" err="1"/>
              <a:t>나오는</a:t>
            </a:r>
            <a:r>
              <a:rPr dirty="0"/>
              <a:t> </a:t>
            </a:r>
            <a:r>
              <a:rPr dirty="0" err="1"/>
              <a:t>패치</a:t>
            </a:r>
            <a:r>
              <a:rPr dirty="0"/>
              <a:t> </a:t>
            </a:r>
            <a:r>
              <a:rPr dirty="0" err="1"/>
              <a:t>크기는</a:t>
            </a:r>
            <a:r>
              <a:rPr dirty="0"/>
              <a:t> </a:t>
            </a:r>
            <a:r>
              <a:rPr dirty="0" err="1"/>
              <a:t>복셀</a:t>
            </a:r>
            <a:r>
              <a:rPr dirty="0"/>
              <a:t> </a:t>
            </a:r>
            <a:r>
              <a:rPr dirty="0" err="1"/>
              <a:t>크기가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한 </a:t>
            </a:r>
            <a:r>
              <a:rPr dirty="0" err="1"/>
              <a:t>번에</a:t>
            </a:r>
            <a:r>
              <a:rPr dirty="0"/>
              <a:t> </a:t>
            </a:r>
            <a:r>
              <a:rPr dirty="0" err="1"/>
              <a:t>보는</a:t>
            </a:r>
            <a:r>
              <a:rPr dirty="0"/>
              <a:t> </a:t>
            </a:r>
            <a:r>
              <a:rPr dirty="0" err="1"/>
              <a:t>격자</a:t>
            </a:r>
            <a:r>
              <a:rPr dirty="0"/>
              <a:t> </a:t>
            </a:r>
            <a:r>
              <a:rPr dirty="0" err="1"/>
              <a:t>수입니다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좌표와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특징을</a:t>
            </a:r>
            <a:r>
              <a:rPr dirty="0"/>
              <a:t> Sparse 3D </a:t>
            </a:r>
            <a:r>
              <a:rPr dirty="0" err="1"/>
              <a:t>CNN에</a:t>
            </a:r>
            <a:r>
              <a:rPr dirty="0"/>
              <a:t> </a:t>
            </a:r>
            <a:r>
              <a:rPr dirty="0" err="1"/>
              <a:t>전달</a:t>
            </a:r>
            <a:endParaRPr dirty="0"/>
          </a:p>
          <a:p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라벨은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입력과</a:t>
            </a:r>
            <a:r>
              <a:rPr dirty="0"/>
              <a:t> </a:t>
            </a:r>
            <a:r>
              <a:rPr dirty="0" err="1"/>
              <a:t>분리하여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비교에</a:t>
            </a:r>
            <a:r>
              <a:rPr dirty="0"/>
              <a:t> </a:t>
            </a:r>
            <a:r>
              <a:rPr dirty="0" err="1"/>
              <a:t>사용</a:t>
            </a:r>
            <a:endParaRPr dirty="0"/>
          </a:p>
          <a:p>
            <a:r>
              <a:rPr dirty="0" err="1"/>
              <a:t>N은</a:t>
            </a:r>
            <a:r>
              <a:rPr dirty="0"/>
              <a:t> </a:t>
            </a:r>
            <a:r>
              <a:rPr dirty="0" err="1"/>
              <a:t>점유</a:t>
            </a:r>
            <a:r>
              <a:rPr dirty="0"/>
              <a:t> </a:t>
            </a:r>
            <a:r>
              <a:rPr dirty="0" err="1"/>
              <a:t>복셀</a:t>
            </a:r>
            <a:r>
              <a:rPr dirty="0"/>
              <a:t> 수</a:t>
            </a:r>
          </a:p>
          <a:p>
            <a:r>
              <a:rPr dirty="0" err="1"/>
              <a:t>포인트</a:t>
            </a:r>
            <a:r>
              <a:rPr dirty="0"/>
              <a:t> </a:t>
            </a:r>
            <a:r>
              <a:rPr dirty="0" err="1"/>
              <a:t>클라우드도</a:t>
            </a:r>
            <a:r>
              <a:rPr dirty="0"/>
              <a:t> </a:t>
            </a:r>
            <a:r>
              <a:rPr dirty="0" err="1"/>
              <a:t>머신리더블</a:t>
            </a:r>
            <a:r>
              <a:rPr dirty="0"/>
              <a:t> </a:t>
            </a:r>
            <a:r>
              <a:rPr dirty="0" err="1"/>
              <a:t>데이터에</a:t>
            </a:r>
            <a:r>
              <a:rPr dirty="0"/>
              <a:t> </a:t>
            </a:r>
            <a:r>
              <a:rPr dirty="0" err="1"/>
              <a:t>해당하며</a:t>
            </a:r>
            <a:r>
              <a:rPr dirty="0"/>
              <a:t>, 본 </a:t>
            </a:r>
            <a:r>
              <a:rPr dirty="0" err="1"/>
              <a:t>연구는</a:t>
            </a:r>
            <a:r>
              <a:rPr dirty="0"/>
              <a:t> </a:t>
            </a:r>
            <a:r>
              <a:rPr dirty="0" err="1"/>
              <a:t>복셀</a:t>
            </a:r>
            <a:r>
              <a:rPr dirty="0"/>
              <a:t> </a:t>
            </a:r>
            <a:r>
              <a:rPr dirty="0" err="1"/>
              <a:t>모델에</a:t>
            </a:r>
            <a:r>
              <a:rPr dirty="0"/>
              <a:t> </a:t>
            </a:r>
            <a:r>
              <a:rPr dirty="0" err="1"/>
              <a:t>맞춘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구성에</a:t>
            </a:r>
            <a:r>
              <a:rPr dirty="0"/>
              <a:t> </a:t>
            </a:r>
            <a:r>
              <a:rPr dirty="0" err="1"/>
              <a:t>초점</a:t>
            </a:r>
            <a:endParaRPr dirty="0"/>
          </a:p>
          <a:p>
            <a:r>
              <a:rPr dirty="0" err="1"/>
              <a:t>행렬은</a:t>
            </a:r>
            <a:r>
              <a:rPr dirty="0"/>
              <a:t> </a:t>
            </a:r>
            <a:r>
              <a:rPr dirty="0" err="1"/>
              <a:t>배열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설명하기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도식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복셀</a:t>
            </a:r>
            <a:r>
              <a:rPr dirty="0"/>
              <a:t> 내 </a:t>
            </a:r>
            <a:r>
              <a:rPr dirty="0" err="1"/>
              <a:t>전체</a:t>
            </a:r>
            <a:r>
              <a:rPr dirty="0"/>
              <a:t> RGB </a:t>
            </a:r>
            <a:r>
              <a:rPr dirty="0" err="1"/>
              <a:t>평균과</a:t>
            </a:r>
            <a:r>
              <a:rPr dirty="0"/>
              <a:t> </a:t>
            </a:r>
            <a:r>
              <a:rPr dirty="0" err="1"/>
              <a:t>최다</a:t>
            </a:r>
            <a:r>
              <a:rPr dirty="0"/>
              <a:t> RGB </a:t>
            </a:r>
            <a:r>
              <a:rPr dirty="0" err="1"/>
              <a:t>조합</a:t>
            </a:r>
            <a:r>
              <a:rPr dirty="0"/>
              <a:t> </a:t>
            </a:r>
            <a:r>
              <a:rPr dirty="0" err="1"/>
              <a:t>구간의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  <a:p>
            <a:r>
              <a:rPr dirty="0"/>
              <a:t>각 </a:t>
            </a:r>
            <a:r>
              <a:rPr dirty="0" err="1"/>
              <a:t>채널별</a:t>
            </a:r>
            <a:r>
              <a:rPr dirty="0"/>
              <a:t> </a:t>
            </a:r>
            <a:r>
              <a:rPr dirty="0" err="1"/>
              <a:t>최빈값</a:t>
            </a:r>
            <a:r>
              <a:rPr dirty="0"/>
              <a:t> </a:t>
            </a:r>
            <a:r>
              <a:rPr dirty="0" err="1"/>
              <a:t>선택이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RGB </a:t>
            </a:r>
            <a:r>
              <a:rPr dirty="0" err="1"/>
              <a:t>조합의</a:t>
            </a:r>
            <a:r>
              <a:rPr dirty="0"/>
              <a:t> </a:t>
            </a:r>
            <a:r>
              <a:rPr dirty="0" err="1"/>
              <a:t>빈도</a:t>
            </a:r>
            <a:r>
              <a:rPr dirty="0"/>
              <a:t> </a:t>
            </a:r>
            <a:r>
              <a:rPr dirty="0" err="1"/>
              <a:t>집계</a:t>
            </a:r>
            <a:endParaRPr dirty="0"/>
          </a:p>
          <a:p>
            <a:r>
              <a:rPr dirty="0"/>
              <a:t>6개 </a:t>
            </a:r>
            <a:r>
              <a:rPr dirty="0" err="1"/>
              <a:t>점의</a:t>
            </a:r>
            <a:r>
              <a:rPr dirty="0"/>
              <a:t> </a:t>
            </a:r>
            <a:r>
              <a:rPr dirty="0" err="1"/>
              <a:t>구간</a:t>
            </a:r>
            <a:r>
              <a:rPr dirty="0"/>
              <a:t> </a:t>
            </a:r>
            <a:r>
              <a:rPr dirty="0" err="1"/>
              <a:t>A와</a:t>
            </a:r>
            <a:r>
              <a:rPr dirty="0"/>
              <a:t> 4개 </a:t>
            </a:r>
            <a:r>
              <a:rPr dirty="0" err="1"/>
              <a:t>점의</a:t>
            </a:r>
            <a:r>
              <a:rPr dirty="0"/>
              <a:t> </a:t>
            </a:r>
            <a:r>
              <a:rPr dirty="0" err="1"/>
              <a:t>구간</a:t>
            </a:r>
            <a:r>
              <a:rPr dirty="0"/>
              <a:t> </a:t>
            </a:r>
            <a:r>
              <a:rPr dirty="0" err="1"/>
              <a:t>B를</a:t>
            </a:r>
            <a:r>
              <a:rPr dirty="0"/>
              <a:t> </a:t>
            </a:r>
            <a:r>
              <a:rPr dirty="0" err="1"/>
              <a:t>활용한</a:t>
            </a:r>
            <a:r>
              <a:rPr dirty="0"/>
              <a:t> </a:t>
            </a:r>
            <a:r>
              <a:rPr dirty="0" err="1"/>
              <a:t>계산</a:t>
            </a:r>
            <a:r>
              <a:rPr dirty="0"/>
              <a:t> </a:t>
            </a:r>
            <a:r>
              <a:rPr dirty="0" err="1"/>
              <a:t>예시</a:t>
            </a:r>
            <a:endParaRPr dirty="0"/>
          </a:p>
          <a:p>
            <a:r>
              <a:rPr dirty="0"/>
              <a:t>RGB-16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후에도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RGB </a:t>
            </a:r>
            <a:r>
              <a:rPr dirty="0" err="1"/>
              <a:t>입력은</a:t>
            </a:r>
            <a:r>
              <a:rPr dirty="0"/>
              <a:t> 3개 </a:t>
            </a:r>
            <a:r>
              <a:rPr dirty="0" err="1"/>
              <a:t>채널</a:t>
            </a:r>
            <a:r>
              <a:rPr dirty="0"/>
              <a:t> </a:t>
            </a:r>
            <a:r>
              <a:rPr dirty="0" err="1"/>
              <a:t>유지</a:t>
            </a:r>
            <a:endParaRPr dirty="0"/>
          </a:p>
          <a:p>
            <a:r>
              <a:rPr dirty="0" err="1"/>
              <a:t>구간</a:t>
            </a:r>
            <a:r>
              <a:rPr dirty="0"/>
              <a:t> </a:t>
            </a:r>
            <a:r>
              <a:rPr dirty="0" err="1"/>
              <a:t>빈도</a:t>
            </a:r>
            <a:r>
              <a:rPr dirty="0"/>
              <a:t> </a:t>
            </a:r>
            <a:r>
              <a:rPr dirty="0" err="1"/>
              <a:t>동률</a:t>
            </a:r>
            <a:r>
              <a:rPr dirty="0"/>
              <a:t> 시 </a:t>
            </a:r>
            <a:r>
              <a:rPr dirty="0" err="1"/>
              <a:t>복셀</a:t>
            </a:r>
            <a:r>
              <a:rPr dirty="0"/>
              <a:t> </a:t>
            </a:r>
            <a:r>
              <a:rPr dirty="0" err="1"/>
              <a:t>중심에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가까운</a:t>
            </a:r>
            <a:r>
              <a:rPr dirty="0"/>
              <a:t> </a:t>
            </a:r>
            <a:r>
              <a:rPr dirty="0" err="1"/>
              <a:t>점이</a:t>
            </a:r>
            <a:r>
              <a:rPr dirty="0"/>
              <a:t> </a:t>
            </a:r>
            <a:r>
              <a:rPr dirty="0" err="1"/>
              <a:t>속한</a:t>
            </a:r>
            <a:r>
              <a:rPr dirty="0"/>
              <a:t> </a:t>
            </a:r>
            <a:r>
              <a:rPr dirty="0" err="1"/>
              <a:t>구간</a:t>
            </a:r>
            <a:r>
              <a:rPr dirty="0"/>
              <a:t> </a:t>
            </a:r>
            <a:r>
              <a:rPr dirty="0" err="1"/>
              <a:t>선택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Cube는</a:t>
            </a:r>
            <a:r>
              <a:rPr dirty="0"/>
              <a:t> 세 </a:t>
            </a:r>
            <a:r>
              <a:rPr dirty="0" err="1"/>
              <a:t>방향을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길이로</a:t>
            </a:r>
            <a:r>
              <a:rPr dirty="0"/>
              <a:t> </a:t>
            </a:r>
            <a:r>
              <a:rPr dirty="0" err="1"/>
              <a:t>자르는</a:t>
            </a:r>
            <a:r>
              <a:rPr dirty="0"/>
              <a:t> </a:t>
            </a:r>
            <a:r>
              <a:rPr dirty="0" err="1"/>
              <a:t>방식입니다</a:t>
            </a:r>
            <a:r>
              <a:rPr dirty="0"/>
              <a:t>. Full-</a:t>
            </a:r>
            <a:r>
              <a:rPr dirty="0" err="1"/>
              <a:t>Z는</a:t>
            </a:r>
            <a:r>
              <a:rPr dirty="0"/>
              <a:t> </a:t>
            </a:r>
            <a:r>
              <a:rPr dirty="0" err="1"/>
              <a:t>가로와</a:t>
            </a:r>
            <a:r>
              <a:rPr dirty="0"/>
              <a:t> </a:t>
            </a:r>
            <a:r>
              <a:rPr dirty="0" err="1"/>
              <a:t>세로</a:t>
            </a:r>
            <a:r>
              <a:rPr dirty="0"/>
              <a:t> </a:t>
            </a:r>
            <a:r>
              <a:rPr dirty="0" err="1"/>
              <a:t>범위만</a:t>
            </a:r>
            <a:r>
              <a:rPr dirty="0"/>
              <a:t> </a:t>
            </a:r>
            <a:r>
              <a:rPr dirty="0" err="1"/>
              <a:t>정하고</a:t>
            </a:r>
            <a:r>
              <a:rPr dirty="0"/>
              <a:t> </a:t>
            </a:r>
            <a:r>
              <a:rPr dirty="0" err="1"/>
              <a:t>장면의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높이를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포함합니다</a:t>
            </a:r>
            <a:r>
              <a:rPr dirty="0"/>
              <a:t>. </a:t>
            </a:r>
            <a:r>
              <a:rPr dirty="0" err="1"/>
              <a:t>건물이나</a:t>
            </a:r>
            <a:r>
              <a:rPr dirty="0"/>
              <a:t> </a:t>
            </a:r>
            <a:r>
              <a:rPr dirty="0" err="1"/>
              <a:t>나무의</a:t>
            </a:r>
            <a:r>
              <a:rPr dirty="0"/>
              <a:t> </a:t>
            </a:r>
            <a:r>
              <a:rPr dirty="0" err="1"/>
              <a:t>위아래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한 </a:t>
            </a:r>
            <a:r>
              <a:rPr dirty="0" err="1"/>
              <a:t>입력에</a:t>
            </a:r>
            <a:r>
              <a:rPr dirty="0"/>
              <a:t> </a:t>
            </a:r>
            <a:r>
              <a:rPr dirty="0" err="1"/>
              <a:t>포함했을</a:t>
            </a:r>
            <a:r>
              <a:rPr dirty="0"/>
              <a:t> </a:t>
            </a:r>
            <a:r>
              <a:rPr dirty="0" err="1"/>
              <a:t>때의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확인하려는</a:t>
            </a:r>
            <a:r>
              <a:rPr dirty="0"/>
              <a:t> </a:t>
            </a:r>
            <a:r>
              <a:rPr dirty="0" err="1"/>
              <a:t>목적입니다</a:t>
            </a:r>
            <a:r>
              <a:rPr dirty="0"/>
              <a:t>. Full-</a:t>
            </a:r>
            <a:r>
              <a:rPr dirty="0" err="1"/>
              <a:t>Z의</a:t>
            </a:r>
            <a:r>
              <a:rPr dirty="0"/>
              <a:t> </a:t>
            </a:r>
            <a:r>
              <a:rPr dirty="0" err="1"/>
              <a:t>높이는</a:t>
            </a:r>
            <a:r>
              <a:rPr dirty="0"/>
              <a:t> </a:t>
            </a:r>
            <a:r>
              <a:rPr dirty="0" err="1"/>
              <a:t>무한대가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장면의</a:t>
            </a:r>
            <a:r>
              <a:rPr dirty="0"/>
              <a:t> </a:t>
            </a:r>
            <a:r>
              <a:rPr dirty="0" err="1"/>
              <a:t>점유</a:t>
            </a:r>
            <a:r>
              <a:rPr dirty="0"/>
              <a:t> </a:t>
            </a:r>
            <a:r>
              <a:rPr dirty="0" err="1"/>
              <a:t>높이</a:t>
            </a:r>
            <a:r>
              <a:rPr dirty="0"/>
              <a:t> </a:t>
            </a:r>
            <a:r>
              <a:rPr dirty="0" err="1"/>
              <a:t>범위입니다</a:t>
            </a:r>
            <a:r>
              <a:rPr dirty="0"/>
              <a:t>. 두 </a:t>
            </a:r>
            <a:r>
              <a:rPr dirty="0" err="1"/>
              <a:t>방식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빈 </a:t>
            </a:r>
            <a:r>
              <a:rPr dirty="0" err="1"/>
              <a:t>복셀은</a:t>
            </a:r>
            <a:r>
              <a:rPr dirty="0"/>
              <a:t> </a:t>
            </a:r>
            <a:r>
              <a:rPr dirty="0" err="1"/>
              <a:t>제외합니다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네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lang="ko-KR" altLang="en-US" dirty="0"/>
              <a:t>구</a:t>
            </a:r>
            <a:r>
              <a:rPr dirty="0" err="1"/>
              <a:t>성에</a:t>
            </a:r>
            <a:r>
              <a:rPr dirty="0"/>
              <a:t> </a:t>
            </a:r>
            <a:r>
              <a:rPr dirty="0" err="1"/>
              <a:t>각각</a:t>
            </a:r>
            <a:r>
              <a:rPr dirty="0"/>
              <a:t> 32, 64, 128 </a:t>
            </a:r>
            <a:r>
              <a:rPr dirty="0" err="1"/>
              <a:t>패치를</a:t>
            </a:r>
            <a:r>
              <a:rPr dirty="0"/>
              <a:t> </a:t>
            </a:r>
            <a:r>
              <a:rPr dirty="0" err="1"/>
              <a:t>적용해</a:t>
            </a:r>
            <a:r>
              <a:rPr dirty="0"/>
              <a:t> 총 </a:t>
            </a:r>
            <a:r>
              <a:rPr dirty="0" err="1"/>
              <a:t>열두</a:t>
            </a:r>
            <a:r>
              <a:rPr dirty="0"/>
              <a:t> </a:t>
            </a:r>
            <a:r>
              <a:rPr dirty="0" err="1"/>
              <a:t>조건을</a:t>
            </a:r>
            <a:r>
              <a:rPr dirty="0"/>
              <a:t> </a:t>
            </a:r>
            <a:r>
              <a:rPr dirty="0" err="1"/>
              <a:t>비교했습니다</a:t>
            </a:r>
            <a:r>
              <a:rPr dirty="0"/>
              <a:t>. 0.3미터 </a:t>
            </a:r>
            <a:r>
              <a:rPr dirty="0" err="1"/>
              <a:t>복셀을</a:t>
            </a:r>
            <a:r>
              <a:rPr dirty="0"/>
              <a:t> </a:t>
            </a:r>
            <a:r>
              <a:rPr dirty="0" err="1"/>
              <a:t>사용하므로</a:t>
            </a:r>
            <a:r>
              <a:rPr dirty="0"/>
              <a:t> XY 한 </a:t>
            </a:r>
            <a:r>
              <a:rPr dirty="0" err="1"/>
              <a:t>변은</a:t>
            </a:r>
            <a:r>
              <a:rPr dirty="0"/>
              <a:t> 9.6, 19.2, 38.4미터입니다. </a:t>
            </a:r>
            <a:r>
              <a:rPr dirty="0" err="1"/>
              <a:t>네트워크와</a:t>
            </a:r>
            <a:r>
              <a:rPr dirty="0"/>
              <a:t>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epoch </a:t>
            </a:r>
            <a:r>
              <a:rPr dirty="0" err="1"/>
              <a:t>등은</a:t>
            </a:r>
            <a:r>
              <a:rPr dirty="0"/>
              <a:t> </a:t>
            </a:r>
            <a:r>
              <a:rPr dirty="0" err="1"/>
              <a:t>동일합니다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공간</a:t>
            </a:r>
            <a:r>
              <a:rPr dirty="0"/>
              <a:t> </a:t>
            </a:r>
            <a:r>
              <a:rPr dirty="0" err="1"/>
              <a:t>구성을</a:t>
            </a:r>
            <a:r>
              <a:rPr dirty="0"/>
              <a:t> </a:t>
            </a:r>
            <a:r>
              <a:rPr dirty="0" err="1"/>
              <a:t>바꾸면</a:t>
            </a:r>
            <a:r>
              <a:rPr dirty="0"/>
              <a:t> </a:t>
            </a:r>
            <a:r>
              <a:rPr dirty="0" err="1"/>
              <a:t>패치</a:t>
            </a:r>
            <a:r>
              <a:rPr dirty="0"/>
              <a:t> </a:t>
            </a:r>
            <a:r>
              <a:rPr dirty="0" err="1"/>
              <a:t>수가</a:t>
            </a:r>
            <a:r>
              <a:rPr dirty="0"/>
              <a:t> </a:t>
            </a:r>
            <a:r>
              <a:rPr dirty="0" err="1"/>
              <a:t>달라지므로</a:t>
            </a:r>
            <a:r>
              <a:rPr dirty="0"/>
              <a:t> 총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업데이트</a:t>
            </a:r>
            <a:r>
              <a:rPr dirty="0"/>
              <a:t> </a:t>
            </a:r>
            <a:r>
              <a:rPr dirty="0" err="1"/>
              <a:t>수까지</a:t>
            </a:r>
            <a:r>
              <a:rPr dirty="0"/>
              <a:t> </a:t>
            </a:r>
            <a:r>
              <a:rPr dirty="0" err="1"/>
              <a:t>같지는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조건에</a:t>
            </a:r>
            <a:r>
              <a:rPr dirty="0"/>
              <a:t> </a:t>
            </a:r>
            <a:r>
              <a:rPr dirty="0" err="1"/>
              <a:t>동일한</a:t>
            </a:r>
            <a:r>
              <a:rPr dirty="0"/>
              <a:t> </a:t>
            </a:r>
            <a:r>
              <a:rPr dirty="0" err="1"/>
              <a:t>인코더-디코더</a:t>
            </a:r>
            <a:r>
              <a:rPr dirty="0"/>
              <a:t> </a:t>
            </a:r>
            <a:r>
              <a:rPr dirty="0" err="1"/>
              <a:t>모델과</a:t>
            </a:r>
            <a:r>
              <a:rPr dirty="0"/>
              <a:t> </a:t>
            </a:r>
            <a:r>
              <a:rPr dirty="0" err="1"/>
              <a:t>손실함수를</a:t>
            </a:r>
            <a:r>
              <a:rPr dirty="0"/>
              <a:t> </a:t>
            </a:r>
            <a:r>
              <a:rPr dirty="0" err="1"/>
              <a:t>적용했습니다</a:t>
            </a:r>
            <a:r>
              <a:rPr dirty="0"/>
              <a:t>. </a:t>
            </a:r>
            <a:r>
              <a:rPr dirty="0" err="1"/>
              <a:t>인코더</a:t>
            </a:r>
            <a:r>
              <a:rPr dirty="0"/>
              <a:t> </a:t>
            </a:r>
            <a:r>
              <a:rPr dirty="0" err="1"/>
              <a:t>채널은</a:t>
            </a:r>
            <a:r>
              <a:rPr dirty="0"/>
              <a:t> 16에서 128까지 </a:t>
            </a:r>
            <a:r>
              <a:rPr dirty="0" err="1"/>
              <a:t>늘어나며</a:t>
            </a:r>
            <a:r>
              <a:rPr dirty="0"/>
              <a:t>, </a:t>
            </a:r>
            <a:r>
              <a:rPr dirty="0" err="1"/>
              <a:t>문맥</a:t>
            </a:r>
            <a:r>
              <a:rPr dirty="0"/>
              <a:t> </a:t>
            </a:r>
            <a:r>
              <a:rPr dirty="0" err="1"/>
              <a:t>특징을</a:t>
            </a:r>
            <a:r>
              <a:rPr dirty="0"/>
              <a:t> </a:t>
            </a:r>
            <a:r>
              <a:rPr dirty="0" err="1"/>
              <a:t>다루는</a:t>
            </a:r>
            <a:r>
              <a:rPr dirty="0"/>
              <a:t> </a:t>
            </a:r>
            <a:r>
              <a:rPr dirty="0" err="1"/>
              <a:t>ASPP와</a:t>
            </a:r>
            <a:r>
              <a:rPr dirty="0"/>
              <a:t> </a:t>
            </a:r>
            <a:r>
              <a:rPr dirty="0" err="1"/>
              <a:t>패치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global </a:t>
            </a:r>
            <a:r>
              <a:rPr dirty="0" err="1"/>
              <a:t>context를</a:t>
            </a:r>
            <a:r>
              <a:rPr dirty="0"/>
              <a:t> </a:t>
            </a:r>
            <a:r>
              <a:rPr dirty="0" err="1"/>
              <a:t>포함합니다</a:t>
            </a:r>
            <a:r>
              <a:rPr dirty="0"/>
              <a:t>.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체크포인트는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평가</a:t>
            </a:r>
            <a:r>
              <a:rPr dirty="0"/>
              <a:t> </a:t>
            </a:r>
            <a:r>
              <a:rPr dirty="0" err="1"/>
              <a:t>장면이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</a:t>
            </a:r>
            <a:r>
              <a:rPr dirty="0" err="1"/>
              <a:t>합성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장면의</a:t>
            </a:r>
            <a:r>
              <a:rPr dirty="0"/>
              <a:t> </a:t>
            </a:r>
            <a:r>
              <a:rPr dirty="0" err="1"/>
              <a:t>mIoU를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선택했습니다</a:t>
            </a:r>
            <a:r>
              <a:rPr dirty="0"/>
              <a:t>. 주 </a:t>
            </a:r>
            <a:r>
              <a:rPr dirty="0" err="1"/>
              <a:t>손실</a:t>
            </a:r>
            <a:r>
              <a:rPr dirty="0"/>
              <a:t> 외 </a:t>
            </a:r>
            <a:r>
              <a:rPr dirty="0" err="1"/>
              <a:t>보조</a:t>
            </a:r>
            <a:r>
              <a:rPr dirty="0"/>
              <a:t> semantic 및 boundary </a:t>
            </a:r>
            <a:r>
              <a:rPr dirty="0" err="1"/>
              <a:t>손실도</a:t>
            </a:r>
            <a:r>
              <a:rPr dirty="0"/>
              <a:t> </a:t>
            </a:r>
            <a:r>
              <a:rPr dirty="0" err="1"/>
              <a:t>공통</a:t>
            </a:r>
            <a:r>
              <a:rPr dirty="0"/>
              <a:t> </a:t>
            </a:r>
            <a:r>
              <a:rPr dirty="0" err="1"/>
              <a:t>적용했습니다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TP: </a:t>
            </a:r>
            <a:r>
              <a:rPr dirty="0" err="1"/>
              <a:t>정답과</a:t>
            </a:r>
            <a:r>
              <a:rPr dirty="0"/>
              <a:t> </a:t>
            </a:r>
            <a:r>
              <a:rPr dirty="0" err="1"/>
              <a:t>예측이</a:t>
            </a:r>
            <a:r>
              <a:rPr dirty="0"/>
              <a:t> </a:t>
            </a:r>
            <a:r>
              <a:rPr dirty="0" err="1"/>
              <a:t>일치한</a:t>
            </a:r>
            <a:r>
              <a:rPr dirty="0"/>
              <a:t> </a:t>
            </a:r>
            <a:r>
              <a:rPr dirty="0" err="1"/>
              <a:t>복셀</a:t>
            </a:r>
            <a:endParaRPr dirty="0"/>
          </a:p>
          <a:p>
            <a:r>
              <a:rPr dirty="0"/>
              <a:t>FP: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클래스로</a:t>
            </a:r>
            <a:r>
              <a:rPr dirty="0"/>
              <a:t> </a:t>
            </a:r>
            <a:r>
              <a:rPr dirty="0" err="1"/>
              <a:t>잘못</a:t>
            </a:r>
            <a:r>
              <a:rPr dirty="0"/>
              <a:t> </a:t>
            </a:r>
            <a:r>
              <a:rPr dirty="0" err="1"/>
              <a:t>포함한</a:t>
            </a:r>
            <a:r>
              <a:rPr dirty="0"/>
              <a:t> </a:t>
            </a:r>
            <a:r>
              <a:rPr dirty="0" err="1"/>
              <a:t>복셀</a:t>
            </a:r>
            <a:endParaRPr dirty="0"/>
          </a:p>
          <a:p>
            <a:r>
              <a:rPr dirty="0"/>
              <a:t>FN: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클래스의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중 </a:t>
            </a:r>
            <a:r>
              <a:rPr dirty="0" err="1"/>
              <a:t>놓친</a:t>
            </a:r>
            <a:r>
              <a:rPr dirty="0"/>
              <a:t> </a:t>
            </a:r>
            <a:r>
              <a:rPr dirty="0" err="1"/>
              <a:t>복셀</a:t>
            </a:r>
            <a:endParaRPr dirty="0"/>
          </a:p>
          <a:p>
            <a:r>
              <a:rPr dirty="0" err="1"/>
              <a:t>IoU는</a:t>
            </a:r>
            <a:r>
              <a:rPr dirty="0"/>
              <a:t> 두 </a:t>
            </a:r>
            <a:r>
              <a:rPr dirty="0" err="1"/>
              <a:t>영역의</a:t>
            </a:r>
            <a:r>
              <a:rPr dirty="0"/>
              <a:t> </a:t>
            </a:r>
            <a:r>
              <a:rPr dirty="0" err="1"/>
              <a:t>합집합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교집합</a:t>
            </a:r>
            <a:r>
              <a:rPr dirty="0"/>
              <a:t> </a:t>
            </a:r>
            <a:r>
              <a:rPr dirty="0" err="1"/>
              <a:t>비율</a:t>
            </a:r>
            <a:endParaRPr dirty="0"/>
          </a:p>
          <a:p>
            <a:r>
              <a:rPr dirty="0" err="1"/>
              <a:t>mIoU는</a:t>
            </a:r>
            <a:r>
              <a:rPr dirty="0"/>
              <a:t> 6개 </a:t>
            </a:r>
            <a:r>
              <a:rPr dirty="0" err="1"/>
              <a:t>클래스</a:t>
            </a:r>
            <a:r>
              <a:rPr dirty="0"/>
              <a:t> </a:t>
            </a:r>
            <a:r>
              <a:rPr dirty="0" err="1"/>
              <a:t>IoU의</a:t>
            </a:r>
            <a:r>
              <a:rPr dirty="0"/>
              <a:t> </a:t>
            </a:r>
            <a:r>
              <a:rPr dirty="0" err="1"/>
              <a:t>평균</a:t>
            </a:r>
            <a:endParaRPr dirty="0"/>
          </a:p>
          <a:p>
            <a:r>
              <a:rPr dirty="0" err="1"/>
              <a:t>Coverage는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평가</a:t>
            </a:r>
            <a:r>
              <a:rPr dirty="0"/>
              <a:t> </a:t>
            </a:r>
            <a:r>
              <a:rPr dirty="0" err="1"/>
              <a:t>대상의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뜻하며</a:t>
            </a:r>
            <a:r>
              <a:rPr dirty="0"/>
              <a:t> </a:t>
            </a:r>
            <a:r>
              <a:rPr dirty="0" err="1"/>
              <a:t>정확도와</a:t>
            </a:r>
            <a:r>
              <a:rPr dirty="0"/>
              <a:t> </a:t>
            </a:r>
            <a:r>
              <a:rPr dirty="0" err="1"/>
              <a:t>구분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열두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조건의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 </a:t>
            </a:r>
            <a:r>
              <a:rPr dirty="0" err="1"/>
              <a:t>강조한</a:t>
            </a:r>
            <a:r>
              <a:rPr dirty="0"/>
              <a:t> </a:t>
            </a:r>
            <a:r>
              <a:rPr dirty="0" err="1"/>
              <a:t>행은</a:t>
            </a:r>
            <a:r>
              <a:rPr dirty="0"/>
              <a:t> </a:t>
            </a:r>
            <a:r>
              <a:rPr dirty="0" err="1"/>
              <a:t>mIoU와</a:t>
            </a:r>
            <a:r>
              <a:rPr dirty="0"/>
              <a:t> Macro F1이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Full-Z+RGB-16 P32입니다. </a:t>
            </a:r>
            <a:r>
              <a:rPr dirty="0" err="1"/>
              <a:t>Accuracy의</a:t>
            </a:r>
            <a:r>
              <a:rPr dirty="0"/>
              <a:t> </a:t>
            </a:r>
            <a:r>
              <a:rPr dirty="0" err="1"/>
              <a:t>최고값은</a:t>
            </a:r>
            <a:r>
              <a:rPr dirty="0"/>
              <a:t> Full-Z P64의 86.50퍼센트입니다. RGB-16은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표의</a:t>
            </a:r>
            <a:r>
              <a:rPr dirty="0"/>
              <a:t> Q16과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방식입니다</a:t>
            </a:r>
            <a:r>
              <a:rPr dirty="0"/>
              <a:t>. 각 </a:t>
            </a:r>
            <a:r>
              <a:rPr dirty="0" err="1"/>
              <a:t>수치는</a:t>
            </a:r>
            <a:r>
              <a:rPr dirty="0"/>
              <a:t>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장면에서</a:t>
            </a:r>
            <a:r>
              <a:rPr dirty="0"/>
              <a:t> </a:t>
            </a:r>
            <a:r>
              <a:rPr dirty="0" err="1"/>
              <a:t>얻은</a:t>
            </a:r>
            <a:r>
              <a:rPr dirty="0"/>
              <a:t> </a:t>
            </a:r>
            <a:r>
              <a:rPr dirty="0" err="1"/>
              <a:t>관측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각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구성에서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mIoU를</a:t>
            </a:r>
            <a:r>
              <a:rPr dirty="0"/>
              <a:t> 낸 </a:t>
            </a:r>
            <a:r>
              <a:rPr dirty="0" err="1"/>
              <a:t>패치</a:t>
            </a:r>
            <a:r>
              <a:rPr dirty="0"/>
              <a:t> </a:t>
            </a:r>
            <a:r>
              <a:rPr dirty="0" err="1"/>
              <a:t>크기를</a:t>
            </a:r>
            <a:r>
              <a:rPr dirty="0"/>
              <a:t> </a:t>
            </a:r>
            <a:r>
              <a:rPr dirty="0" err="1"/>
              <a:t>비교했습니다</a:t>
            </a:r>
            <a:r>
              <a:rPr dirty="0"/>
              <a:t>. Full-</a:t>
            </a:r>
            <a:r>
              <a:rPr dirty="0" err="1"/>
              <a:t>Z와</a:t>
            </a:r>
            <a:r>
              <a:rPr dirty="0"/>
              <a:t> RGB-16을 </a:t>
            </a:r>
            <a:r>
              <a:rPr dirty="0" err="1"/>
              <a:t>결합한</a:t>
            </a:r>
            <a:r>
              <a:rPr dirty="0"/>
              <a:t> P32 </a:t>
            </a:r>
            <a:r>
              <a:rPr dirty="0" err="1"/>
              <a:t>조건에서</a:t>
            </a:r>
            <a:r>
              <a:rPr dirty="0"/>
              <a:t> </a:t>
            </a:r>
            <a:r>
              <a:rPr dirty="0" err="1"/>
              <a:t>mIoU</a:t>
            </a:r>
            <a:r>
              <a:rPr dirty="0"/>
              <a:t> 48.86퍼센트, Macro F1 61.20퍼센트로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높았습니다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정확도만</a:t>
            </a:r>
            <a:r>
              <a:rPr dirty="0"/>
              <a:t> </a:t>
            </a:r>
            <a:r>
              <a:rPr dirty="0" err="1"/>
              <a:t>보면</a:t>
            </a:r>
            <a:r>
              <a:rPr dirty="0"/>
              <a:t> Full-Z P64가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높습니다</a:t>
            </a:r>
            <a:r>
              <a:rPr dirty="0"/>
              <a:t>. 이 </a:t>
            </a:r>
            <a:r>
              <a:rPr dirty="0" err="1"/>
              <a:t>그래프는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방식별</a:t>
            </a:r>
            <a:r>
              <a:rPr dirty="0"/>
              <a:t> </a:t>
            </a:r>
            <a:r>
              <a:rPr dirty="0" err="1"/>
              <a:t>최고</a:t>
            </a:r>
            <a:r>
              <a:rPr dirty="0"/>
              <a:t> </a:t>
            </a:r>
            <a:r>
              <a:rPr dirty="0" err="1"/>
              <a:t>관측값</a:t>
            </a:r>
            <a:r>
              <a:rPr dirty="0"/>
              <a:t> </a:t>
            </a:r>
            <a:r>
              <a:rPr dirty="0" err="1"/>
              <a:t>비교이며</a:t>
            </a:r>
            <a:r>
              <a:rPr dirty="0"/>
              <a:t>, </a:t>
            </a:r>
            <a:r>
              <a:rPr dirty="0" err="1"/>
              <a:t>패치</a:t>
            </a:r>
            <a:r>
              <a:rPr dirty="0"/>
              <a:t> </a:t>
            </a:r>
            <a:r>
              <a:rPr dirty="0" err="1"/>
              <a:t>크기가</a:t>
            </a:r>
            <a:r>
              <a:rPr dirty="0"/>
              <a:t> </a:t>
            </a:r>
            <a:r>
              <a:rPr dirty="0" err="1"/>
              <a:t>같게</a:t>
            </a:r>
            <a:r>
              <a:rPr dirty="0"/>
              <a:t> </a:t>
            </a:r>
            <a:r>
              <a:rPr dirty="0" err="1"/>
              <a:t>통제된</a:t>
            </a:r>
            <a:r>
              <a:rPr dirty="0"/>
              <a:t> </a:t>
            </a:r>
            <a:r>
              <a:rPr dirty="0" err="1"/>
              <a:t>순수</a:t>
            </a:r>
            <a:r>
              <a:rPr dirty="0"/>
              <a:t> </a:t>
            </a:r>
            <a:r>
              <a:rPr dirty="0" err="1"/>
              <a:t>효과를</a:t>
            </a:r>
            <a:r>
              <a:rPr dirty="0"/>
              <a:t> </a:t>
            </a:r>
            <a:r>
              <a:rPr dirty="0" err="1"/>
              <a:t>뜻하지는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결합</a:t>
            </a:r>
            <a:r>
              <a:rPr dirty="0"/>
              <a:t> </a:t>
            </a:r>
            <a:r>
              <a:rPr dirty="0" err="1"/>
              <a:t>방식은</a:t>
            </a:r>
            <a:r>
              <a:rPr dirty="0"/>
              <a:t> P32에서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높지만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구성에서는</a:t>
            </a:r>
            <a:r>
              <a:rPr dirty="0"/>
              <a:t> 큰 </a:t>
            </a:r>
            <a:r>
              <a:rPr dirty="0" err="1"/>
              <a:t>패치가</a:t>
            </a:r>
            <a:r>
              <a:rPr dirty="0"/>
              <a:t> 더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보이기도</a:t>
            </a:r>
            <a:r>
              <a:rPr dirty="0"/>
              <a:t> </a:t>
            </a:r>
            <a:r>
              <a:rPr dirty="0" err="1"/>
              <a:t>했습니다</a:t>
            </a:r>
            <a:r>
              <a:rPr dirty="0"/>
              <a:t>. </a:t>
            </a:r>
            <a:r>
              <a:rPr dirty="0" err="1"/>
              <a:t>같은</a:t>
            </a:r>
            <a:r>
              <a:rPr dirty="0"/>
              <a:t> Full-Z P32에서 </a:t>
            </a:r>
            <a:r>
              <a:rPr dirty="0" err="1"/>
              <a:t>색상만</a:t>
            </a:r>
            <a:r>
              <a:rPr dirty="0"/>
              <a:t> RGB-16으로 </a:t>
            </a:r>
            <a:r>
              <a:rPr dirty="0" err="1"/>
              <a:t>바꾼</a:t>
            </a:r>
            <a:r>
              <a:rPr dirty="0"/>
              <a:t> </a:t>
            </a:r>
            <a:r>
              <a:rPr dirty="0" err="1"/>
              <a:t>관측</a:t>
            </a:r>
            <a:r>
              <a:rPr dirty="0"/>
              <a:t> </a:t>
            </a:r>
            <a:r>
              <a:rPr dirty="0" err="1"/>
              <a:t>차이는</a:t>
            </a:r>
            <a:r>
              <a:rPr dirty="0"/>
              <a:t> 5.73퍼센트포인트입니다. </a:t>
            </a:r>
            <a:r>
              <a:rPr dirty="0" err="1"/>
              <a:t>반면</a:t>
            </a:r>
            <a:r>
              <a:rPr dirty="0"/>
              <a:t> P64에서는 두 </a:t>
            </a:r>
            <a:r>
              <a:rPr dirty="0" err="1"/>
              <a:t>공간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조금</a:t>
            </a:r>
            <a:r>
              <a:rPr dirty="0"/>
              <a:t> </a:t>
            </a:r>
            <a:r>
              <a:rPr dirty="0" err="1"/>
              <a:t>낮아졌습니다</a:t>
            </a:r>
            <a:r>
              <a:rPr dirty="0"/>
              <a:t>. </a:t>
            </a:r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색상과</a:t>
            </a:r>
            <a:r>
              <a:rPr dirty="0"/>
              <a:t> </a:t>
            </a:r>
            <a:r>
              <a:rPr dirty="0" err="1"/>
              <a:t>공간</a:t>
            </a:r>
            <a:r>
              <a:rPr dirty="0"/>
              <a:t> </a:t>
            </a:r>
            <a:r>
              <a:rPr dirty="0" err="1"/>
              <a:t>구성의</a:t>
            </a:r>
            <a:r>
              <a:rPr dirty="0"/>
              <a:t> </a:t>
            </a:r>
            <a:r>
              <a:rPr dirty="0" err="1"/>
              <a:t>효과를</a:t>
            </a:r>
            <a:r>
              <a:rPr dirty="0"/>
              <a:t> </a:t>
            </a:r>
            <a:r>
              <a:rPr dirty="0" err="1"/>
              <a:t>조건별로</a:t>
            </a:r>
            <a:r>
              <a:rPr dirty="0"/>
              <a:t> </a:t>
            </a:r>
            <a:r>
              <a:rPr dirty="0" err="1"/>
              <a:t>봐야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Baseline P32는 </a:t>
            </a:r>
            <a:r>
              <a:rPr dirty="0" err="1"/>
              <a:t>일부</a:t>
            </a:r>
            <a:r>
              <a:rPr dirty="0"/>
              <a:t> </a:t>
            </a:r>
            <a:r>
              <a:rPr dirty="0" err="1"/>
              <a:t>epoch의</a:t>
            </a:r>
            <a:r>
              <a:rPr dirty="0"/>
              <a:t> loss </a:t>
            </a:r>
            <a:r>
              <a:rPr dirty="0" err="1"/>
              <a:t>NaN</a:t>
            </a:r>
            <a:r>
              <a:rPr dirty="0"/>
              <a:t> </a:t>
            </a:r>
            <a:r>
              <a:rPr dirty="0" err="1"/>
              <a:t>기록이</a:t>
            </a:r>
            <a:r>
              <a:rPr dirty="0"/>
              <a:t> </a:t>
            </a:r>
            <a:r>
              <a:rPr dirty="0" err="1"/>
              <a:t>있어</a:t>
            </a:r>
            <a:r>
              <a:rPr dirty="0"/>
              <a:t> </a:t>
            </a:r>
            <a:r>
              <a:rPr dirty="0" err="1"/>
              <a:t>재검증이</a:t>
            </a:r>
            <a:r>
              <a:rPr dirty="0"/>
              <a:t> </a:t>
            </a:r>
            <a:r>
              <a:rPr dirty="0" err="1"/>
              <a:t>필요합니다</a:t>
            </a:r>
            <a:r>
              <a:rPr dirty="0"/>
              <a:t>.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관측값의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통계적</a:t>
            </a:r>
            <a:r>
              <a:rPr dirty="0"/>
              <a:t> </a:t>
            </a:r>
            <a:r>
              <a:rPr dirty="0" err="1"/>
              <a:t>유의성으로</a:t>
            </a:r>
            <a:r>
              <a:rPr dirty="0"/>
              <a:t> </a:t>
            </a:r>
            <a:r>
              <a:rPr dirty="0" err="1"/>
              <a:t>설명하지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지면과</a:t>
            </a:r>
            <a:r>
              <a:rPr dirty="0"/>
              <a:t> </a:t>
            </a:r>
            <a:r>
              <a:rPr dirty="0" err="1"/>
              <a:t>건물은</a:t>
            </a:r>
            <a:r>
              <a:rPr dirty="0"/>
              <a:t> </a:t>
            </a:r>
            <a:r>
              <a:rPr dirty="0" err="1"/>
              <a:t>상대적으로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IoU를</a:t>
            </a:r>
            <a:r>
              <a:rPr dirty="0"/>
              <a:t> </a:t>
            </a:r>
            <a:r>
              <a:rPr dirty="0" err="1"/>
              <a:t>보였지만</a:t>
            </a:r>
            <a:r>
              <a:rPr dirty="0"/>
              <a:t> </a:t>
            </a:r>
            <a:r>
              <a:rPr dirty="0" err="1"/>
              <a:t>자동차와</a:t>
            </a:r>
            <a:r>
              <a:rPr dirty="0"/>
              <a:t> </a:t>
            </a:r>
            <a:r>
              <a:rPr dirty="0" err="1"/>
              <a:t>울타리는</a:t>
            </a:r>
            <a:r>
              <a:rPr dirty="0"/>
              <a:t> </a:t>
            </a:r>
            <a:r>
              <a:rPr dirty="0" err="1"/>
              <a:t>낮았습니다</a:t>
            </a:r>
            <a:r>
              <a:rPr dirty="0"/>
              <a:t>. </a:t>
            </a:r>
            <a:r>
              <a:rPr dirty="0" err="1"/>
              <a:t>특히</a:t>
            </a:r>
            <a:r>
              <a:rPr dirty="0"/>
              <a:t> </a:t>
            </a:r>
            <a:r>
              <a:rPr dirty="0" err="1"/>
              <a:t>울타리는</a:t>
            </a:r>
            <a:r>
              <a:rPr dirty="0"/>
              <a:t> </a:t>
            </a:r>
            <a:r>
              <a:rPr dirty="0" err="1"/>
              <a:t>IoU가</a:t>
            </a:r>
            <a:r>
              <a:rPr dirty="0"/>
              <a:t> 7퍼센트이며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울타리의</a:t>
            </a:r>
            <a:r>
              <a:rPr dirty="0"/>
              <a:t> 67퍼센트를 </a:t>
            </a:r>
            <a:r>
              <a:rPr dirty="0" err="1"/>
              <a:t>지면으로</a:t>
            </a:r>
            <a:r>
              <a:rPr dirty="0"/>
              <a:t> </a:t>
            </a:r>
            <a:r>
              <a:rPr dirty="0" err="1"/>
              <a:t>분류했습니다</a:t>
            </a:r>
            <a:r>
              <a:rPr dirty="0"/>
              <a:t>. </a:t>
            </a:r>
            <a:r>
              <a:rPr dirty="0" err="1"/>
              <a:t>혼동행렬의</a:t>
            </a:r>
            <a:r>
              <a:rPr dirty="0"/>
              <a:t> </a:t>
            </a:r>
            <a:r>
              <a:rPr dirty="0" err="1"/>
              <a:t>대각선은</a:t>
            </a:r>
            <a:r>
              <a:rPr dirty="0"/>
              <a:t> </a:t>
            </a:r>
            <a:r>
              <a:rPr dirty="0" err="1"/>
              <a:t>재현율이고</a:t>
            </a:r>
            <a:r>
              <a:rPr dirty="0"/>
              <a:t>, </a:t>
            </a:r>
            <a:r>
              <a:rPr dirty="0" err="1"/>
              <a:t>왼쪽</a:t>
            </a:r>
            <a:r>
              <a:rPr dirty="0"/>
              <a:t> </a:t>
            </a:r>
            <a:r>
              <a:rPr dirty="0" err="1"/>
              <a:t>막대의</a:t>
            </a:r>
            <a:r>
              <a:rPr dirty="0"/>
              <a:t> </a:t>
            </a:r>
            <a:r>
              <a:rPr dirty="0" err="1"/>
              <a:t>IoU와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지표입니다</a:t>
            </a:r>
            <a:r>
              <a:rPr dirty="0"/>
              <a:t>.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객체의</a:t>
            </a:r>
            <a:r>
              <a:rPr dirty="0"/>
              <a:t> </a:t>
            </a:r>
            <a:r>
              <a:rPr dirty="0" err="1"/>
              <a:t>크기나</a:t>
            </a:r>
            <a:r>
              <a:rPr dirty="0"/>
              <a:t> 점 </a:t>
            </a:r>
            <a:r>
              <a:rPr dirty="0" err="1"/>
              <a:t>밀도가</a:t>
            </a:r>
            <a:r>
              <a:rPr dirty="0"/>
              <a:t> </a:t>
            </a:r>
            <a:r>
              <a:rPr dirty="0" err="1"/>
              <a:t>원인일</a:t>
            </a:r>
            <a:r>
              <a:rPr dirty="0"/>
              <a:t> 수 </a:t>
            </a:r>
            <a:r>
              <a:rPr dirty="0" err="1"/>
              <a:t>있지만</a:t>
            </a:r>
            <a:r>
              <a:rPr dirty="0"/>
              <a:t> 이 </a:t>
            </a:r>
            <a:r>
              <a:rPr dirty="0" err="1"/>
              <a:t>결과만으로</a:t>
            </a:r>
            <a:r>
              <a:rPr dirty="0"/>
              <a:t> </a:t>
            </a:r>
            <a:r>
              <a:rPr dirty="0" err="1"/>
              <a:t>원인을</a:t>
            </a:r>
            <a:r>
              <a:rPr dirty="0"/>
              <a:t> </a:t>
            </a:r>
            <a:r>
              <a:rPr dirty="0" err="1"/>
              <a:t>확정하지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lang="en-US" dirty="0"/>
              <a:t>* </a:t>
            </a:r>
            <a:r>
              <a:rPr dirty="0" err="1"/>
              <a:t>혼동행렬은</a:t>
            </a:r>
            <a:r>
              <a:rPr dirty="0"/>
              <a:t> 행 </a:t>
            </a:r>
            <a:r>
              <a:rPr dirty="0" err="1"/>
              <a:t>정규화한</a:t>
            </a:r>
            <a:r>
              <a:rPr dirty="0"/>
              <a:t> </a:t>
            </a:r>
            <a:r>
              <a:rPr dirty="0" err="1"/>
              <a:t>값을</a:t>
            </a:r>
            <a:r>
              <a:rPr dirty="0"/>
              <a:t> </a:t>
            </a:r>
            <a:r>
              <a:rPr dirty="0" err="1"/>
              <a:t>소수</a:t>
            </a:r>
            <a:r>
              <a:rPr dirty="0"/>
              <a:t> </a:t>
            </a:r>
            <a:r>
              <a:rPr dirty="0" err="1"/>
              <a:t>둘째</a:t>
            </a:r>
            <a:r>
              <a:rPr dirty="0"/>
              <a:t> </a:t>
            </a:r>
            <a:r>
              <a:rPr dirty="0" err="1"/>
              <a:t>자리로</a:t>
            </a:r>
            <a:r>
              <a:rPr dirty="0"/>
              <a:t> </a:t>
            </a:r>
            <a:r>
              <a:rPr dirty="0" err="1"/>
              <a:t>반올림했으므로</a:t>
            </a:r>
            <a:r>
              <a:rPr dirty="0"/>
              <a:t> </a:t>
            </a:r>
            <a:r>
              <a:rPr dirty="0" err="1"/>
              <a:t>행의</a:t>
            </a:r>
            <a:r>
              <a:rPr dirty="0"/>
              <a:t> </a:t>
            </a:r>
            <a:r>
              <a:rPr dirty="0" err="1"/>
              <a:t>합이</a:t>
            </a:r>
            <a:r>
              <a:rPr dirty="0"/>
              <a:t> </a:t>
            </a:r>
            <a:r>
              <a:rPr dirty="0" err="1"/>
              <a:t>정확히</a:t>
            </a:r>
            <a:r>
              <a:rPr dirty="0"/>
              <a:t> 1이 </a:t>
            </a:r>
            <a:r>
              <a:rPr dirty="0" err="1"/>
              <a:t>아닐</a:t>
            </a:r>
            <a:r>
              <a:rPr dirty="0"/>
              <a:t> 수 있</a:t>
            </a:r>
            <a:r>
              <a:rPr lang="ko-KR" altLang="en-US" dirty="0"/>
              <a:t>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왼쪽은</a:t>
            </a:r>
            <a:r>
              <a:rPr dirty="0"/>
              <a:t> </a:t>
            </a:r>
            <a:r>
              <a:rPr dirty="0" err="1"/>
              <a:t>정답이고</a:t>
            </a:r>
            <a:r>
              <a:rPr dirty="0"/>
              <a:t> </a:t>
            </a:r>
            <a:r>
              <a:rPr dirty="0" err="1"/>
              <a:t>오른쪽은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 두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여섯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클래스</a:t>
            </a:r>
            <a:r>
              <a:rPr dirty="0"/>
              <a:t> </a:t>
            </a:r>
            <a:r>
              <a:rPr dirty="0" err="1"/>
              <a:t>색상을</a:t>
            </a:r>
            <a:r>
              <a:rPr dirty="0"/>
              <a:t> </a:t>
            </a:r>
            <a:r>
              <a:rPr dirty="0" err="1"/>
              <a:t>사용합니다</a:t>
            </a:r>
            <a:r>
              <a:rPr dirty="0"/>
              <a:t>.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배치와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객체별</a:t>
            </a:r>
            <a:r>
              <a:rPr dirty="0"/>
              <a:t> </a:t>
            </a:r>
            <a:r>
              <a:rPr dirty="0" err="1"/>
              <a:t>오분류도</a:t>
            </a:r>
            <a:r>
              <a:rPr dirty="0"/>
              <a:t> </a:t>
            </a:r>
            <a:r>
              <a:rPr dirty="0" err="1"/>
              <a:t>확인해야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앞에서</a:t>
            </a:r>
            <a:r>
              <a:rPr dirty="0"/>
              <a:t> 본 </a:t>
            </a:r>
            <a:r>
              <a:rPr lang="ko-KR" altLang="en-US" dirty="0"/>
              <a:t>펜스</a:t>
            </a:r>
            <a:r>
              <a:rPr dirty="0"/>
              <a:t>와 </a:t>
            </a:r>
            <a:r>
              <a:rPr dirty="0" err="1"/>
              <a:t>자동차의</a:t>
            </a:r>
            <a:r>
              <a:rPr dirty="0"/>
              <a:t> </a:t>
            </a:r>
            <a:r>
              <a:rPr dirty="0" err="1"/>
              <a:t>낮은</a:t>
            </a:r>
            <a:r>
              <a:rPr dirty="0"/>
              <a:t> </a:t>
            </a:r>
            <a:r>
              <a:rPr dirty="0" err="1"/>
              <a:t>IoU처럼</a:t>
            </a:r>
            <a:r>
              <a:rPr dirty="0"/>
              <a:t>,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정확도만으로는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객체의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수 </a:t>
            </a:r>
            <a:r>
              <a:rPr dirty="0" err="1"/>
              <a:t>없습니다</a:t>
            </a:r>
            <a:r>
              <a:rPr dirty="0"/>
              <a:t>. 본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장면</a:t>
            </a:r>
            <a:r>
              <a:rPr dirty="0"/>
              <a:t> </a:t>
            </a:r>
            <a:r>
              <a:rPr dirty="0" err="1"/>
              <a:t>비교이며</a:t>
            </a:r>
            <a:r>
              <a:rPr dirty="0"/>
              <a:t>,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분석은</a:t>
            </a:r>
            <a:r>
              <a:rPr dirty="0"/>
              <a:t> </a:t>
            </a:r>
            <a:r>
              <a:rPr dirty="0" err="1"/>
              <a:t>후속</a:t>
            </a:r>
            <a:r>
              <a:rPr dirty="0"/>
              <a:t> </a:t>
            </a:r>
            <a:r>
              <a:rPr dirty="0" err="1"/>
              <a:t>연구</a:t>
            </a:r>
            <a:r>
              <a:rPr lang="ko-KR" altLang="en-US" dirty="0"/>
              <a:t>에서 수행될 예정입니다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결론입니다</a:t>
            </a:r>
            <a:r>
              <a:rPr lang="en-US" altLang="ko-KR" dirty="0"/>
              <a:t>.</a:t>
            </a:r>
            <a:r>
              <a:rPr dirty="0"/>
              <a:t> </a:t>
            </a:r>
            <a:r>
              <a:rPr dirty="0" err="1"/>
              <a:t>연구는</a:t>
            </a:r>
            <a:r>
              <a:rPr dirty="0"/>
              <a:t> </a:t>
            </a:r>
            <a:r>
              <a:rPr dirty="0" err="1"/>
              <a:t>복셀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학습하기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 </a:t>
            </a:r>
            <a:r>
              <a:rPr dirty="0" err="1"/>
              <a:t>방법을</a:t>
            </a:r>
            <a:r>
              <a:rPr dirty="0"/>
              <a:t> </a:t>
            </a:r>
            <a:r>
              <a:rPr dirty="0" err="1"/>
              <a:t>비교했습니다</a:t>
            </a:r>
            <a:r>
              <a:rPr dirty="0"/>
              <a:t>. 본 </a:t>
            </a:r>
            <a:r>
              <a:rPr dirty="0" err="1"/>
              <a:t>실험에서는</a:t>
            </a:r>
            <a:r>
              <a:rPr dirty="0"/>
              <a:t> Full-</a:t>
            </a:r>
            <a:r>
              <a:rPr dirty="0" err="1"/>
              <a:t>Z와</a:t>
            </a:r>
            <a:r>
              <a:rPr dirty="0"/>
              <a:t> RGB-16을 </a:t>
            </a:r>
            <a:r>
              <a:rPr dirty="0" err="1"/>
              <a:t>결합한</a:t>
            </a:r>
            <a:r>
              <a:rPr dirty="0"/>
              <a:t> P32가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mIoU를</a:t>
            </a:r>
            <a:r>
              <a:rPr dirty="0"/>
              <a:t> </a:t>
            </a:r>
            <a:r>
              <a:rPr dirty="0" err="1"/>
              <a:t>보였습니다</a:t>
            </a:r>
            <a:r>
              <a:rPr dirty="0"/>
              <a:t>. </a:t>
            </a:r>
            <a:endParaRPr lang="en-US" dirty="0"/>
          </a:p>
          <a:p>
            <a:r>
              <a:rPr lang="ko-KR" altLang="en-US" dirty="0"/>
              <a:t>향후에는 실제 우리나라의 </a:t>
            </a:r>
            <a:r>
              <a:rPr lang="ko-KR" altLang="en-US" dirty="0" err="1"/>
              <a:t>포인트클라우드</a:t>
            </a:r>
            <a:r>
              <a:rPr lang="ko-KR" altLang="en-US" dirty="0"/>
              <a:t> 데이터를 </a:t>
            </a:r>
            <a:r>
              <a:rPr lang="ko-KR" altLang="en-US" dirty="0" err="1"/>
              <a:t>복셀화하어</a:t>
            </a:r>
            <a:r>
              <a:rPr lang="ko-KR" altLang="en-US" dirty="0"/>
              <a:t> 장면 평가를 수행하고</a:t>
            </a:r>
            <a:r>
              <a:rPr lang="en-US" altLang="ko-KR" dirty="0"/>
              <a:t>, </a:t>
            </a:r>
            <a:r>
              <a:rPr lang="ko-KR" altLang="en-US" dirty="0"/>
              <a:t>작은 객체들의 분류 성능을 향상 </a:t>
            </a:r>
            <a:r>
              <a:rPr lang="ko-KR" altLang="en-US" dirty="0" err="1"/>
              <a:t>시킬수있는</a:t>
            </a:r>
            <a:r>
              <a:rPr lang="ko-KR" altLang="en-US" dirty="0"/>
              <a:t> 학습데이터셋 구축방법을 추가적으로 연구할 예정입니다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연구와 관련해서 질문 있으시면 질문해주시기 바랍니다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질문 없을 시 </a:t>
            </a:r>
            <a:r>
              <a:rPr lang="en-US" altLang="ko-KR" dirty="0"/>
              <a:t>-&gt; </a:t>
            </a:r>
            <a:r>
              <a:rPr lang="ko-KR" altLang="en-US" dirty="0"/>
              <a:t>이상으로 발표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9060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755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D CNN 기반">
            <a:extLst>
              <a:ext uri="{FF2B5EF4-FFF2-40B4-BE49-F238E27FC236}">
                <a16:creationId xmlns:a16="http://schemas.microsoft.com/office/drawing/2014/main" id="{DE2276D7-7453-4F65-B0BC-99F0FA32460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defRPr>
            </a:pPr>
            <a:endParaRPr sz="2400" b="1" dirty="0">
              <a:solidFill>
                <a:srgbClr val="2464A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도심 3차원 데이터의&#10;의미론적 분할을 위한&#10;복셀화 기법별 성능">
            <a:extLst>
              <a:ext uri="{FF2B5EF4-FFF2-40B4-BE49-F238E27FC236}">
                <a16:creationId xmlns:a16="http://schemas.microsoft.com/office/drawing/2014/main" id="{0C52351A-2D45-44E1-BB7A-6BAD8F4EA675}"/>
              </a:ext>
            </a:extLst>
          </p:cNvPr>
          <p:cNvSpPr>
            <a:spLocks noGrp="1"/>
          </p:cNvSpPr>
          <p:nvPr/>
        </p:nvSpPr>
        <p:spPr>
          <a:xfrm>
            <a:off x="609600" y="823912"/>
            <a:ext cx="11093302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7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4000" b="1" dirty="0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3D CNN </a:t>
            </a:r>
            <a:r>
              <a:rPr lang="ko-KR" altLang="en-US" sz="4000" b="1" dirty="0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기반</a:t>
            </a:r>
            <a:endParaRPr lang="en-US" altLang="ko-KR" sz="4000" b="1" dirty="0">
              <a:solidFill>
                <a:srgbClr val="008C96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37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endParaRPr lang="ko-KR" altLang="en-US" sz="1000" b="1" dirty="0">
              <a:solidFill>
                <a:srgbClr val="2464A0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37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도심</a:t>
            </a:r>
            <a:r>
              <a:rPr sz="37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3차원 </a:t>
            </a:r>
            <a:r>
              <a:rPr sz="37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데이터의</a:t>
            </a:r>
            <a:r>
              <a:rPr lang="en-US" sz="37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7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의미론적</a:t>
            </a:r>
            <a:r>
              <a:rPr sz="37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7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분할을</a:t>
            </a:r>
            <a:r>
              <a:rPr sz="37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7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위한</a:t>
            </a:r>
            <a:endParaRPr lang="en-US" sz="375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37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복셀화</a:t>
            </a:r>
            <a:r>
              <a:rPr sz="37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7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기법별</a:t>
            </a:r>
            <a:r>
              <a:rPr sz="37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7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성능</a:t>
            </a:r>
            <a:r>
              <a:rPr sz="37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7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비교</a:t>
            </a:r>
            <a:endParaRPr sz="375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김재홍">
            <a:extLst>
              <a:ext uri="{FF2B5EF4-FFF2-40B4-BE49-F238E27FC236}">
                <a16:creationId xmlns:a16="http://schemas.microsoft.com/office/drawing/2014/main" id="{BF97A3EE-234B-4ED6-89AD-125692C90086}"/>
              </a:ext>
            </a:extLst>
          </p:cNvPr>
          <p:cNvSpPr>
            <a:spLocks noGrp="1"/>
          </p:cNvSpPr>
          <p:nvPr/>
        </p:nvSpPr>
        <p:spPr>
          <a:xfrm>
            <a:off x="5670507" y="5257800"/>
            <a:ext cx="533773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김재홍</a:t>
            </a:r>
            <a:r>
              <a:rPr lang="en-US" sz="21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1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서재석 </a:t>
            </a:r>
            <a:r>
              <a:rPr lang="ko-KR" altLang="en-US" sz="21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박기욱</a:t>
            </a:r>
            <a:r>
              <a:rPr lang="ko-KR" altLang="en-US" sz="21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이유진 김광수 이기훈</a:t>
            </a:r>
            <a:endParaRPr sz="21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김재홍">
            <a:extLst>
              <a:ext uri="{FF2B5EF4-FFF2-40B4-BE49-F238E27FC236}">
                <a16:creationId xmlns:a16="http://schemas.microsoft.com/office/drawing/2014/main" id="{9B49694F-FBEF-AAF8-E9BA-691A8EC6A1AF}"/>
              </a:ext>
            </a:extLst>
          </p:cNvPr>
          <p:cNvSpPr>
            <a:spLocks noGrp="1"/>
          </p:cNvSpPr>
          <p:nvPr/>
        </p:nvSpPr>
        <p:spPr>
          <a:xfrm>
            <a:off x="2912533" y="3855243"/>
            <a:ext cx="8095709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8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The 7</a:t>
            </a:r>
            <a:r>
              <a:rPr lang="en-US" altLang="ko-KR" sz="2800" b="1" baseline="30000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th</a:t>
            </a:r>
            <a:r>
              <a:rPr lang="en-US" altLang="ko-KR" sz="28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Korea Artificial Intelligence Conference</a:t>
            </a:r>
            <a:endParaRPr sz="28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7813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5486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분야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1188720" cy="889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6243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건물·수목·지면 식별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862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8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회피 대상·착륙 후보 판단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29000"/>
            <a:ext cx="1188720" cy="889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74520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로봇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874520" y="3813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바닥·벽·사람 식별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874520" y="40507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8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통행 공간·회피 대상 판단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17720"/>
            <a:ext cx="1188720" cy="889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745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자율주행차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874520" y="5001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도로·보행자·차량 식별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1874520" y="5239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8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주행 영역·회피 대상 판단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3840480" y="3401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LiDAR · SLAM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931920" y="3703320"/>
            <a:ext cx="731520" cy="0"/>
          </a:xfrm>
          <a:prstGeom prst="line">
            <a:avLst/>
          </a:prstGeom>
          <a:noFill/>
          <a:ln w="28575">
            <a:solidFill>
              <a:srgbClr val="0E8A8F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892040" y="1783080"/>
            <a:ext cx="67665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20640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범위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12064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클라우드</a:t>
            </a:r>
            <a:endParaRPr lang="en-US" sz="18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697480"/>
            <a:ext cx="2651760" cy="213434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120640" y="4892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불규칙한 점 분포·밀도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관계 별도 탐색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882128" y="3063240"/>
            <a:ext cx="1152144" cy="868680"/>
          </a:xfrm>
          <a:prstGeom prst="roundRect">
            <a:avLst>
              <a:gd name="adj" fmla="val 10526"/>
            </a:avLst>
          </a:prstGeom>
          <a:solidFill>
            <a:srgbClr val="FFF4EC"/>
          </a:solidFill>
          <a:ln w="15875">
            <a:solidFill>
              <a:srgbClr val="E8772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882128" y="3063240"/>
            <a:ext cx="1152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3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87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복셀화 +</a:t>
            </a:r>
            <a:endParaRPr lang="en-US" sz="13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87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분할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882128" y="4160520"/>
            <a:ext cx="1152144" cy="0"/>
          </a:xfrm>
          <a:prstGeom prst="line">
            <a:avLst/>
          </a:prstGeom>
          <a:noFill/>
          <a:ln w="28575">
            <a:solidFill>
              <a:srgbClr val="E8772E"/>
            </a:solidFill>
            <a:prstDash val="solid"/>
            <a:tailEnd type="triangle"/>
          </a:ln>
        </p:spPr>
      </p:sp>
      <p:sp>
        <p:nvSpPr>
          <p:cNvPr id="28" name="Text 22"/>
          <p:cNvSpPr txBox="1"/>
          <p:nvPr/>
        </p:nvSpPr>
        <p:spPr>
          <a:xfrm>
            <a:off x="909828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시멘틱 복셀</a:t>
            </a:r>
            <a:endParaRPr lang="en-US" sz="18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697480"/>
            <a:ext cx="2377440" cy="197153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09828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격자별 점유·클래스 저장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규칙적 이웃·학습 입력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48640" y="5852160"/>
            <a:ext cx="11109960" cy="640080"/>
          </a:xfrm>
          <a:prstGeom prst="roundRect">
            <a:avLst>
              <a:gd name="adj" fmla="val 14286"/>
            </a:avLst>
          </a:prstGeom>
          <a:solidFill>
            <a:srgbClr val="E7F3F3"/>
          </a:solidFill>
          <a:ln w="12700">
            <a:solidFill>
              <a:srgbClr val="E7F3F3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777240" y="5852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E8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 구조와 객체 의미를 함께 반영한 복셀 학습 </a:t>
            </a:r>
            <a:r>
              <a:rPr lang="en-US" sz="2000" b="1" dirty="0" err="1">
                <a:solidFill>
                  <a:srgbClr val="0E8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r>
              <a:rPr lang="en-US" sz="2000" b="1" dirty="0">
                <a:solidFill>
                  <a:srgbClr val="0E8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000" b="1" dirty="0" err="1">
                <a:solidFill>
                  <a:srgbClr val="0E8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</a:t>
            </a:r>
            <a:endParaRPr lang="en-US" sz="2000" b="1" dirty="0">
              <a:solidFill>
                <a:srgbClr val="0E8A8F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en-US" sz="1150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복셀화와</a:t>
            </a: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의미 분할을 결합해 격자별 시멘틱 구성 → 각 도메인의 판단 입력으로 활용</a:t>
            </a:r>
            <a:endParaRPr lang="en-US" sz="1700" dirty="0"/>
          </a:p>
        </p:txBody>
      </p:sp>
      <p:sp>
        <p:nvSpPr>
          <p:cNvPr id="33" name="연구 배경: 시멘틱 복셀의 필요성">
            <a:extLst>
              <a:ext uri="{FF2B5EF4-FFF2-40B4-BE49-F238E27FC236}">
                <a16:creationId xmlns:a16="http://schemas.microsoft.com/office/drawing/2014/main" id="{8CE68E04-AAE2-6724-C986-4F8F72C2AF2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연구 배경 </a:t>
            </a:r>
            <a:r>
              <a:rPr 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:</a:t>
            </a:r>
            <a:r>
              <a:rPr sz="24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400" b="1" dirty="0" err="1">
                <a:latin typeface="Malgun Gothic"/>
                <a:ea typeface="Malgun Gothic"/>
                <a:cs typeface="Malgun Gothic"/>
              </a:rPr>
              <a:t>머신리더블</a:t>
            </a:r>
            <a:r>
              <a:rPr lang="ko-KR" altLang="en-US" sz="2400" b="1" dirty="0">
                <a:latin typeface="Malgun Gothic"/>
                <a:ea typeface="Malgun Gothic"/>
                <a:cs typeface="Malgun Gothic"/>
              </a:rPr>
              <a:t> 데이터 구축을 위한 </a:t>
            </a:r>
            <a:r>
              <a:rPr lang="en-US" altLang="ko-KR" sz="2400" b="1" dirty="0">
                <a:latin typeface="Malgun Gothic"/>
                <a:ea typeface="Malgun Gothic"/>
                <a:cs typeface="Malgun Gothic"/>
              </a:rPr>
              <a:t>3</a:t>
            </a:r>
            <a:r>
              <a:rPr lang="ko-KR" altLang="en-US" sz="2400" b="1" dirty="0">
                <a:latin typeface="Malgun Gothic"/>
                <a:ea typeface="Malgun Gothic"/>
                <a:cs typeface="Malgun Gothic"/>
              </a:rPr>
              <a:t>차원 공간정보의 구조화</a:t>
            </a:r>
            <a:endParaRPr sz="3150" b="1" dirty="0"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4" name="객체의 종류에 따른 이동 가능 공간과 회피 대상의 구분">
            <a:extLst>
              <a:ext uri="{FF2B5EF4-FFF2-40B4-BE49-F238E27FC236}">
                <a16:creationId xmlns:a16="http://schemas.microsoft.com/office/drawing/2014/main" id="{D4B87EAB-E89C-9A20-385A-0F79A0F733CE}"/>
              </a:ext>
            </a:extLst>
          </p:cNvPr>
          <p:cNvSpPr>
            <a:spLocks noGrp="1"/>
          </p:cNvSpPr>
          <p:nvPr/>
        </p:nvSpPr>
        <p:spPr>
          <a:xfrm>
            <a:off x="628650" y="1076325"/>
            <a:ext cx="10934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객체의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종류에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따른</a:t>
            </a:r>
            <a:r>
              <a:rPr lang="en-US"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입체적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이동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가능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공간과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회피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대상</a:t>
            </a:r>
            <a:r>
              <a:rPr lang="en-US"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875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등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의</a:t>
            </a:r>
            <a:r>
              <a:rPr lang="en-US"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의미론적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구분</a:t>
            </a:r>
            <a:endParaRPr sz="1875" b="0" dirty="0">
              <a:solidFill>
                <a:srgbClr val="607080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2">
            <a:extLst>
              <a:ext uri="{FF2B5EF4-FFF2-40B4-BE49-F238E27FC236}">
                <a16:creationId xmlns:a16="http://schemas.microsoft.com/office/drawing/2014/main" id="{85ACCA8C-DCC0-FC96-6102-AB90B3BB9C4F}"/>
              </a:ext>
            </a:extLst>
          </p:cNvPr>
          <p:cNvSpPr/>
          <p:nvPr/>
        </p:nvSpPr>
        <p:spPr>
          <a:xfrm>
            <a:off x="411480" y="1600200"/>
            <a:ext cx="1965960" cy="4754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2" name="Text 3">
            <a:extLst>
              <a:ext uri="{FF2B5EF4-FFF2-40B4-BE49-F238E27FC236}">
                <a16:creationId xmlns:a16="http://schemas.microsoft.com/office/drawing/2014/main" id="{DDEFD45C-062E-9BBC-E5E0-6BDFC9CE861D}"/>
              </a:ext>
            </a:extLst>
          </p:cNvPr>
          <p:cNvSpPr txBox="1"/>
          <p:nvPr/>
        </p:nvSpPr>
        <p:spPr>
          <a:xfrm>
            <a:off x="576072" y="17830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F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</a:t>
            </a:r>
            <a:r>
              <a:rPr lang="en-US" sz="13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클라우드</a:t>
            </a:r>
            <a:endParaRPr lang="en-US" sz="1300" dirty="0"/>
          </a:p>
        </p:txBody>
      </p:sp>
      <p:sp>
        <p:nvSpPr>
          <p:cNvPr id="153" name="Shape 4">
            <a:extLst>
              <a:ext uri="{FF2B5EF4-FFF2-40B4-BE49-F238E27FC236}">
                <a16:creationId xmlns:a16="http://schemas.microsoft.com/office/drawing/2014/main" id="{9BDDD4F2-79C0-6580-E2A8-E3EAAF196CDB}"/>
              </a:ext>
            </a:extLst>
          </p:cNvPr>
          <p:cNvSpPr/>
          <p:nvPr/>
        </p:nvSpPr>
        <p:spPr>
          <a:xfrm>
            <a:off x="3108960" y="1600200"/>
            <a:ext cx="1783080" cy="47548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4" name="Text 5">
            <a:extLst>
              <a:ext uri="{FF2B5EF4-FFF2-40B4-BE49-F238E27FC236}">
                <a16:creationId xmlns:a16="http://schemas.microsoft.com/office/drawing/2014/main" id="{D62C431A-082D-4A52-E221-6D415AD4D336}"/>
              </a:ext>
            </a:extLst>
          </p:cNvPr>
          <p:cNvSpPr txBox="1"/>
          <p:nvPr/>
        </p:nvSpPr>
        <p:spPr>
          <a:xfrm>
            <a:off x="3273552" y="178308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F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</a:t>
            </a:r>
            <a:r>
              <a:rPr lang="en-US" sz="13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시멘틱 객체</a:t>
            </a:r>
            <a:endParaRPr lang="en-US" sz="1300" dirty="0"/>
          </a:p>
        </p:txBody>
      </p:sp>
      <p:sp>
        <p:nvSpPr>
          <p:cNvPr id="155" name="Shape 6">
            <a:extLst>
              <a:ext uri="{FF2B5EF4-FFF2-40B4-BE49-F238E27FC236}">
                <a16:creationId xmlns:a16="http://schemas.microsoft.com/office/drawing/2014/main" id="{532FCA62-77F8-927E-7405-AC793E5B1A63}"/>
              </a:ext>
            </a:extLst>
          </p:cNvPr>
          <p:cNvSpPr/>
          <p:nvPr/>
        </p:nvSpPr>
        <p:spPr>
          <a:xfrm>
            <a:off x="5148072" y="1600200"/>
            <a:ext cx="21945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6" name="Text 7">
            <a:extLst>
              <a:ext uri="{FF2B5EF4-FFF2-40B4-BE49-F238E27FC236}">
                <a16:creationId xmlns:a16="http://schemas.microsoft.com/office/drawing/2014/main" id="{6F6056F4-06B4-137B-55BF-2B2D73D0ECAA}"/>
              </a:ext>
            </a:extLst>
          </p:cNvPr>
          <p:cNvSpPr txBox="1"/>
          <p:nvPr/>
        </p:nvSpPr>
        <p:spPr>
          <a:xfrm>
            <a:off x="52578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F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</a:t>
            </a:r>
            <a:r>
              <a:rPr lang="en-US" sz="13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시멘틱 복셀 도시 장면</a:t>
            </a:r>
            <a:endParaRPr lang="en-US" sz="1300" dirty="0"/>
          </a:p>
        </p:txBody>
      </p:sp>
      <p:sp>
        <p:nvSpPr>
          <p:cNvPr id="157" name="Shape 8">
            <a:extLst>
              <a:ext uri="{FF2B5EF4-FFF2-40B4-BE49-F238E27FC236}">
                <a16:creationId xmlns:a16="http://schemas.microsoft.com/office/drawing/2014/main" id="{3D43501E-F995-5FF6-17CA-8A39DD6D8F8E}"/>
              </a:ext>
            </a:extLst>
          </p:cNvPr>
          <p:cNvSpPr/>
          <p:nvPr/>
        </p:nvSpPr>
        <p:spPr>
          <a:xfrm>
            <a:off x="7598664" y="1600200"/>
            <a:ext cx="2148840" cy="4754880"/>
          </a:xfrm>
          <a:prstGeom prst="roundRect">
            <a:avLst>
              <a:gd name="adj" fmla="val 5106"/>
            </a:avLst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8" name="Text 9">
            <a:extLst>
              <a:ext uri="{FF2B5EF4-FFF2-40B4-BE49-F238E27FC236}">
                <a16:creationId xmlns:a16="http://schemas.microsoft.com/office/drawing/2014/main" id="{52682113-4CB5-D823-668A-EE6ADF946169}"/>
              </a:ext>
            </a:extLst>
          </p:cNvPr>
          <p:cNvSpPr txBox="1"/>
          <p:nvPr/>
        </p:nvSpPr>
        <p:spPr>
          <a:xfrm>
            <a:off x="7763256" y="1783080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CNN</a:t>
            </a:r>
            <a:endParaRPr lang="en-US" sz="1300" dirty="0"/>
          </a:p>
        </p:txBody>
      </p:sp>
      <p:sp>
        <p:nvSpPr>
          <p:cNvPr id="159" name="Shape 10">
            <a:extLst>
              <a:ext uri="{FF2B5EF4-FFF2-40B4-BE49-F238E27FC236}">
                <a16:creationId xmlns:a16="http://schemas.microsoft.com/office/drawing/2014/main" id="{3EC4FE6B-4A7B-110D-57DC-F1C145E53E66}"/>
              </a:ext>
            </a:extLst>
          </p:cNvPr>
          <p:cNvSpPr/>
          <p:nvPr/>
        </p:nvSpPr>
        <p:spPr>
          <a:xfrm>
            <a:off x="10003536" y="1600200"/>
            <a:ext cx="1737360" cy="47548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0" name="Text 11">
            <a:extLst>
              <a:ext uri="{FF2B5EF4-FFF2-40B4-BE49-F238E27FC236}">
                <a16:creationId xmlns:a16="http://schemas.microsoft.com/office/drawing/2014/main" id="{B7E51E5E-ADD5-3568-4205-6FDD06592809}"/>
              </a:ext>
            </a:extLst>
          </p:cNvPr>
          <p:cNvSpPr txBox="1"/>
          <p:nvPr/>
        </p:nvSpPr>
        <p:spPr>
          <a:xfrm>
            <a:off x="10168128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F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</a:t>
            </a:r>
            <a:r>
              <a:rPr lang="en-US" sz="13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시멘틱 복셀 맵</a:t>
            </a:r>
            <a:endParaRPr lang="en-US" sz="1300" dirty="0"/>
          </a:p>
        </p:txBody>
      </p:sp>
      <p:sp>
        <p:nvSpPr>
          <p:cNvPr id="161" name="Shape 12">
            <a:extLst>
              <a:ext uri="{FF2B5EF4-FFF2-40B4-BE49-F238E27FC236}">
                <a16:creationId xmlns:a16="http://schemas.microsoft.com/office/drawing/2014/main" id="{BC40D21A-786C-E623-C6A6-9EF7D27D5176}"/>
              </a:ext>
            </a:extLst>
          </p:cNvPr>
          <p:cNvSpPr/>
          <p:nvPr/>
        </p:nvSpPr>
        <p:spPr>
          <a:xfrm>
            <a:off x="2450592" y="3108960"/>
            <a:ext cx="585216" cy="1371600"/>
          </a:xfrm>
          <a:prstGeom prst="roundRect">
            <a:avLst>
              <a:gd name="adj" fmla="val 1562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2" name="Text 13">
            <a:extLst>
              <a:ext uri="{FF2B5EF4-FFF2-40B4-BE49-F238E27FC236}">
                <a16:creationId xmlns:a16="http://schemas.microsoft.com/office/drawing/2014/main" id="{DAEF90F2-D92D-257D-7859-E586BD8217C0}"/>
              </a:ext>
            </a:extLst>
          </p:cNvPr>
          <p:cNvSpPr txBox="1"/>
          <p:nvPr/>
        </p:nvSpPr>
        <p:spPr>
          <a:xfrm>
            <a:off x="2450592" y="3108960"/>
            <a:ext cx="585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복셀화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라벨링</a:t>
            </a:r>
            <a:endParaRPr lang="en-US" sz="1000" dirty="0"/>
          </a:p>
        </p:txBody>
      </p:sp>
      <p:sp>
        <p:nvSpPr>
          <p:cNvPr id="163" name="Shape 14">
            <a:extLst>
              <a:ext uri="{FF2B5EF4-FFF2-40B4-BE49-F238E27FC236}">
                <a16:creationId xmlns:a16="http://schemas.microsoft.com/office/drawing/2014/main" id="{8875465B-94F6-DFA7-63D7-E75B464F155A}"/>
              </a:ext>
            </a:extLst>
          </p:cNvPr>
          <p:cNvSpPr/>
          <p:nvPr/>
        </p:nvSpPr>
        <p:spPr>
          <a:xfrm>
            <a:off x="2660904" y="4599432"/>
            <a:ext cx="164592" cy="36576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4" name="Shape 15">
            <a:extLst>
              <a:ext uri="{FF2B5EF4-FFF2-40B4-BE49-F238E27FC236}">
                <a16:creationId xmlns:a16="http://schemas.microsoft.com/office/drawing/2014/main" id="{A82584DA-C9FE-BA8E-B3CC-D4A277A95799}"/>
              </a:ext>
            </a:extLst>
          </p:cNvPr>
          <p:cNvSpPr/>
          <p:nvPr/>
        </p:nvSpPr>
        <p:spPr>
          <a:xfrm>
            <a:off x="4937760" y="3794760"/>
            <a:ext cx="164592" cy="365760"/>
          </a:xfrm>
          <a:prstGeom prst="chevron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165" name="Shape 16">
            <a:extLst>
              <a:ext uri="{FF2B5EF4-FFF2-40B4-BE49-F238E27FC236}">
                <a16:creationId xmlns:a16="http://schemas.microsoft.com/office/drawing/2014/main" id="{9BF94446-EC67-2ED1-6D85-F570B6628DE0}"/>
              </a:ext>
            </a:extLst>
          </p:cNvPr>
          <p:cNvSpPr/>
          <p:nvPr/>
        </p:nvSpPr>
        <p:spPr>
          <a:xfrm>
            <a:off x="7388352" y="3794760"/>
            <a:ext cx="164592" cy="365760"/>
          </a:xfrm>
          <a:prstGeom prst="chevron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166" name="Shape 17">
            <a:extLst>
              <a:ext uri="{FF2B5EF4-FFF2-40B4-BE49-F238E27FC236}">
                <a16:creationId xmlns:a16="http://schemas.microsoft.com/office/drawing/2014/main" id="{8C48DA54-2988-A5EF-A840-FD24267BC7F4}"/>
              </a:ext>
            </a:extLst>
          </p:cNvPr>
          <p:cNvSpPr/>
          <p:nvPr/>
        </p:nvSpPr>
        <p:spPr>
          <a:xfrm>
            <a:off x="9793224" y="3794760"/>
            <a:ext cx="164592" cy="365760"/>
          </a:xfrm>
          <a:prstGeom prst="chevron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pic>
        <p:nvPicPr>
          <p:cNvPr id="167" name="Image 0" descr="preencoded.png">
            <a:extLst>
              <a:ext uri="{FF2B5EF4-FFF2-40B4-BE49-F238E27FC236}">
                <a16:creationId xmlns:a16="http://schemas.microsoft.com/office/drawing/2014/main" id="{E2734189-E0BF-1EF8-E2CE-C35B79BE8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81743"/>
            <a:ext cx="1783080" cy="1254634"/>
          </a:xfrm>
          <a:prstGeom prst="rect">
            <a:avLst/>
          </a:prstGeom>
        </p:spPr>
      </p:pic>
      <p:sp>
        <p:nvSpPr>
          <p:cNvPr id="168" name="Text 18">
            <a:extLst>
              <a:ext uri="{FF2B5EF4-FFF2-40B4-BE49-F238E27FC236}">
                <a16:creationId xmlns:a16="http://schemas.microsoft.com/office/drawing/2014/main" id="{52D8421B-B1C4-EF0F-5D09-472F6A47F60B}"/>
              </a:ext>
            </a:extLst>
          </p:cNvPr>
          <p:cNvSpPr txBox="1"/>
          <p:nvPr/>
        </p:nvSpPr>
        <p:spPr>
          <a:xfrm>
            <a:off x="484632" y="4719257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정보가 없는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점 집합</a:t>
            </a:r>
            <a:endParaRPr lang="en-US" sz="1000" dirty="0"/>
          </a:p>
        </p:txBody>
      </p:sp>
      <p:sp>
        <p:nvSpPr>
          <p:cNvPr id="169" name="Shape 19">
            <a:extLst>
              <a:ext uri="{FF2B5EF4-FFF2-40B4-BE49-F238E27FC236}">
                <a16:creationId xmlns:a16="http://schemas.microsoft.com/office/drawing/2014/main" id="{4E3BAB44-A600-A6F6-3420-1E7C61876911}"/>
              </a:ext>
            </a:extLst>
          </p:cNvPr>
          <p:cNvSpPr/>
          <p:nvPr/>
        </p:nvSpPr>
        <p:spPr>
          <a:xfrm>
            <a:off x="3236976" y="2331720"/>
            <a:ext cx="1527048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170" name="Image 1" descr="preencoded.png">
            <a:extLst>
              <a:ext uri="{FF2B5EF4-FFF2-40B4-BE49-F238E27FC236}">
                <a16:creationId xmlns:a16="http://schemas.microsoft.com/office/drawing/2014/main" id="{BB0DA1AB-B934-E0B0-2517-2F6BFDD8B0C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10128" y="2404613"/>
            <a:ext cx="566928" cy="476006"/>
          </a:xfrm>
          <a:prstGeom prst="rect">
            <a:avLst/>
          </a:prstGeom>
        </p:spPr>
      </p:pic>
      <p:sp>
        <p:nvSpPr>
          <p:cNvPr id="171" name="Shape 20">
            <a:extLst>
              <a:ext uri="{FF2B5EF4-FFF2-40B4-BE49-F238E27FC236}">
                <a16:creationId xmlns:a16="http://schemas.microsoft.com/office/drawing/2014/main" id="{695257E5-E1E4-0FD1-BBB4-1A5603859EAA}"/>
              </a:ext>
            </a:extLst>
          </p:cNvPr>
          <p:cNvSpPr/>
          <p:nvPr/>
        </p:nvSpPr>
        <p:spPr>
          <a:xfrm>
            <a:off x="3977640" y="2423160"/>
            <a:ext cx="758952" cy="237744"/>
          </a:xfrm>
          <a:prstGeom prst="roundRect">
            <a:avLst>
              <a:gd name="adj" fmla="val 23077"/>
            </a:avLst>
          </a:prstGeom>
          <a:solidFill>
            <a:srgbClr val="2F7FD8"/>
          </a:solidFill>
          <a:ln w="12700">
            <a:solidFill>
              <a:srgbClr val="2F7FD8"/>
            </a:solidFill>
            <a:prstDash val="solid"/>
          </a:ln>
        </p:spPr>
      </p:sp>
      <p:sp>
        <p:nvSpPr>
          <p:cNvPr id="172" name="Text 21">
            <a:extLst>
              <a:ext uri="{FF2B5EF4-FFF2-40B4-BE49-F238E27FC236}">
                <a16:creationId xmlns:a16="http://schemas.microsoft.com/office/drawing/2014/main" id="{DC0830E9-9090-8CB6-1699-BF99080805BB}"/>
              </a:ext>
            </a:extLst>
          </p:cNvPr>
          <p:cNvSpPr txBox="1"/>
          <p:nvPr/>
        </p:nvSpPr>
        <p:spPr>
          <a:xfrm>
            <a:off x="3977640" y="2423160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1000" dirty="0"/>
          </a:p>
        </p:txBody>
      </p:sp>
      <p:sp>
        <p:nvSpPr>
          <p:cNvPr id="173" name="Text 22">
            <a:extLst>
              <a:ext uri="{FF2B5EF4-FFF2-40B4-BE49-F238E27FC236}">
                <a16:creationId xmlns:a16="http://schemas.microsoft.com/office/drawing/2014/main" id="{2A4805CF-844D-9F04-4142-430639B3318B}"/>
              </a:ext>
            </a:extLst>
          </p:cNvPr>
          <p:cNvSpPr txBox="1"/>
          <p:nvPr/>
        </p:nvSpPr>
        <p:spPr>
          <a:xfrm>
            <a:off x="3977640" y="267919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</a:t>
            </a:r>
            <a:endParaRPr lang="en-US" sz="900" dirty="0"/>
          </a:p>
        </p:txBody>
      </p:sp>
      <p:sp>
        <p:nvSpPr>
          <p:cNvPr id="174" name="Shape 23">
            <a:extLst>
              <a:ext uri="{FF2B5EF4-FFF2-40B4-BE49-F238E27FC236}">
                <a16:creationId xmlns:a16="http://schemas.microsoft.com/office/drawing/2014/main" id="{26762B57-60C4-3B73-D121-B91CE4409B2B}"/>
              </a:ext>
            </a:extLst>
          </p:cNvPr>
          <p:cNvSpPr/>
          <p:nvPr/>
        </p:nvSpPr>
        <p:spPr>
          <a:xfrm>
            <a:off x="3236976" y="3026664"/>
            <a:ext cx="1527048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175" name="Image 2" descr="preencoded.png">
            <a:extLst>
              <a:ext uri="{FF2B5EF4-FFF2-40B4-BE49-F238E27FC236}">
                <a16:creationId xmlns:a16="http://schemas.microsoft.com/office/drawing/2014/main" id="{67D08EE1-881C-9775-2B4E-5A73017EDB7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10128" y="3162552"/>
            <a:ext cx="566928" cy="350016"/>
          </a:xfrm>
          <a:prstGeom prst="rect">
            <a:avLst/>
          </a:prstGeom>
        </p:spPr>
      </p:pic>
      <p:sp>
        <p:nvSpPr>
          <p:cNvPr id="176" name="Shape 24">
            <a:extLst>
              <a:ext uri="{FF2B5EF4-FFF2-40B4-BE49-F238E27FC236}">
                <a16:creationId xmlns:a16="http://schemas.microsoft.com/office/drawing/2014/main" id="{DF489825-439E-F1CA-E71E-62B7E000CC69}"/>
              </a:ext>
            </a:extLst>
          </p:cNvPr>
          <p:cNvSpPr/>
          <p:nvPr/>
        </p:nvSpPr>
        <p:spPr>
          <a:xfrm>
            <a:off x="3977640" y="3118104"/>
            <a:ext cx="758952" cy="237744"/>
          </a:xfrm>
          <a:prstGeom prst="roundRect">
            <a:avLst>
              <a:gd name="adj" fmla="val 2307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7" name="Text 25">
            <a:extLst>
              <a:ext uri="{FF2B5EF4-FFF2-40B4-BE49-F238E27FC236}">
                <a16:creationId xmlns:a16="http://schemas.microsoft.com/office/drawing/2014/main" id="{B065DEA2-E20C-4A6A-7B5A-B071121901AE}"/>
              </a:ext>
            </a:extLst>
          </p:cNvPr>
          <p:cNvSpPr txBox="1"/>
          <p:nvPr/>
        </p:nvSpPr>
        <p:spPr>
          <a:xfrm>
            <a:off x="3977640" y="3118104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000" dirty="0"/>
          </a:p>
        </p:txBody>
      </p:sp>
      <p:sp>
        <p:nvSpPr>
          <p:cNvPr id="178" name="Text 26">
            <a:extLst>
              <a:ext uri="{FF2B5EF4-FFF2-40B4-BE49-F238E27FC236}">
                <a16:creationId xmlns:a16="http://schemas.microsoft.com/office/drawing/2014/main" id="{D6396562-3C24-F920-538D-1EDF73AED544}"/>
              </a:ext>
            </a:extLst>
          </p:cNvPr>
          <p:cNvSpPr txBox="1"/>
          <p:nvPr/>
        </p:nvSpPr>
        <p:spPr>
          <a:xfrm>
            <a:off x="3977640" y="337413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</a:t>
            </a:r>
            <a:endParaRPr lang="en-US" sz="900" dirty="0"/>
          </a:p>
        </p:txBody>
      </p:sp>
      <p:sp>
        <p:nvSpPr>
          <p:cNvPr id="179" name="Shape 27">
            <a:extLst>
              <a:ext uri="{FF2B5EF4-FFF2-40B4-BE49-F238E27FC236}">
                <a16:creationId xmlns:a16="http://schemas.microsoft.com/office/drawing/2014/main" id="{BE3771F3-9762-1698-F387-50E19AEA861B}"/>
              </a:ext>
            </a:extLst>
          </p:cNvPr>
          <p:cNvSpPr/>
          <p:nvPr/>
        </p:nvSpPr>
        <p:spPr>
          <a:xfrm>
            <a:off x="3236976" y="3721608"/>
            <a:ext cx="1527048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1" name="Shape 28">
            <a:extLst>
              <a:ext uri="{FF2B5EF4-FFF2-40B4-BE49-F238E27FC236}">
                <a16:creationId xmlns:a16="http://schemas.microsoft.com/office/drawing/2014/main" id="{85FEFCD6-B034-EDCD-01EE-276EFD029D42}"/>
              </a:ext>
            </a:extLst>
          </p:cNvPr>
          <p:cNvSpPr/>
          <p:nvPr/>
        </p:nvSpPr>
        <p:spPr>
          <a:xfrm>
            <a:off x="3977640" y="3813048"/>
            <a:ext cx="758952" cy="237744"/>
          </a:xfrm>
          <a:prstGeom prst="roundRect">
            <a:avLst>
              <a:gd name="adj" fmla="val 23077"/>
            </a:avLst>
          </a:prstGeom>
          <a:solidFill>
            <a:srgbClr val="4CA64C"/>
          </a:solidFill>
          <a:ln w="12700">
            <a:solidFill>
              <a:srgbClr val="4CA64C"/>
            </a:solidFill>
            <a:prstDash val="solid"/>
          </a:ln>
        </p:spPr>
      </p:sp>
      <p:sp>
        <p:nvSpPr>
          <p:cNvPr id="182" name="Text 29">
            <a:extLst>
              <a:ext uri="{FF2B5EF4-FFF2-40B4-BE49-F238E27FC236}">
                <a16:creationId xmlns:a16="http://schemas.microsoft.com/office/drawing/2014/main" id="{651DBBF8-42F8-DA54-09C1-8F3DDF554550}"/>
              </a:ext>
            </a:extLst>
          </p:cNvPr>
          <p:cNvSpPr txBox="1"/>
          <p:nvPr/>
        </p:nvSpPr>
        <p:spPr>
          <a:xfrm>
            <a:off x="3977640" y="3813048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</a:t>
            </a:r>
            <a:endParaRPr lang="en-US" sz="1000" dirty="0"/>
          </a:p>
        </p:txBody>
      </p:sp>
      <p:sp>
        <p:nvSpPr>
          <p:cNvPr id="183" name="Text 30">
            <a:extLst>
              <a:ext uri="{FF2B5EF4-FFF2-40B4-BE49-F238E27FC236}">
                <a16:creationId xmlns:a16="http://schemas.microsoft.com/office/drawing/2014/main" id="{944B2FB4-F8B2-B1E9-CE76-376183FE8BE5}"/>
              </a:ext>
            </a:extLst>
          </p:cNvPr>
          <p:cNvSpPr txBox="1"/>
          <p:nvPr/>
        </p:nvSpPr>
        <p:spPr>
          <a:xfrm>
            <a:off x="3977640" y="406908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나무</a:t>
            </a:r>
            <a:endParaRPr lang="en-US" sz="900" dirty="0"/>
          </a:p>
        </p:txBody>
      </p:sp>
      <p:sp>
        <p:nvSpPr>
          <p:cNvPr id="184" name="Shape 31">
            <a:extLst>
              <a:ext uri="{FF2B5EF4-FFF2-40B4-BE49-F238E27FC236}">
                <a16:creationId xmlns:a16="http://schemas.microsoft.com/office/drawing/2014/main" id="{1C8D8F94-BC2F-F421-48E0-170CD1007242}"/>
              </a:ext>
            </a:extLst>
          </p:cNvPr>
          <p:cNvSpPr/>
          <p:nvPr/>
        </p:nvSpPr>
        <p:spPr>
          <a:xfrm>
            <a:off x="3236976" y="4416552"/>
            <a:ext cx="1527048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185" name="Image 4" descr="preencoded.png">
            <a:extLst>
              <a:ext uri="{FF2B5EF4-FFF2-40B4-BE49-F238E27FC236}">
                <a16:creationId xmlns:a16="http://schemas.microsoft.com/office/drawing/2014/main" id="{7DB55FA8-BAD9-8BF6-5C44-BE12ED6DC0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2533" y="4471416"/>
            <a:ext cx="302118" cy="512064"/>
          </a:xfrm>
          <a:prstGeom prst="rect">
            <a:avLst/>
          </a:prstGeom>
        </p:spPr>
      </p:pic>
      <p:sp>
        <p:nvSpPr>
          <p:cNvPr id="186" name="Shape 32">
            <a:extLst>
              <a:ext uri="{FF2B5EF4-FFF2-40B4-BE49-F238E27FC236}">
                <a16:creationId xmlns:a16="http://schemas.microsoft.com/office/drawing/2014/main" id="{7B07E261-A3BE-F66D-1E69-F2089726865E}"/>
              </a:ext>
            </a:extLst>
          </p:cNvPr>
          <p:cNvSpPr/>
          <p:nvPr/>
        </p:nvSpPr>
        <p:spPr>
          <a:xfrm>
            <a:off x="3977640" y="4507992"/>
            <a:ext cx="758952" cy="237744"/>
          </a:xfrm>
          <a:prstGeom prst="roundRect">
            <a:avLst>
              <a:gd name="adj" fmla="val 23077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87" name="Text 33">
            <a:extLst>
              <a:ext uri="{FF2B5EF4-FFF2-40B4-BE49-F238E27FC236}">
                <a16:creationId xmlns:a16="http://schemas.microsoft.com/office/drawing/2014/main" id="{55E58BD9-9A14-11CE-3C57-644993506791}"/>
              </a:ext>
            </a:extLst>
          </p:cNvPr>
          <p:cNvSpPr txBox="1"/>
          <p:nvPr/>
        </p:nvSpPr>
        <p:spPr>
          <a:xfrm>
            <a:off x="3977640" y="450799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</a:t>
            </a:r>
            <a:endParaRPr lang="en-US" sz="1000" dirty="0"/>
          </a:p>
        </p:txBody>
      </p:sp>
      <p:sp>
        <p:nvSpPr>
          <p:cNvPr id="188" name="Text 34">
            <a:extLst>
              <a:ext uri="{FF2B5EF4-FFF2-40B4-BE49-F238E27FC236}">
                <a16:creationId xmlns:a16="http://schemas.microsoft.com/office/drawing/2014/main" id="{B4053CCE-D03B-8238-7A56-4FBAFA82872E}"/>
              </a:ext>
            </a:extLst>
          </p:cNvPr>
          <p:cNvSpPr txBox="1"/>
          <p:nvPr/>
        </p:nvSpPr>
        <p:spPr>
          <a:xfrm>
            <a:off x="3977640" y="476402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가로등</a:t>
            </a:r>
            <a:endParaRPr lang="en-US" sz="900" dirty="0"/>
          </a:p>
        </p:txBody>
      </p:sp>
      <p:sp>
        <p:nvSpPr>
          <p:cNvPr id="189" name="Shape 35">
            <a:extLst>
              <a:ext uri="{FF2B5EF4-FFF2-40B4-BE49-F238E27FC236}">
                <a16:creationId xmlns:a16="http://schemas.microsoft.com/office/drawing/2014/main" id="{259DFF00-8222-236A-F1F8-4176A7BF2398}"/>
              </a:ext>
            </a:extLst>
          </p:cNvPr>
          <p:cNvSpPr/>
          <p:nvPr/>
        </p:nvSpPr>
        <p:spPr>
          <a:xfrm>
            <a:off x="3236976" y="5111496"/>
            <a:ext cx="1527048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190" name="Image 5" descr="preencoded.png">
            <a:extLst>
              <a:ext uri="{FF2B5EF4-FFF2-40B4-BE49-F238E27FC236}">
                <a16:creationId xmlns:a16="http://schemas.microsoft.com/office/drawing/2014/main" id="{44EEBF43-A69F-7125-CE23-16C5F7E845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9380" y="5129784"/>
            <a:ext cx="828424" cy="585216"/>
          </a:xfrm>
          <a:prstGeom prst="rect">
            <a:avLst/>
          </a:prstGeom>
        </p:spPr>
      </p:pic>
      <p:sp>
        <p:nvSpPr>
          <p:cNvPr id="191" name="Shape 36">
            <a:extLst>
              <a:ext uri="{FF2B5EF4-FFF2-40B4-BE49-F238E27FC236}">
                <a16:creationId xmlns:a16="http://schemas.microsoft.com/office/drawing/2014/main" id="{4EC7840B-A696-C7F2-7A3F-48812B7593FA}"/>
              </a:ext>
            </a:extLst>
          </p:cNvPr>
          <p:cNvSpPr/>
          <p:nvPr/>
        </p:nvSpPr>
        <p:spPr>
          <a:xfrm>
            <a:off x="3977640" y="5202936"/>
            <a:ext cx="758952" cy="237744"/>
          </a:xfrm>
          <a:prstGeom prst="roundRect">
            <a:avLst>
              <a:gd name="adj" fmla="val 23077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92" name="Text 37">
            <a:extLst>
              <a:ext uri="{FF2B5EF4-FFF2-40B4-BE49-F238E27FC236}">
                <a16:creationId xmlns:a16="http://schemas.microsoft.com/office/drawing/2014/main" id="{179A1D0C-A0F3-6E4B-BE8A-94168DAA2E3F}"/>
              </a:ext>
            </a:extLst>
          </p:cNvPr>
          <p:cNvSpPr txBox="1"/>
          <p:nvPr/>
        </p:nvSpPr>
        <p:spPr>
          <a:xfrm>
            <a:off x="3977640" y="5202936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</a:t>
            </a:r>
            <a:endParaRPr lang="en-US" sz="1000" dirty="0"/>
          </a:p>
        </p:txBody>
      </p:sp>
      <p:sp>
        <p:nvSpPr>
          <p:cNvPr id="193" name="Text 38">
            <a:extLst>
              <a:ext uri="{FF2B5EF4-FFF2-40B4-BE49-F238E27FC236}">
                <a16:creationId xmlns:a16="http://schemas.microsoft.com/office/drawing/2014/main" id="{21EE0734-CF60-1187-E1FB-DD985F1A1561}"/>
              </a:ext>
            </a:extLst>
          </p:cNvPr>
          <p:cNvSpPr txBox="1"/>
          <p:nvPr/>
        </p:nvSpPr>
        <p:spPr>
          <a:xfrm>
            <a:off x="3977640" y="545896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지면</a:t>
            </a:r>
            <a:endParaRPr lang="en-US" sz="900" dirty="0"/>
          </a:p>
        </p:txBody>
      </p:sp>
      <p:sp>
        <p:nvSpPr>
          <p:cNvPr id="194" name="Text 39">
            <a:extLst>
              <a:ext uri="{FF2B5EF4-FFF2-40B4-BE49-F238E27FC236}">
                <a16:creationId xmlns:a16="http://schemas.microsoft.com/office/drawing/2014/main" id="{AA27C0A1-75B6-470C-BE67-1252B7D9371C}"/>
              </a:ext>
            </a:extLst>
          </p:cNvPr>
          <p:cNvSpPr txBox="1"/>
          <p:nvPr/>
        </p:nvSpPr>
        <p:spPr>
          <a:xfrm>
            <a:off x="3108960" y="5788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⋯</a:t>
            </a:r>
            <a:endParaRPr lang="en-US" sz="1400" dirty="0"/>
          </a:p>
        </p:txBody>
      </p:sp>
      <p:pic>
        <p:nvPicPr>
          <p:cNvPr id="195" name="Image 6" descr="preencoded.png">
            <a:extLst>
              <a:ext uri="{FF2B5EF4-FFF2-40B4-BE49-F238E27FC236}">
                <a16:creationId xmlns:a16="http://schemas.microsoft.com/office/drawing/2014/main" id="{DDC9EA96-EE94-F417-6326-1C93C5F4D5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9512" y="3205701"/>
            <a:ext cx="2011680" cy="1406718"/>
          </a:xfrm>
          <a:prstGeom prst="rect">
            <a:avLst/>
          </a:prstGeom>
        </p:spPr>
      </p:pic>
      <p:sp>
        <p:nvSpPr>
          <p:cNvPr id="196" name="Text 40">
            <a:extLst>
              <a:ext uri="{FF2B5EF4-FFF2-40B4-BE49-F238E27FC236}">
                <a16:creationId xmlns:a16="http://schemas.microsoft.com/office/drawing/2014/main" id="{E69923B1-F028-E09E-60F7-C5598118CC89}"/>
              </a:ext>
            </a:extLst>
          </p:cNvPr>
          <p:cNvSpPr txBox="1"/>
          <p:nvPr/>
        </p:nvSpPr>
        <p:spPr>
          <a:xfrm>
            <a:off x="5221224" y="4795299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복셀이 객체의 의미 정보를 가짐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(건물, 자동차, 나무, 사람, 지면 등)</a:t>
            </a:r>
            <a:endParaRPr lang="en-US" sz="1000" dirty="0"/>
          </a:p>
        </p:txBody>
      </p:sp>
      <p:sp>
        <p:nvSpPr>
          <p:cNvPr id="197" name="Shape 41">
            <a:extLst>
              <a:ext uri="{FF2B5EF4-FFF2-40B4-BE49-F238E27FC236}">
                <a16:creationId xmlns:a16="http://schemas.microsoft.com/office/drawing/2014/main" id="{0BE8FE27-3603-6158-A76F-4EF74A318A67}"/>
              </a:ext>
            </a:extLst>
          </p:cNvPr>
          <p:cNvSpPr/>
          <p:nvPr/>
        </p:nvSpPr>
        <p:spPr>
          <a:xfrm>
            <a:off x="7726680" y="2377440"/>
            <a:ext cx="1892808" cy="1188720"/>
          </a:xfrm>
          <a:prstGeom prst="roundRect">
            <a:avLst>
              <a:gd name="adj" fmla="val 6154"/>
            </a:avLst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</p:sp>
      <p:sp>
        <p:nvSpPr>
          <p:cNvPr id="198" name="Shape 42">
            <a:extLst>
              <a:ext uri="{FF2B5EF4-FFF2-40B4-BE49-F238E27FC236}">
                <a16:creationId xmlns:a16="http://schemas.microsoft.com/office/drawing/2014/main" id="{68980D6C-BBD1-DE63-36F7-A958A29A6688}"/>
              </a:ext>
            </a:extLst>
          </p:cNvPr>
          <p:cNvSpPr/>
          <p:nvPr/>
        </p:nvSpPr>
        <p:spPr>
          <a:xfrm>
            <a:off x="7854696" y="25603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9" name="Image 7" descr="preencoded.png">
            <a:extLst>
              <a:ext uri="{FF2B5EF4-FFF2-40B4-BE49-F238E27FC236}">
                <a16:creationId xmlns:a16="http://schemas.microsoft.com/office/drawing/2014/main" id="{E802BC36-FDED-FC4D-B316-8A2DFFB6BC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2660904"/>
            <a:ext cx="219456" cy="219456"/>
          </a:xfrm>
          <a:prstGeom prst="rect">
            <a:avLst/>
          </a:prstGeom>
        </p:spPr>
      </p:pic>
      <p:sp>
        <p:nvSpPr>
          <p:cNvPr id="200" name="Text 43">
            <a:extLst>
              <a:ext uri="{FF2B5EF4-FFF2-40B4-BE49-F238E27FC236}">
                <a16:creationId xmlns:a16="http://schemas.microsoft.com/office/drawing/2014/main" id="{18531406-CA9D-88F5-960B-329011238DF9}"/>
              </a:ext>
            </a:extLst>
          </p:cNvPr>
          <p:cNvSpPr txBox="1"/>
          <p:nvPr/>
        </p:nvSpPr>
        <p:spPr>
          <a:xfrm>
            <a:off x="8385048" y="256032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</a:t>
            </a:r>
            <a:endParaRPr lang="en-US" sz="1300" dirty="0"/>
          </a:p>
        </p:txBody>
      </p:sp>
      <p:sp>
        <p:nvSpPr>
          <p:cNvPr id="201" name="Text 44">
            <a:extLst>
              <a:ext uri="{FF2B5EF4-FFF2-40B4-BE49-F238E27FC236}">
                <a16:creationId xmlns:a16="http://schemas.microsoft.com/office/drawing/2014/main" id="{9038F214-A4FA-23C2-7DB5-FF7CB3D6514C}"/>
              </a:ext>
            </a:extLst>
          </p:cNvPr>
          <p:cNvSpPr txBox="1"/>
          <p:nvPr/>
        </p:nvSpPr>
        <p:spPr>
          <a:xfrm>
            <a:off x="7872984" y="3072384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시멘틱 복셀 데이터를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이용하여 학습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02" name="Shape 45">
            <a:extLst>
              <a:ext uri="{FF2B5EF4-FFF2-40B4-BE49-F238E27FC236}">
                <a16:creationId xmlns:a16="http://schemas.microsoft.com/office/drawing/2014/main" id="{6922B410-8202-D276-C479-C89DC28EF4EC}"/>
              </a:ext>
            </a:extLst>
          </p:cNvPr>
          <p:cNvSpPr/>
          <p:nvPr/>
        </p:nvSpPr>
        <p:spPr>
          <a:xfrm>
            <a:off x="7726680" y="3694176"/>
            <a:ext cx="1892808" cy="1188720"/>
          </a:xfrm>
          <a:prstGeom prst="roundRect">
            <a:avLst>
              <a:gd name="adj" fmla="val 6154"/>
            </a:avLst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</p:sp>
      <p:sp>
        <p:nvSpPr>
          <p:cNvPr id="203" name="Shape 46">
            <a:extLst>
              <a:ext uri="{FF2B5EF4-FFF2-40B4-BE49-F238E27FC236}">
                <a16:creationId xmlns:a16="http://schemas.microsoft.com/office/drawing/2014/main" id="{C7B8D184-2847-1EDA-6987-A7556CAD34F1}"/>
              </a:ext>
            </a:extLst>
          </p:cNvPr>
          <p:cNvSpPr/>
          <p:nvPr/>
        </p:nvSpPr>
        <p:spPr>
          <a:xfrm>
            <a:off x="7854696" y="387705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4" name="Image 8" descr="preencoded.png">
            <a:extLst>
              <a:ext uri="{FF2B5EF4-FFF2-40B4-BE49-F238E27FC236}">
                <a16:creationId xmlns:a16="http://schemas.microsoft.com/office/drawing/2014/main" id="{FA81B801-D84C-DC2A-4034-16CE22F9B9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5280" y="3977640"/>
            <a:ext cx="219456" cy="219456"/>
          </a:xfrm>
          <a:prstGeom prst="rect">
            <a:avLst/>
          </a:prstGeom>
        </p:spPr>
      </p:pic>
      <p:sp>
        <p:nvSpPr>
          <p:cNvPr id="205" name="Text 47">
            <a:extLst>
              <a:ext uri="{FF2B5EF4-FFF2-40B4-BE49-F238E27FC236}">
                <a16:creationId xmlns:a16="http://schemas.microsoft.com/office/drawing/2014/main" id="{14B0E50F-0648-EFB9-1DEA-5AC08991F7DA}"/>
              </a:ext>
            </a:extLst>
          </p:cNvPr>
          <p:cNvSpPr txBox="1"/>
          <p:nvPr/>
        </p:nvSpPr>
        <p:spPr>
          <a:xfrm>
            <a:off x="8385048" y="387705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판단</a:t>
            </a:r>
            <a:endParaRPr lang="en-US" sz="1300" dirty="0"/>
          </a:p>
        </p:txBody>
      </p:sp>
      <p:sp>
        <p:nvSpPr>
          <p:cNvPr id="206" name="Text 48">
            <a:extLst>
              <a:ext uri="{FF2B5EF4-FFF2-40B4-BE49-F238E27FC236}">
                <a16:creationId xmlns:a16="http://schemas.microsoft.com/office/drawing/2014/main" id="{DC120DC8-B229-46AE-841E-FA977E42DE5A}"/>
              </a:ext>
            </a:extLst>
          </p:cNvPr>
          <p:cNvSpPr txBox="1"/>
          <p:nvPr/>
        </p:nvSpPr>
        <p:spPr>
          <a:xfrm>
            <a:off x="7872984" y="4389120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환경에서 객체를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인식하고 분류</a:t>
            </a:r>
            <a:endParaRPr lang="en-US" sz="1000" dirty="0"/>
          </a:p>
        </p:txBody>
      </p:sp>
      <p:sp>
        <p:nvSpPr>
          <p:cNvPr id="207" name="Shape 49">
            <a:extLst>
              <a:ext uri="{FF2B5EF4-FFF2-40B4-BE49-F238E27FC236}">
                <a16:creationId xmlns:a16="http://schemas.microsoft.com/office/drawing/2014/main" id="{18AFF9D7-A2D2-C74A-857E-CFCCA94A57C5}"/>
              </a:ext>
            </a:extLst>
          </p:cNvPr>
          <p:cNvSpPr/>
          <p:nvPr/>
        </p:nvSpPr>
        <p:spPr>
          <a:xfrm>
            <a:off x="7726680" y="5010912"/>
            <a:ext cx="1892808" cy="1188720"/>
          </a:xfrm>
          <a:prstGeom prst="roundRect">
            <a:avLst>
              <a:gd name="adj" fmla="val 6154"/>
            </a:avLst>
          </a:prstGeom>
          <a:solidFill>
            <a:srgbClr val="2A5F8F"/>
          </a:solidFill>
          <a:ln w="12700">
            <a:solidFill>
              <a:srgbClr val="2A5F8F"/>
            </a:solidFill>
            <a:prstDash val="solid"/>
          </a:ln>
        </p:spPr>
      </p:sp>
      <p:sp>
        <p:nvSpPr>
          <p:cNvPr id="208" name="Shape 50">
            <a:extLst>
              <a:ext uri="{FF2B5EF4-FFF2-40B4-BE49-F238E27FC236}">
                <a16:creationId xmlns:a16="http://schemas.microsoft.com/office/drawing/2014/main" id="{4DC5E786-6A1C-7A93-8E15-5B69A3D0D985}"/>
              </a:ext>
            </a:extLst>
          </p:cNvPr>
          <p:cNvSpPr/>
          <p:nvPr/>
        </p:nvSpPr>
        <p:spPr>
          <a:xfrm>
            <a:off x="7854696" y="519379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9" name="Image 9" descr="preencoded.png">
            <a:extLst>
              <a:ext uri="{FF2B5EF4-FFF2-40B4-BE49-F238E27FC236}">
                <a16:creationId xmlns:a16="http://schemas.microsoft.com/office/drawing/2014/main" id="{48AA0D39-4DDE-D98F-6420-0CAAE9A55A7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5280" y="5294376"/>
            <a:ext cx="219456" cy="219456"/>
          </a:xfrm>
          <a:prstGeom prst="rect">
            <a:avLst/>
          </a:prstGeom>
        </p:spPr>
      </p:pic>
      <p:sp>
        <p:nvSpPr>
          <p:cNvPr id="210" name="Text 51">
            <a:extLst>
              <a:ext uri="{FF2B5EF4-FFF2-40B4-BE49-F238E27FC236}">
                <a16:creationId xmlns:a16="http://schemas.microsoft.com/office/drawing/2014/main" id="{3387442F-8F75-F0FB-A975-A565EC98243B}"/>
              </a:ext>
            </a:extLst>
          </p:cNvPr>
          <p:cNvSpPr txBox="1"/>
          <p:nvPr/>
        </p:nvSpPr>
        <p:spPr>
          <a:xfrm>
            <a:off x="8385048" y="519379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복셀 맵 구축</a:t>
            </a:r>
            <a:endParaRPr lang="en-US" sz="1300" dirty="0"/>
          </a:p>
        </p:txBody>
      </p:sp>
      <p:sp>
        <p:nvSpPr>
          <p:cNvPr id="211" name="Text 52">
            <a:extLst>
              <a:ext uri="{FF2B5EF4-FFF2-40B4-BE49-F238E27FC236}">
                <a16:creationId xmlns:a16="http://schemas.microsoft.com/office/drawing/2014/main" id="{8825A02A-2901-B5DD-085C-057AF8AE51F7}"/>
              </a:ext>
            </a:extLst>
          </p:cNvPr>
          <p:cNvSpPr txBox="1"/>
          <p:nvPr/>
        </p:nvSpPr>
        <p:spPr>
          <a:xfrm>
            <a:off x="7872984" y="5705856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정보가 포함된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3차원 복셀 맵 생성</a:t>
            </a:r>
            <a:endParaRPr lang="en-US" sz="1000" dirty="0"/>
          </a:p>
        </p:txBody>
      </p:sp>
      <p:pic>
        <p:nvPicPr>
          <p:cNvPr id="212" name="Image 10" descr="preencoded.png">
            <a:extLst>
              <a:ext uri="{FF2B5EF4-FFF2-40B4-BE49-F238E27FC236}">
                <a16:creationId xmlns:a16="http://schemas.microsoft.com/office/drawing/2014/main" id="{CB84DD84-D771-A1DA-BF83-B25324167D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40696" y="2331720"/>
            <a:ext cx="1463040" cy="1828800"/>
          </a:xfrm>
          <a:prstGeom prst="rect">
            <a:avLst/>
          </a:prstGeom>
        </p:spPr>
      </p:pic>
      <p:sp>
        <p:nvSpPr>
          <p:cNvPr id="213" name="Text 53">
            <a:extLst>
              <a:ext uri="{FF2B5EF4-FFF2-40B4-BE49-F238E27FC236}">
                <a16:creationId xmlns:a16="http://schemas.microsoft.com/office/drawing/2014/main" id="{3DFB5401-606D-A0E3-BBC9-5FADC11C61C8}"/>
              </a:ext>
            </a:extLst>
          </p:cNvPr>
          <p:cNvSpPr txBox="1"/>
          <p:nvPr/>
        </p:nvSpPr>
        <p:spPr>
          <a:xfrm>
            <a:off x="10076688" y="572820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정보가 포함된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3차원 복셀 맵</a:t>
            </a:r>
            <a:endParaRPr lang="en-US" sz="1000" dirty="0"/>
          </a:p>
        </p:txBody>
      </p:sp>
      <p:pic>
        <p:nvPicPr>
          <p:cNvPr id="214" name="Image 4" descr="preencoded.png">
            <a:extLst>
              <a:ext uri="{FF2B5EF4-FFF2-40B4-BE49-F238E27FC236}">
                <a16:creationId xmlns:a16="http://schemas.microsoft.com/office/drawing/2014/main" id="{E0A563AE-8B19-CE18-84FE-75F41809FB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65210" y="3968496"/>
            <a:ext cx="302118" cy="356616"/>
          </a:xfrm>
          <a:prstGeom prst="rect">
            <a:avLst/>
          </a:prstGeom>
        </p:spPr>
      </p:pic>
      <p:pic>
        <p:nvPicPr>
          <p:cNvPr id="180" name="Image 3" descr="preencoded.png">
            <a:extLst>
              <a:ext uri="{FF2B5EF4-FFF2-40B4-BE49-F238E27FC236}">
                <a16:creationId xmlns:a16="http://schemas.microsoft.com/office/drawing/2014/main" id="{99242358-5F1C-C40C-B411-B90BEB8BD5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10128" y="3831034"/>
            <a:ext cx="566928" cy="402941"/>
          </a:xfrm>
          <a:prstGeom prst="rect">
            <a:avLst/>
          </a:prstGeom>
        </p:spPr>
      </p:pic>
      <p:pic>
        <p:nvPicPr>
          <p:cNvPr id="215" name="그림 214">
            <a:extLst>
              <a:ext uri="{FF2B5EF4-FFF2-40B4-BE49-F238E27FC236}">
                <a16:creationId xmlns:a16="http://schemas.microsoft.com/office/drawing/2014/main" id="{2CE98FC2-D1D2-9F74-4A97-2FB6BCE89BA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9982" t="6049"/>
          <a:stretch/>
        </p:blipFill>
        <p:spPr>
          <a:xfrm>
            <a:off x="10119576" y="4297680"/>
            <a:ext cx="1484160" cy="1229918"/>
          </a:xfrm>
          <a:prstGeom prst="rect">
            <a:avLst/>
          </a:prstGeom>
        </p:spPr>
      </p:pic>
      <p:sp>
        <p:nvSpPr>
          <p:cNvPr id="217" name="연구 목적">
            <a:extLst>
              <a:ext uri="{FF2B5EF4-FFF2-40B4-BE49-F238E27FC236}">
                <a16:creationId xmlns:a16="http://schemas.microsoft.com/office/drawing/2014/main" id="{256EF355-26C3-63F3-5152-7813C4D1C54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연구</a:t>
            </a:r>
            <a:r>
              <a:rPr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목적</a:t>
            </a:r>
            <a:endParaRPr sz="315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18" name="복셀 구조 학습에 적합한 데이터 구축 방식의 비교">
            <a:extLst>
              <a:ext uri="{FF2B5EF4-FFF2-40B4-BE49-F238E27FC236}">
                <a16:creationId xmlns:a16="http://schemas.microsoft.com/office/drawing/2014/main" id="{4017C772-6C48-0DEC-8818-05FBE2A3E557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altLang="ko-KR" sz="2000" dirty="0" err="1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</a:t>
            </a:r>
            <a:r>
              <a:rPr lang="en-US" altLang="ko-KR" sz="2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클라우드를</a:t>
            </a:r>
            <a:r>
              <a:rPr lang="ko-KR" altLang="en-US" sz="2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r>
              <a:rPr lang="en-US" altLang="ko-KR" sz="2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</a:t>
            </a:r>
            <a:r>
              <a:rPr lang="en-US" altLang="ko-KR" sz="2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포함된</a:t>
            </a:r>
            <a:r>
              <a:rPr lang="en-US" altLang="ko-KR" sz="2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3차원 </a:t>
            </a:r>
            <a:r>
              <a:rPr lang="en-US" altLang="ko-KR" sz="2000" dirty="0" err="1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시멘틱</a:t>
            </a:r>
            <a:r>
              <a:rPr lang="en-US" altLang="ko-KR" sz="2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복셀</a:t>
            </a:r>
            <a:r>
              <a:rPr lang="en-US" altLang="ko-KR" sz="2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맵으로</a:t>
            </a:r>
            <a:r>
              <a:rPr lang="en-US" altLang="ko-KR" sz="2000" dirty="0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5B6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01449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연구 목적">
            <a:extLst>
              <a:ext uri="{FF2B5EF4-FFF2-40B4-BE49-F238E27FC236}">
                <a16:creationId xmlns:a16="http://schemas.microsoft.com/office/drawing/2014/main" id="{C801E10D-8C7F-424D-9E28-17C9ECE737C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연구</a:t>
            </a:r>
            <a:r>
              <a:rPr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방법</a:t>
            </a:r>
            <a:endParaRPr sz="315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복셀 구조 학습에 적합한 데이터 구축 방식의 비교">
            <a:extLst>
              <a:ext uri="{FF2B5EF4-FFF2-40B4-BE49-F238E27FC236}">
                <a16:creationId xmlns:a16="http://schemas.microsoft.com/office/drawing/2014/main" id="{D410508E-B046-4E4A-9223-F3296D66DC74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복셀 구조 학습에 적합한 데이터 구축 방식의 비교</a:t>
            </a:r>
          </a:p>
        </p:txBody>
      </p:sp>
      <p:sp>
        <p:nvSpPr>
          <p:cNvPr id="4" name="색상 대표값">
            <a:extLst>
              <a:ext uri="{FF2B5EF4-FFF2-40B4-BE49-F238E27FC236}">
                <a16:creationId xmlns:a16="http://schemas.microsoft.com/office/drawing/2014/main" id="{44120A99-1338-4133-B392-5A0700835288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2781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색상 대표값</a:t>
            </a:r>
          </a:p>
        </p:txBody>
      </p:sp>
      <p:sp>
        <p:nvSpPr>
          <p:cNvPr id="5" name="공간 구성">
            <a:extLst>
              <a:ext uri="{FF2B5EF4-FFF2-40B4-BE49-F238E27FC236}">
                <a16:creationId xmlns:a16="http://schemas.microsoft.com/office/drawing/2014/main" id="{606A29B8-2FAC-425F-A80F-FF344909D8FC}"/>
              </a:ext>
            </a:extLst>
          </p:cNvPr>
          <p:cNvSpPr>
            <a:spLocks noGrp="1"/>
          </p:cNvSpPr>
          <p:nvPr/>
        </p:nvSpPr>
        <p:spPr>
          <a:xfrm>
            <a:off x="4648200" y="1809750"/>
            <a:ext cx="2781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공간 구성</a:t>
            </a:r>
          </a:p>
        </p:txBody>
      </p:sp>
      <p:sp>
        <p:nvSpPr>
          <p:cNvPr id="6" name="패치 크기">
            <a:extLst>
              <a:ext uri="{FF2B5EF4-FFF2-40B4-BE49-F238E27FC236}">
                <a16:creationId xmlns:a16="http://schemas.microsoft.com/office/drawing/2014/main" id="{08B17020-B1E3-4545-A114-6305110A5C5A}"/>
              </a:ext>
            </a:extLst>
          </p:cNvPr>
          <p:cNvSpPr>
            <a:spLocks noGrp="1"/>
          </p:cNvSpPr>
          <p:nvPr/>
        </p:nvSpPr>
        <p:spPr>
          <a:xfrm>
            <a:off x="8534400" y="1809750"/>
            <a:ext cx="2781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패치 크기</a:t>
            </a: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44F49C0C-53FF-4CED-BEA7-BA6C7EAE2330}"/>
              </a:ext>
            </a:extLst>
          </p:cNvPr>
          <p:cNvSpPr>
            <a:spLocks noGrp="1"/>
          </p:cNvSpPr>
          <p:nvPr/>
        </p:nvSpPr>
        <p:spPr>
          <a:xfrm>
            <a:off x="1009650" y="2657475"/>
            <a:ext cx="981075" cy="190500"/>
          </a:xfrm>
          <a:custGeom>
            <a:avLst/>
            <a:gdLst/>
            <a:ahLst/>
            <a:cxnLst/>
            <a:rect l="0" t="0" r="0" b="0"/>
            <a:pathLst>
              <a:path w="981075" h="190500">
                <a:moveTo>
                  <a:pt x="0" y="190500"/>
                </a:moveTo>
                <a:lnTo>
                  <a:pt x="190500" y="0"/>
                </a:lnTo>
                <a:lnTo>
                  <a:pt x="981075" y="0"/>
                </a:lnTo>
                <a:lnTo>
                  <a:pt x="790575" y="190500"/>
                </a:lnTo>
                <a:close/>
              </a:path>
            </a:pathLst>
          </a:custGeom>
          <a:solidFill>
            <a:srgbClr val="ECF3F7"/>
          </a:solidFill>
          <a:ln w="13335">
            <a:solidFill>
              <a:srgbClr val="986D93"/>
            </a:solidFill>
          </a:ln>
        </p:spPr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AF378271-DAFB-447C-99C8-205C834EBD3B}"/>
              </a:ext>
            </a:extLst>
          </p:cNvPr>
          <p:cNvSpPr>
            <a:spLocks noGrp="1"/>
          </p:cNvSpPr>
          <p:nvPr/>
        </p:nvSpPr>
        <p:spPr>
          <a:xfrm>
            <a:off x="1800225" y="2657475"/>
            <a:ext cx="190500" cy="981075"/>
          </a:xfrm>
          <a:custGeom>
            <a:avLst/>
            <a:gdLst/>
            <a:ahLst/>
            <a:cxnLst/>
            <a:rect l="0" t="0" r="0" b="0"/>
            <a:pathLst>
              <a:path w="190500" h="981075">
                <a:moveTo>
                  <a:pt x="0" y="190500"/>
                </a:moveTo>
                <a:lnTo>
                  <a:pt x="190500" y="0"/>
                </a:lnTo>
                <a:lnTo>
                  <a:pt x="190500" y="790575"/>
                </a:lnTo>
                <a:lnTo>
                  <a:pt x="0" y="981075"/>
                </a:lnTo>
                <a:close/>
              </a:path>
            </a:pathLst>
          </a:custGeom>
          <a:solidFill>
            <a:srgbClr val="A9C9DD"/>
          </a:solidFill>
          <a:ln w="13335">
            <a:solidFill>
              <a:srgbClr val="986D93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79571F-5918-411F-8691-66D9050E455F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790575" cy="790575"/>
          </a:xfrm>
          <a:prstGeom prst="rect">
            <a:avLst/>
          </a:prstGeom>
          <a:solidFill>
            <a:srgbClr val="A981A4"/>
          </a:solidFill>
          <a:ln w="14288">
            <a:solidFill>
              <a:srgbClr val="986D93"/>
            </a:solidFill>
          </a:ln>
        </p:spPr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F607C672-7B23-4B8B-A660-E572A2E64B15}"/>
              </a:ext>
            </a:extLst>
          </p:cNvPr>
          <p:cNvSpPr>
            <a:spLocks noGrp="1"/>
          </p:cNvSpPr>
          <p:nvPr/>
        </p:nvSpPr>
        <p:spPr>
          <a:xfrm>
            <a:off x="2476500" y="2657475"/>
            <a:ext cx="981075" cy="190500"/>
          </a:xfrm>
          <a:custGeom>
            <a:avLst/>
            <a:gdLst/>
            <a:ahLst/>
            <a:cxnLst/>
            <a:rect l="0" t="0" r="0" b="0"/>
            <a:pathLst>
              <a:path w="981075" h="190500">
                <a:moveTo>
                  <a:pt x="0" y="190500"/>
                </a:moveTo>
                <a:lnTo>
                  <a:pt x="190500" y="0"/>
                </a:lnTo>
                <a:lnTo>
                  <a:pt x="981075" y="0"/>
                </a:lnTo>
                <a:lnTo>
                  <a:pt x="790575" y="190500"/>
                </a:lnTo>
                <a:close/>
              </a:path>
            </a:pathLst>
          </a:custGeom>
          <a:solidFill>
            <a:srgbClr val="ECF3F7"/>
          </a:solidFill>
          <a:ln w="13335">
            <a:solidFill>
              <a:srgbClr val="AB4943"/>
            </a:solidFill>
          </a:ln>
        </p:spPr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196B721D-4151-48BE-9BB7-1CE0A11C83E0}"/>
              </a:ext>
            </a:extLst>
          </p:cNvPr>
          <p:cNvSpPr>
            <a:spLocks noGrp="1"/>
          </p:cNvSpPr>
          <p:nvPr/>
        </p:nvSpPr>
        <p:spPr>
          <a:xfrm>
            <a:off x="3267075" y="2657475"/>
            <a:ext cx="190500" cy="981075"/>
          </a:xfrm>
          <a:custGeom>
            <a:avLst/>
            <a:gdLst/>
            <a:ahLst/>
            <a:cxnLst/>
            <a:rect l="0" t="0" r="0" b="0"/>
            <a:pathLst>
              <a:path w="190500" h="981075">
                <a:moveTo>
                  <a:pt x="0" y="190500"/>
                </a:moveTo>
                <a:lnTo>
                  <a:pt x="190500" y="0"/>
                </a:lnTo>
                <a:lnTo>
                  <a:pt x="190500" y="790575"/>
                </a:lnTo>
                <a:lnTo>
                  <a:pt x="0" y="981075"/>
                </a:lnTo>
                <a:close/>
              </a:path>
            </a:pathLst>
          </a:custGeom>
          <a:solidFill>
            <a:srgbClr val="A9C9DD"/>
          </a:solidFill>
          <a:ln w="13335">
            <a:solidFill>
              <a:srgbClr val="AB4943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81D141-E112-43AF-970B-A608E981BEBC}"/>
              </a:ext>
            </a:extLst>
          </p:cNvPr>
          <p:cNvSpPr>
            <a:spLocks noGrp="1"/>
          </p:cNvSpPr>
          <p:nvPr/>
        </p:nvSpPr>
        <p:spPr>
          <a:xfrm>
            <a:off x="2476500" y="2847975"/>
            <a:ext cx="790575" cy="790575"/>
          </a:xfrm>
          <a:prstGeom prst="rect">
            <a:avLst/>
          </a:prstGeom>
          <a:solidFill>
            <a:srgbClr val="CD6257"/>
          </a:solidFill>
          <a:ln w="14288">
            <a:solidFill>
              <a:srgbClr val="AB4943"/>
            </a:solidFill>
          </a:ln>
        </p:spPr>
      </p:sp>
      <p:sp>
        <p:nvSpPr>
          <p:cNvPr id="13" name="Mean RGB">
            <a:extLst>
              <a:ext uri="{FF2B5EF4-FFF2-40B4-BE49-F238E27FC236}">
                <a16:creationId xmlns:a16="http://schemas.microsoft.com/office/drawing/2014/main" id="{0A28D34D-FA3B-4609-9ADA-F9F985B02E81}"/>
              </a:ext>
            </a:extLst>
          </p:cNvPr>
          <p:cNvSpPr>
            <a:spLocks noGrp="1"/>
          </p:cNvSpPr>
          <p:nvPr/>
        </p:nvSpPr>
        <p:spPr>
          <a:xfrm>
            <a:off x="742950" y="3914775"/>
            <a:ext cx="16002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Mean RGB</a:t>
            </a:r>
          </a:p>
        </p:txBody>
      </p:sp>
      <p:sp>
        <p:nvSpPr>
          <p:cNvPr id="14" name="RGB-16">
            <a:extLst>
              <a:ext uri="{FF2B5EF4-FFF2-40B4-BE49-F238E27FC236}">
                <a16:creationId xmlns:a16="http://schemas.microsoft.com/office/drawing/2014/main" id="{13C773EB-1171-4C26-AFC3-04B984BEFD48}"/>
              </a:ext>
            </a:extLst>
          </p:cNvPr>
          <p:cNvSpPr>
            <a:spLocks noGrp="1"/>
          </p:cNvSpPr>
          <p:nvPr/>
        </p:nvSpPr>
        <p:spPr>
          <a:xfrm>
            <a:off x="2305050" y="3914775"/>
            <a:ext cx="14763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RGB-16</a:t>
            </a:r>
          </a:p>
        </p:txBody>
      </p:sp>
      <p:sp>
        <p:nvSpPr>
          <p:cNvPr id="15" name="전체 평균">
            <a:extLst>
              <a:ext uri="{FF2B5EF4-FFF2-40B4-BE49-F238E27FC236}">
                <a16:creationId xmlns:a16="http://schemas.microsoft.com/office/drawing/2014/main" id="{AE554180-BC35-432F-AB66-7F28B7BDDE0A}"/>
              </a:ext>
            </a:extLst>
          </p:cNvPr>
          <p:cNvSpPr>
            <a:spLocks noGrp="1"/>
          </p:cNvSpPr>
          <p:nvPr/>
        </p:nvSpPr>
        <p:spPr>
          <a:xfrm>
            <a:off x="762000" y="4324350"/>
            <a:ext cx="1562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전체 평균</a:t>
            </a:r>
          </a:p>
        </p:txBody>
      </p:sp>
      <p:sp>
        <p:nvSpPr>
          <p:cNvPr id="16" name="선택 구간 평균">
            <a:extLst>
              <a:ext uri="{FF2B5EF4-FFF2-40B4-BE49-F238E27FC236}">
                <a16:creationId xmlns:a16="http://schemas.microsoft.com/office/drawing/2014/main" id="{FE50AAF6-CAC7-47A7-9702-95D97FFEEF00}"/>
              </a:ext>
            </a:extLst>
          </p:cNvPr>
          <p:cNvSpPr>
            <a:spLocks noGrp="1"/>
          </p:cNvSpPr>
          <p:nvPr/>
        </p:nvSpPr>
        <p:spPr>
          <a:xfrm>
            <a:off x="2200275" y="432435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선택 구간 평균</a:t>
            </a:r>
          </a:p>
        </p:txBody>
      </p:sp>
      <p:sp>
        <p:nvSpPr>
          <p:cNvPr id="17" name="×">
            <a:extLst>
              <a:ext uri="{FF2B5EF4-FFF2-40B4-BE49-F238E27FC236}">
                <a16:creationId xmlns:a16="http://schemas.microsoft.com/office/drawing/2014/main" id="{B553E96B-C591-4F68-AF9D-6276A17B9F06}"/>
              </a:ext>
            </a:extLst>
          </p:cNvPr>
          <p:cNvSpPr>
            <a:spLocks noGrp="1"/>
          </p:cNvSpPr>
          <p:nvPr/>
        </p:nvSpPr>
        <p:spPr>
          <a:xfrm>
            <a:off x="3971925" y="3038475"/>
            <a:ext cx="476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225" b="1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C4008626-D0E7-4735-B905-F0A4B7A99923}"/>
              </a:ext>
            </a:extLst>
          </p:cNvPr>
          <p:cNvSpPr>
            <a:spLocks noGrp="1"/>
          </p:cNvSpPr>
          <p:nvPr/>
        </p:nvSpPr>
        <p:spPr>
          <a:xfrm>
            <a:off x="4800600" y="2695575"/>
            <a:ext cx="923925" cy="190500"/>
          </a:xfrm>
          <a:custGeom>
            <a:avLst/>
            <a:gdLst/>
            <a:ahLst/>
            <a:cxnLst/>
            <a:rect l="0" t="0" r="0" b="0"/>
            <a:pathLst>
              <a:path w="923925" h="190500">
                <a:moveTo>
                  <a:pt x="0" y="190500"/>
                </a:moveTo>
                <a:lnTo>
                  <a:pt x="190500" y="0"/>
                </a:lnTo>
                <a:lnTo>
                  <a:pt x="923925" y="0"/>
                </a:lnTo>
                <a:lnTo>
                  <a:pt x="733425" y="190500"/>
                </a:lnTo>
                <a:close/>
              </a:path>
            </a:pathLst>
          </a:custGeom>
          <a:solidFill>
            <a:srgbClr val="ECF3F7"/>
          </a:solidFill>
          <a:ln w="13335">
            <a:solidFill>
              <a:srgbClr val="2464A0"/>
            </a:solidFill>
          </a:ln>
        </p:spPr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E15E10B3-2035-4D5C-9F8A-1AE05FA9A5F7}"/>
              </a:ext>
            </a:extLst>
          </p:cNvPr>
          <p:cNvSpPr>
            <a:spLocks noGrp="1"/>
          </p:cNvSpPr>
          <p:nvPr/>
        </p:nvSpPr>
        <p:spPr>
          <a:xfrm>
            <a:off x="5534025" y="2695575"/>
            <a:ext cx="190500" cy="923925"/>
          </a:xfrm>
          <a:custGeom>
            <a:avLst/>
            <a:gdLst/>
            <a:ahLst/>
            <a:cxnLst/>
            <a:rect l="0" t="0" r="0" b="0"/>
            <a:pathLst>
              <a:path w="190500" h="923925">
                <a:moveTo>
                  <a:pt x="0" y="190500"/>
                </a:moveTo>
                <a:lnTo>
                  <a:pt x="190500" y="0"/>
                </a:lnTo>
                <a:lnTo>
                  <a:pt x="190500" y="733425"/>
                </a:lnTo>
                <a:lnTo>
                  <a:pt x="0" y="923925"/>
                </a:lnTo>
                <a:close/>
              </a:path>
            </a:pathLst>
          </a:custGeom>
          <a:solidFill>
            <a:srgbClr val="A9C9DD"/>
          </a:solidFill>
          <a:ln w="13335">
            <a:solidFill>
              <a:srgbClr val="2464A0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17670C-49D6-4762-8635-31CEB8E586E4}"/>
              </a:ext>
            </a:extLst>
          </p:cNvPr>
          <p:cNvSpPr>
            <a:spLocks noGrp="1"/>
          </p:cNvSpPr>
          <p:nvPr/>
        </p:nvSpPr>
        <p:spPr>
          <a:xfrm>
            <a:off x="4800600" y="2886075"/>
            <a:ext cx="733425" cy="733425"/>
          </a:xfrm>
          <a:prstGeom prst="rect">
            <a:avLst/>
          </a:prstGeom>
          <a:solidFill>
            <a:srgbClr val="D2E2EE"/>
          </a:solidFill>
          <a:ln w="14288">
            <a:solidFill>
              <a:srgbClr val="2464A0"/>
            </a:solidFill>
          </a:ln>
        </p:spPr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84CB30E6-93B3-485B-9244-9FF5AC8903A8}"/>
              </a:ext>
            </a:extLst>
          </p:cNvPr>
          <p:cNvSpPr>
            <a:spLocks noGrp="1"/>
          </p:cNvSpPr>
          <p:nvPr/>
        </p:nvSpPr>
        <p:spPr>
          <a:xfrm>
            <a:off x="6324600" y="2352675"/>
            <a:ext cx="923925" cy="190500"/>
          </a:xfrm>
          <a:custGeom>
            <a:avLst/>
            <a:gdLst/>
            <a:ahLst/>
            <a:cxnLst/>
            <a:rect l="0" t="0" r="0" b="0"/>
            <a:pathLst>
              <a:path w="923925" h="190500">
                <a:moveTo>
                  <a:pt x="0" y="190500"/>
                </a:moveTo>
                <a:lnTo>
                  <a:pt x="190500" y="0"/>
                </a:lnTo>
                <a:lnTo>
                  <a:pt x="923925" y="0"/>
                </a:lnTo>
                <a:lnTo>
                  <a:pt x="733425" y="190500"/>
                </a:lnTo>
                <a:close/>
              </a:path>
            </a:pathLst>
          </a:custGeom>
          <a:solidFill>
            <a:srgbClr val="ECF3F7"/>
          </a:solidFill>
          <a:ln w="13335">
            <a:solidFill>
              <a:srgbClr val="008C96"/>
            </a:solidFill>
          </a:ln>
        </p:spPr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5539DC9B-7D66-4BFF-BA97-005AFD632A38}"/>
              </a:ext>
            </a:extLst>
          </p:cNvPr>
          <p:cNvSpPr>
            <a:spLocks noGrp="1"/>
          </p:cNvSpPr>
          <p:nvPr/>
        </p:nvSpPr>
        <p:spPr>
          <a:xfrm>
            <a:off x="7058025" y="2352675"/>
            <a:ext cx="190500" cy="1266825"/>
          </a:xfrm>
          <a:custGeom>
            <a:avLst/>
            <a:gdLst/>
            <a:ahLst/>
            <a:cxnLst/>
            <a:rect l="0" t="0" r="0" b="0"/>
            <a:pathLst>
              <a:path w="190500" h="1266825">
                <a:moveTo>
                  <a:pt x="0" y="190500"/>
                </a:moveTo>
                <a:lnTo>
                  <a:pt x="190500" y="0"/>
                </a:lnTo>
                <a:lnTo>
                  <a:pt x="190500" y="1076325"/>
                </a:lnTo>
                <a:lnTo>
                  <a:pt x="0" y="1266825"/>
                </a:lnTo>
                <a:close/>
              </a:path>
            </a:pathLst>
          </a:custGeom>
          <a:solidFill>
            <a:srgbClr val="A9C9DD"/>
          </a:solidFill>
          <a:ln w="13335">
            <a:solidFill>
              <a:srgbClr val="008C96"/>
            </a:solidFill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B5FBECE-A0AD-4384-823D-4E8E0998E266}"/>
              </a:ext>
            </a:extLst>
          </p:cNvPr>
          <p:cNvSpPr>
            <a:spLocks noGrp="1"/>
          </p:cNvSpPr>
          <p:nvPr/>
        </p:nvSpPr>
        <p:spPr>
          <a:xfrm>
            <a:off x="6324600" y="2543175"/>
            <a:ext cx="733425" cy="1076325"/>
          </a:xfrm>
          <a:prstGeom prst="rect">
            <a:avLst/>
          </a:prstGeom>
          <a:solidFill>
            <a:srgbClr val="B8DAD9"/>
          </a:solidFill>
          <a:ln w="14288">
            <a:solidFill>
              <a:srgbClr val="008C96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EC55C03C-E1CC-485A-83DB-E187AA349B36}"/>
              </a:ext>
            </a:extLst>
          </p:cNvPr>
          <p:cNvSpPr>
            <a:spLocks noGrp="1"/>
          </p:cNvSpPr>
          <p:nvPr/>
        </p:nvSpPr>
        <p:spPr>
          <a:xfrm>
            <a:off x="4800600" y="3257550"/>
            <a:ext cx="733425" cy="0"/>
          </a:xfrm>
          <a:prstGeom prst="line">
            <a:avLst/>
          </a:prstGeom>
          <a:noFill/>
          <a:ln w="14288">
            <a:solidFill>
              <a:srgbClr val="2464A0"/>
            </a:solidFill>
          </a:ln>
        </p:spPr>
      </p:sp>
      <p:sp>
        <p:nvSpPr>
          <p:cNvPr id="25" name="Cube">
            <a:extLst>
              <a:ext uri="{FF2B5EF4-FFF2-40B4-BE49-F238E27FC236}">
                <a16:creationId xmlns:a16="http://schemas.microsoft.com/office/drawing/2014/main" id="{BE464E10-ECDD-4802-877A-A54C72E96BD0}"/>
              </a:ext>
            </a:extLst>
          </p:cNvPr>
          <p:cNvSpPr>
            <a:spLocks noGrp="1"/>
          </p:cNvSpPr>
          <p:nvPr/>
        </p:nvSpPr>
        <p:spPr>
          <a:xfrm>
            <a:off x="4600575" y="3914775"/>
            <a:ext cx="12954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Cube</a:t>
            </a:r>
          </a:p>
        </p:txBody>
      </p:sp>
      <p:sp>
        <p:nvSpPr>
          <p:cNvPr id="26" name="Full-Z">
            <a:extLst>
              <a:ext uri="{FF2B5EF4-FFF2-40B4-BE49-F238E27FC236}">
                <a16:creationId xmlns:a16="http://schemas.microsoft.com/office/drawing/2014/main" id="{AE664A97-07B0-4682-99CA-25D52783B8CC}"/>
              </a:ext>
            </a:extLst>
          </p:cNvPr>
          <p:cNvSpPr>
            <a:spLocks noGrp="1"/>
          </p:cNvSpPr>
          <p:nvPr/>
        </p:nvSpPr>
        <p:spPr>
          <a:xfrm>
            <a:off x="6124575" y="3914775"/>
            <a:ext cx="13811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Full-Z</a:t>
            </a:r>
          </a:p>
        </p:txBody>
      </p:sp>
      <p:sp>
        <p:nvSpPr>
          <p:cNvPr id="27" name="Z축 분할">
            <a:extLst>
              <a:ext uri="{FF2B5EF4-FFF2-40B4-BE49-F238E27FC236}">
                <a16:creationId xmlns:a16="http://schemas.microsoft.com/office/drawing/2014/main" id="{E6915197-B686-46F1-85AB-D57A55F9E53A}"/>
              </a:ext>
            </a:extLst>
          </p:cNvPr>
          <p:cNvSpPr>
            <a:spLocks noGrp="1"/>
          </p:cNvSpPr>
          <p:nvPr/>
        </p:nvSpPr>
        <p:spPr>
          <a:xfrm>
            <a:off x="4457700" y="4324350"/>
            <a:ext cx="16478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Z축 분할</a:t>
            </a:r>
          </a:p>
        </p:txBody>
      </p:sp>
      <p:sp>
        <p:nvSpPr>
          <p:cNvPr id="28" name="전체 높이">
            <a:extLst>
              <a:ext uri="{FF2B5EF4-FFF2-40B4-BE49-F238E27FC236}">
                <a16:creationId xmlns:a16="http://schemas.microsoft.com/office/drawing/2014/main" id="{6A61598D-E4AB-42AB-8318-EA8060B2C84F}"/>
              </a:ext>
            </a:extLst>
          </p:cNvPr>
          <p:cNvSpPr>
            <a:spLocks noGrp="1"/>
          </p:cNvSpPr>
          <p:nvPr/>
        </p:nvSpPr>
        <p:spPr>
          <a:xfrm>
            <a:off x="6057900" y="4324350"/>
            <a:ext cx="16287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전체 높이</a:t>
            </a:r>
          </a:p>
        </p:txBody>
      </p:sp>
      <p:sp>
        <p:nvSpPr>
          <p:cNvPr id="29" name="×">
            <a:extLst>
              <a:ext uri="{FF2B5EF4-FFF2-40B4-BE49-F238E27FC236}">
                <a16:creationId xmlns:a16="http://schemas.microsoft.com/office/drawing/2014/main" id="{5A53A8CB-F33E-47D0-914F-19C792732757}"/>
              </a:ext>
            </a:extLst>
          </p:cNvPr>
          <p:cNvSpPr>
            <a:spLocks noGrp="1"/>
          </p:cNvSpPr>
          <p:nvPr/>
        </p:nvSpPr>
        <p:spPr>
          <a:xfrm>
            <a:off x="7781925" y="3038475"/>
            <a:ext cx="476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225" b="1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72D07982-0A81-45DA-806E-3F43B7874C45}"/>
              </a:ext>
            </a:extLst>
          </p:cNvPr>
          <p:cNvSpPr>
            <a:spLocks noGrp="1"/>
          </p:cNvSpPr>
          <p:nvPr/>
        </p:nvSpPr>
        <p:spPr>
          <a:xfrm>
            <a:off x="8724900" y="3381375"/>
            <a:ext cx="238125" cy="47625"/>
          </a:xfrm>
          <a:custGeom>
            <a:avLst/>
            <a:gdLst/>
            <a:ahLst/>
            <a:cxnLst/>
            <a:rect l="0" t="0" r="0" b="0"/>
            <a:pathLst>
              <a:path w="238125" h="47625">
                <a:moveTo>
                  <a:pt x="0" y="47625"/>
                </a:moveTo>
                <a:lnTo>
                  <a:pt x="47625" y="0"/>
                </a:lnTo>
                <a:lnTo>
                  <a:pt x="238125" y="0"/>
                </a:lnTo>
                <a:lnTo>
                  <a:pt x="190500" y="47625"/>
                </a:lnTo>
                <a:close/>
              </a:path>
            </a:pathLst>
          </a:custGeom>
          <a:solidFill>
            <a:srgbClr val="ECF3F7"/>
          </a:solidFill>
          <a:ln w="13335">
            <a:solidFill>
              <a:srgbClr val="2464A0"/>
            </a:solidFill>
          </a:ln>
        </p:spPr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85D50F83-CFE4-4694-8437-4A9CB0F13C4E}"/>
              </a:ext>
            </a:extLst>
          </p:cNvPr>
          <p:cNvSpPr>
            <a:spLocks noGrp="1"/>
          </p:cNvSpPr>
          <p:nvPr/>
        </p:nvSpPr>
        <p:spPr>
          <a:xfrm>
            <a:off x="8915400" y="3381375"/>
            <a:ext cx="47625" cy="238125"/>
          </a:xfrm>
          <a:custGeom>
            <a:avLst/>
            <a:gdLst/>
            <a:ahLst/>
            <a:cxnLst/>
            <a:rect l="0" t="0" r="0" b="0"/>
            <a:pathLst>
              <a:path w="47625" h="238125">
                <a:moveTo>
                  <a:pt x="0" y="47625"/>
                </a:moveTo>
                <a:lnTo>
                  <a:pt x="47625" y="0"/>
                </a:lnTo>
                <a:lnTo>
                  <a:pt x="47625" y="190500"/>
                </a:lnTo>
                <a:lnTo>
                  <a:pt x="0" y="238125"/>
                </a:lnTo>
                <a:close/>
              </a:path>
            </a:pathLst>
          </a:custGeom>
          <a:solidFill>
            <a:srgbClr val="A9C9DD"/>
          </a:solidFill>
          <a:ln w="13335">
            <a:solidFill>
              <a:srgbClr val="2464A0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78F505E-CEFE-4EC9-8952-7EB594ACFA82}"/>
              </a:ext>
            </a:extLst>
          </p:cNvPr>
          <p:cNvSpPr>
            <a:spLocks noGrp="1"/>
          </p:cNvSpPr>
          <p:nvPr/>
        </p:nvSpPr>
        <p:spPr>
          <a:xfrm>
            <a:off x="8724900" y="3429000"/>
            <a:ext cx="190500" cy="190500"/>
          </a:xfrm>
          <a:prstGeom prst="rect">
            <a:avLst/>
          </a:prstGeom>
          <a:solidFill>
            <a:srgbClr val="DCE7F0"/>
          </a:solidFill>
          <a:ln w="14288">
            <a:solidFill>
              <a:srgbClr val="2464A0"/>
            </a:solidFill>
          </a:ln>
        </p:spPr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4CDA874C-CB12-40C9-9FBB-5AAC4B625049}"/>
              </a:ext>
            </a:extLst>
          </p:cNvPr>
          <p:cNvSpPr>
            <a:spLocks noGrp="1"/>
          </p:cNvSpPr>
          <p:nvPr/>
        </p:nvSpPr>
        <p:spPr>
          <a:xfrm>
            <a:off x="9420225" y="3143250"/>
            <a:ext cx="476250" cy="95250"/>
          </a:xfrm>
          <a:custGeom>
            <a:avLst/>
            <a:gdLst/>
            <a:ahLst/>
            <a:cxnLst/>
            <a:rect l="0" t="0" r="0" b="0"/>
            <a:pathLst>
              <a:path w="476250" h="95250">
                <a:moveTo>
                  <a:pt x="0" y="95250"/>
                </a:moveTo>
                <a:lnTo>
                  <a:pt x="95250" y="0"/>
                </a:lnTo>
                <a:lnTo>
                  <a:pt x="476250" y="0"/>
                </a:lnTo>
                <a:lnTo>
                  <a:pt x="381000" y="95250"/>
                </a:lnTo>
                <a:close/>
              </a:path>
            </a:pathLst>
          </a:custGeom>
          <a:solidFill>
            <a:srgbClr val="ECF3F7"/>
          </a:solidFill>
          <a:ln w="13335">
            <a:solidFill>
              <a:srgbClr val="2464A0"/>
            </a:solidFill>
          </a:ln>
        </p:spPr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FA3DFB19-5DF9-408D-AE57-EDA710DED4AA}"/>
              </a:ext>
            </a:extLst>
          </p:cNvPr>
          <p:cNvSpPr>
            <a:spLocks noGrp="1"/>
          </p:cNvSpPr>
          <p:nvPr/>
        </p:nvSpPr>
        <p:spPr>
          <a:xfrm>
            <a:off x="9801225" y="3143250"/>
            <a:ext cx="95250" cy="476250"/>
          </a:xfrm>
          <a:custGeom>
            <a:avLst/>
            <a:gdLst/>
            <a:ahLst/>
            <a:cxnLst/>
            <a:rect l="0" t="0" r="0" b="0"/>
            <a:pathLst>
              <a:path w="95250" h="476250">
                <a:moveTo>
                  <a:pt x="0" y="95250"/>
                </a:moveTo>
                <a:lnTo>
                  <a:pt x="95250" y="0"/>
                </a:lnTo>
                <a:lnTo>
                  <a:pt x="95250" y="381000"/>
                </a:lnTo>
                <a:lnTo>
                  <a:pt x="0" y="476250"/>
                </a:lnTo>
                <a:close/>
              </a:path>
            </a:pathLst>
          </a:custGeom>
          <a:solidFill>
            <a:srgbClr val="A9C9DD"/>
          </a:solidFill>
          <a:ln w="13335">
            <a:solidFill>
              <a:srgbClr val="2464A0"/>
            </a:solidFill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6DCE508-63CB-4339-B4AB-7BA0F21EDDDF}"/>
              </a:ext>
            </a:extLst>
          </p:cNvPr>
          <p:cNvSpPr>
            <a:spLocks noGrp="1"/>
          </p:cNvSpPr>
          <p:nvPr/>
        </p:nvSpPr>
        <p:spPr>
          <a:xfrm>
            <a:off x="9420225" y="3238500"/>
            <a:ext cx="381000" cy="381000"/>
          </a:xfrm>
          <a:prstGeom prst="rect">
            <a:avLst/>
          </a:prstGeom>
          <a:solidFill>
            <a:srgbClr val="C4D8E7"/>
          </a:solidFill>
          <a:ln w="14288">
            <a:solidFill>
              <a:srgbClr val="2464A0"/>
            </a:solidFill>
          </a:ln>
        </p:spPr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696E2B88-81B1-4C5F-AEF4-5AC3906A0507}"/>
              </a:ext>
            </a:extLst>
          </p:cNvPr>
          <p:cNvSpPr>
            <a:spLocks noGrp="1"/>
          </p:cNvSpPr>
          <p:nvPr/>
        </p:nvSpPr>
        <p:spPr>
          <a:xfrm>
            <a:off x="10477500" y="2667000"/>
            <a:ext cx="952500" cy="190500"/>
          </a:xfrm>
          <a:custGeom>
            <a:avLst/>
            <a:gdLst/>
            <a:ahLst/>
            <a:cxnLst/>
            <a:rect l="0" t="0" r="0" b="0"/>
            <a:pathLst>
              <a:path w="952500" h="190500">
                <a:moveTo>
                  <a:pt x="0" y="190500"/>
                </a:moveTo>
                <a:lnTo>
                  <a:pt x="190500" y="0"/>
                </a:lnTo>
                <a:lnTo>
                  <a:pt x="952500" y="0"/>
                </a:lnTo>
                <a:lnTo>
                  <a:pt x="762000" y="190500"/>
                </a:lnTo>
                <a:close/>
              </a:path>
            </a:pathLst>
          </a:custGeom>
          <a:solidFill>
            <a:srgbClr val="ECF3F7"/>
          </a:solidFill>
          <a:ln w="13335">
            <a:solidFill>
              <a:srgbClr val="2464A0"/>
            </a:solidFill>
          </a:ln>
        </p:spPr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F280E575-ABA3-4FC6-98C9-E4A959305B04}"/>
              </a:ext>
            </a:extLst>
          </p:cNvPr>
          <p:cNvSpPr>
            <a:spLocks noGrp="1"/>
          </p:cNvSpPr>
          <p:nvPr/>
        </p:nvSpPr>
        <p:spPr>
          <a:xfrm>
            <a:off x="11239500" y="2667000"/>
            <a:ext cx="190500" cy="952500"/>
          </a:xfrm>
          <a:custGeom>
            <a:avLst/>
            <a:gdLst/>
            <a:ahLst/>
            <a:cxnLst/>
            <a:rect l="0" t="0" r="0" b="0"/>
            <a:pathLst>
              <a:path w="190500" h="952500">
                <a:moveTo>
                  <a:pt x="0" y="190500"/>
                </a:moveTo>
                <a:lnTo>
                  <a:pt x="190500" y="0"/>
                </a:lnTo>
                <a:lnTo>
                  <a:pt x="190500" y="762000"/>
                </a:lnTo>
                <a:lnTo>
                  <a:pt x="0" y="952500"/>
                </a:lnTo>
                <a:close/>
              </a:path>
            </a:pathLst>
          </a:custGeom>
          <a:solidFill>
            <a:srgbClr val="A9C9DD"/>
          </a:solidFill>
          <a:ln w="13335">
            <a:solidFill>
              <a:srgbClr val="2464A0"/>
            </a:solidFill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E0737B9-C940-4748-B26D-F57E91E8F23B}"/>
              </a:ext>
            </a:extLst>
          </p:cNvPr>
          <p:cNvSpPr>
            <a:spLocks noGrp="1"/>
          </p:cNvSpPr>
          <p:nvPr/>
        </p:nvSpPr>
        <p:spPr>
          <a:xfrm>
            <a:off x="10477500" y="2857500"/>
            <a:ext cx="762000" cy="762000"/>
          </a:xfrm>
          <a:prstGeom prst="rect">
            <a:avLst/>
          </a:prstGeom>
          <a:solidFill>
            <a:srgbClr val="A9C9DD"/>
          </a:solidFill>
          <a:ln w="14288">
            <a:solidFill>
              <a:srgbClr val="2464A0"/>
            </a:solidFill>
          </a:ln>
        </p:spPr>
      </p:sp>
      <p:sp>
        <p:nvSpPr>
          <p:cNvPr id="39" name="32">
            <a:extLst>
              <a:ext uri="{FF2B5EF4-FFF2-40B4-BE49-F238E27FC236}">
                <a16:creationId xmlns:a16="http://schemas.microsoft.com/office/drawing/2014/main" id="{BAFB946D-5940-41E3-AB90-0171EF76EF03}"/>
              </a:ext>
            </a:extLst>
          </p:cNvPr>
          <p:cNvSpPr>
            <a:spLocks noGrp="1"/>
          </p:cNvSpPr>
          <p:nvPr/>
        </p:nvSpPr>
        <p:spPr>
          <a:xfrm>
            <a:off x="8486775" y="3914775"/>
            <a:ext cx="666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40" name="64">
            <a:extLst>
              <a:ext uri="{FF2B5EF4-FFF2-40B4-BE49-F238E27FC236}">
                <a16:creationId xmlns:a16="http://schemas.microsoft.com/office/drawing/2014/main" id="{CD208BD0-D6DD-41AC-9209-A9CE3850F7B4}"/>
              </a:ext>
            </a:extLst>
          </p:cNvPr>
          <p:cNvSpPr>
            <a:spLocks noGrp="1"/>
          </p:cNvSpPr>
          <p:nvPr/>
        </p:nvSpPr>
        <p:spPr>
          <a:xfrm>
            <a:off x="9248775" y="3914775"/>
            <a:ext cx="7810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41" name="128">
            <a:extLst>
              <a:ext uri="{FF2B5EF4-FFF2-40B4-BE49-F238E27FC236}">
                <a16:creationId xmlns:a16="http://schemas.microsoft.com/office/drawing/2014/main" id="{7121A82E-5115-44EA-B86A-F0406D3DFA76}"/>
              </a:ext>
            </a:extLst>
          </p:cNvPr>
          <p:cNvSpPr>
            <a:spLocks noGrp="1"/>
          </p:cNvSpPr>
          <p:nvPr/>
        </p:nvSpPr>
        <p:spPr>
          <a:xfrm>
            <a:off x="10410825" y="3914775"/>
            <a:ext cx="8953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128</a:t>
            </a:r>
          </a:p>
        </p:txBody>
      </p:sp>
      <p:sp>
        <p:nvSpPr>
          <p:cNvPr id="42" name="XY 격자 수 P">
            <a:extLst>
              <a:ext uri="{FF2B5EF4-FFF2-40B4-BE49-F238E27FC236}">
                <a16:creationId xmlns:a16="http://schemas.microsoft.com/office/drawing/2014/main" id="{46A94A23-9766-450B-8E2F-68C88710BEA8}"/>
              </a:ext>
            </a:extLst>
          </p:cNvPr>
          <p:cNvSpPr>
            <a:spLocks noGrp="1"/>
          </p:cNvSpPr>
          <p:nvPr/>
        </p:nvSpPr>
        <p:spPr>
          <a:xfrm>
            <a:off x="8582025" y="4324350"/>
            <a:ext cx="27336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XY 격자 수 P</a:t>
            </a:r>
          </a:p>
        </p:txBody>
      </p:sp>
      <p:sp>
        <p:nvSpPr>
          <p:cNvPr id="43" name="12개 입력 조건">
            <a:extLst>
              <a:ext uri="{FF2B5EF4-FFF2-40B4-BE49-F238E27FC236}">
                <a16:creationId xmlns:a16="http://schemas.microsoft.com/office/drawing/2014/main" id="{AEBB7D5E-5A4A-437F-8C6D-A941D7A73181}"/>
              </a:ext>
            </a:extLst>
          </p:cNvPr>
          <p:cNvSpPr>
            <a:spLocks noGrp="1"/>
          </p:cNvSpPr>
          <p:nvPr/>
        </p:nvSpPr>
        <p:spPr>
          <a:xfrm>
            <a:off x="971550" y="5229225"/>
            <a:ext cx="27717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62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 dirty="0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12개 </a:t>
            </a:r>
            <a:r>
              <a:rPr sz="2625" b="1" dirty="0" err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2625" b="1" dirty="0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625" b="1" dirty="0" err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조건</a:t>
            </a:r>
            <a:endParaRPr sz="2625" b="1" dirty="0">
              <a:solidFill>
                <a:srgbClr val="008C9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6CA5503C-C8CC-4B0C-8866-2DB3D35B3F58}"/>
              </a:ext>
            </a:extLst>
          </p:cNvPr>
          <p:cNvSpPr>
            <a:spLocks noGrp="1"/>
          </p:cNvSpPr>
          <p:nvPr/>
        </p:nvSpPr>
        <p:spPr>
          <a:xfrm>
            <a:off x="3790950" y="5314950"/>
            <a:ext cx="628650" cy="228600"/>
          </a:xfrm>
          <a:prstGeom prst="rightArrow">
            <a:avLst/>
          </a:prstGeom>
          <a:solidFill>
            <a:srgbClr val="2464A0"/>
          </a:solidFill>
          <a:ln w="0">
            <a:noFill/>
          </a:ln>
        </p:spPr>
      </p:sp>
      <p:sp>
        <p:nvSpPr>
          <p:cNvPr id="45" name="동일 Sparse 3D CNN">
            <a:extLst>
              <a:ext uri="{FF2B5EF4-FFF2-40B4-BE49-F238E27FC236}">
                <a16:creationId xmlns:a16="http://schemas.microsoft.com/office/drawing/2014/main" id="{EABA011F-A38D-4F39-8544-039777A27A54}"/>
              </a:ext>
            </a:extLst>
          </p:cNvPr>
          <p:cNvSpPr>
            <a:spLocks noGrp="1"/>
          </p:cNvSpPr>
          <p:nvPr/>
        </p:nvSpPr>
        <p:spPr>
          <a:xfrm>
            <a:off x="4543425" y="5238750"/>
            <a:ext cx="335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동일 Sparse 3D CNN</a:t>
            </a:r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28AD5488-6594-4A10-9962-1021C3CD1906}"/>
              </a:ext>
            </a:extLst>
          </p:cNvPr>
          <p:cNvSpPr>
            <a:spLocks noGrp="1"/>
          </p:cNvSpPr>
          <p:nvPr/>
        </p:nvSpPr>
        <p:spPr>
          <a:xfrm>
            <a:off x="7981950" y="5314950"/>
            <a:ext cx="628650" cy="228600"/>
          </a:xfrm>
          <a:prstGeom prst="rightArrow">
            <a:avLst/>
          </a:prstGeom>
          <a:solidFill>
            <a:srgbClr val="2464A0"/>
          </a:solidFill>
          <a:ln w="0">
            <a:noFill/>
          </a:ln>
        </p:spPr>
      </p:sp>
      <p:sp>
        <p:nvSpPr>
          <p:cNvPr id="47" name="도시 객체 분할 평가">
            <a:extLst>
              <a:ext uri="{FF2B5EF4-FFF2-40B4-BE49-F238E27FC236}">
                <a16:creationId xmlns:a16="http://schemas.microsoft.com/office/drawing/2014/main" id="{D93CEDA0-2831-414D-8635-F50B210AA9C6}"/>
              </a:ext>
            </a:extLst>
          </p:cNvPr>
          <p:cNvSpPr>
            <a:spLocks noGrp="1"/>
          </p:cNvSpPr>
          <p:nvPr/>
        </p:nvSpPr>
        <p:spPr>
          <a:xfrm>
            <a:off x="8753475" y="5238750"/>
            <a:ext cx="28194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도시 객체 분할 평가</a:t>
            </a:r>
          </a:p>
        </p:txBody>
      </p:sp>
      <p:sp>
        <p:nvSpPr>
          <p:cNvPr id="48" name="색상과 공간 범위의 구성에 따른 분할 성능 차이 분석">
            <a:extLst>
              <a:ext uri="{FF2B5EF4-FFF2-40B4-BE49-F238E27FC236}">
                <a16:creationId xmlns:a16="http://schemas.microsoft.com/office/drawing/2014/main" id="{40039118-0FFF-40CA-8E0C-49B50CC2B845}"/>
              </a:ext>
            </a:extLst>
          </p:cNvPr>
          <p:cNvSpPr>
            <a:spLocks noGrp="1"/>
          </p:cNvSpPr>
          <p:nvPr/>
        </p:nvSpPr>
        <p:spPr>
          <a:xfrm>
            <a:off x="628650" y="6124575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색상과</a:t>
            </a:r>
            <a:r>
              <a:rPr sz="2100" b="0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공간</a:t>
            </a:r>
            <a:r>
              <a:rPr sz="2100" b="0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범위의</a:t>
            </a:r>
            <a:r>
              <a:rPr sz="2100" b="0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구성에</a:t>
            </a:r>
            <a:r>
              <a:rPr sz="2100" b="0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따른</a:t>
            </a:r>
            <a:r>
              <a:rPr sz="2100" b="0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분할</a:t>
            </a:r>
            <a:r>
              <a:rPr sz="2100" b="0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성능</a:t>
            </a:r>
            <a:r>
              <a:rPr sz="2100" b="0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차이</a:t>
            </a:r>
            <a:r>
              <a:rPr sz="2100" b="0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분석</a:t>
            </a:r>
            <a:endParaRPr sz="2100" b="0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0" name="직선 연결선 49">
            <a:extLst>
              <a:ext uri="{FF2B5EF4-FFF2-40B4-BE49-F238E27FC236}">
                <a16:creationId xmlns:a16="http://schemas.microsoft.com/office/drawing/2014/main" id="{01DB3EA7-3C9A-E0A1-0458-3840335F144D}"/>
              </a:ext>
            </a:extLst>
          </p:cNvPr>
          <p:cNvSpPr>
            <a:spLocks noGrp="1"/>
          </p:cNvSpPr>
          <p:nvPr/>
        </p:nvSpPr>
        <p:spPr>
          <a:xfrm flipV="1">
            <a:off x="5525655" y="3066472"/>
            <a:ext cx="196271" cy="186459"/>
          </a:xfrm>
          <a:prstGeom prst="line">
            <a:avLst/>
          </a:prstGeom>
          <a:noFill/>
          <a:ln w="14288">
            <a:solidFill>
              <a:srgbClr val="2464A0"/>
            </a:solidFill>
          </a:ln>
        </p:spPr>
      </p:sp>
    </p:spTree>
    <p:extLst>
      <p:ext uri="{BB962C8B-B14F-4D97-AF65-F5344CB8AC3E}">
        <p14:creationId xmlns:p14="http://schemas.microsoft.com/office/powerpoint/2010/main" val="252922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연구 절차">
            <a:extLst>
              <a:ext uri="{FF2B5EF4-FFF2-40B4-BE49-F238E27FC236}">
                <a16:creationId xmlns:a16="http://schemas.microsoft.com/office/drawing/2014/main" id="{49353E85-ED13-40CD-A684-9867B71D0A7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실험 순서</a:t>
            </a:r>
            <a:endParaRPr sz="315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3090125D-F284-4388-A074-A7F02FDC903B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685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데이터 분할">
            <a:extLst>
              <a:ext uri="{FF2B5EF4-FFF2-40B4-BE49-F238E27FC236}">
                <a16:creationId xmlns:a16="http://schemas.microsoft.com/office/drawing/2014/main" id="{D0A705DD-9428-4301-8599-9ABD99D2E253}"/>
              </a:ext>
            </a:extLst>
          </p:cNvPr>
          <p:cNvSpPr>
            <a:spLocks noGrp="1"/>
          </p:cNvSpPr>
          <p:nvPr/>
        </p:nvSpPr>
        <p:spPr>
          <a:xfrm>
            <a:off x="1619250" y="1695450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2325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325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구성</a:t>
            </a:r>
            <a:endParaRPr sz="2325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합성 장면은 학습·검증, 실제 장면은 평가에 사용">
            <a:extLst>
              <a:ext uri="{FF2B5EF4-FFF2-40B4-BE49-F238E27FC236}">
                <a16:creationId xmlns:a16="http://schemas.microsoft.com/office/drawing/2014/main" id="{1204110C-EE0B-4E87-941A-D24C659D8000}"/>
              </a:ext>
            </a:extLst>
          </p:cNvPr>
          <p:cNvSpPr>
            <a:spLocks noGrp="1"/>
          </p:cNvSpPr>
          <p:nvPr/>
        </p:nvSpPr>
        <p:spPr>
          <a:xfrm>
            <a:off x="5410200" y="1724025"/>
            <a:ext cx="61341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합성 장면은 학습·검증, 실제 장면은 평가에 사용</a:t>
            </a:r>
          </a:p>
        </p:txBody>
      </p:sp>
      <p:sp>
        <p:nvSpPr>
          <p:cNvPr id="6" name="02">
            <a:extLst>
              <a:ext uri="{FF2B5EF4-FFF2-40B4-BE49-F238E27FC236}">
                <a16:creationId xmlns:a16="http://schemas.microsoft.com/office/drawing/2014/main" id="{5C2008AC-2BA4-41FB-955C-BBDFA137129D}"/>
              </a:ext>
            </a:extLst>
          </p:cNvPr>
          <p:cNvSpPr>
            <a:spLocks noGrp="1"/>
          </p:cNvSpPr>
          <p:nvPr/>
        </p:nvSpPr>
        <p:spPr>
          <a:xfrm>
            <a:off x="628650" y="2743200"/>
            <a:ext cx="685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복셀 데이터 구축">
            <a:extLst>
              <a:ext uri="{FF2B5EF4-FFF2-40B4-BE49-F238E27FC236}">
                <a16:creationId xmlns:a16="http://schemas.microsoft.com/office/drawing/2014/main" id="{59BD3CAD-CB73-4FA7-B959-467D3C07B540}"/>
              </a:ext>
            </a:extLst>
          </p:cNvPr>
          <p:cNvSpPr>
            <a:spLocks noGrp="1"/>
          </p:cNvSpPr>
          <p:nvPr/>
        </p:nvSpPr>
        <p:spPr>
          <a:xfrm>
            <a:off x="1619250" y="2743200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복셀 데이터 구축</a:t>
            </a:r>
          </a:p>
        </p:txBody>
      </p:sp>
      <p:sp>
        <p:nvSpPr>
          <p:cNvPr id="8" name="0.3 m 복셀에 좌표·색상·정답 라벨을 정리">
            <a:extLst>
              <a:ext uri="{FF2B5EF4-FFF2-40B4-BE49-F238E27FC236}">
                <a16:creationId xmlns:a16="http://schemas.microsoft.com/office/drawing/2014/main" id="{C4F8B852-9013-4477-87BB-15892B5DF46D}"/>
              </a:ext>
            </a:extLst>
          </p:cNvPr>
          <p:cNvSpPr>
            <a:spLocks noGrp="1"/>
          </p:cNvSpPr>
          <p:nvPr/>
        </p:nvSpPr>
        <p:spPr>
          <a:xfrm>
            <a:off x="5410200" y="2771775"/>
            <a:ext cx="61341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0.3 m 복셀에 좌표·색상·정답 라벨을 정리</a:t>
            </a:r>
          </a:p>
        </p:txBody>
      </p:sp>
      <p:sp>
        <p:nvSpPr>
          <p:cNvPr id="9" name="03">
            <a:extLst>
              <a:ext uri="{FF2B5EF4-FFF2-40B4-BE49-F238E27FC236}">
                <a16:creationId xmlns:a16="http://schemas.microsoft.com/office/drawing/2014/main" id="{9132E03E-5A3E-4E06-A8F2-22EB45D91F58}"/>
              </a:ext>
            </a:extLst>
          </p:cNvPr>
          <p:cNvSpPr>
            <a:spLocks noGrp="1"/>
          </p:cNvSpPr>
          <p:nvPr/>
        </p:nvSpPr>
        <p:spPr>
          <a:xfrm>
            <a:off x="628650" y="3790950"/>
            <a:ext cx="685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입력 구성별 학습">
            <a:extLst>
              <a:ext uri="{FF2B5EF4-FFF2-40B4-BE49-F238E27FC236}">
                <a16:creationId xmlns:a16="http://schemas.microsoft.com/office/drawing/2014/main" id="{0E45F241-340B-4A31-8E85-D462323EED88}"/>
              </a:ext>
            </a:extLst>
          </p:cNvPr>
          <p:cNvSpPr>
            <a:spLocks noGrp="1"/>
          </p:cNvSpPr>
          <p:nvPr/>
        </p:nvSpPr>
        <p:spPr>
          <a:xfrm>
            <a:off x="1619250" y="3790950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2325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구성별</a:t>
            </a:r>
            <a:r>
              <a:rPr sz="2325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학습</a:t>
            </a:r>
            <a:r>
              <a:rPr lang="en-US" sz="2325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325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방법</a:t>
            </a:r>
            <a:endParaRPr sz="2325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색상 2종, 공간 구성 2종, 패치 크기 3종 비교">
            <a:extLst>
              <a:ext uri="{FF2B5EF4-FFF2-40B4-BE49-F238E27FC236}">
                <a16:creationId xmlns:a16="http://schemas.microsoft.com/office/drawing/2014/main" id="{71B09980-CC17-4917-804C-61071C9A5603}"/>
              </a:ext>
            </a:extLst>
          </p:cNvPr>
          <p:cNvSpPr>
            <a:spLocks noGrp="1"/>
          </p:cNvSpPr>
          <p:nvPr/>
        </p:nvSpPr>
        <p:spPr>
          <a:xfrm>
            <a:off x="5410200" y="3819525"/>
            <a:ext cx="61341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색상 2종, 공간 구성 2종, 패치 크기 3종 비교</a:t>
            </a:r>
          </a:p>
        </p:txBody>
      </p:sp>
      <p:sp>
        <p:nvSpPr>
          <p:cNvPr id="12" name="04">
            <a:extLst>
              <a:ext uri="{FF2B5EF4-FFF2-40B4-BE49-F238E27FC236}">
                <a16:creationId xmlns:a16="http://schemas.microsoft.com/office/drawing/2014/main" id="{1C98394D-EF42-452E-AEB7-9D41FDAC80AF}"/>
              </a:ext>
            </a:extLst>
          </p:cNvPr>
          <p:cNvSpPr>
            <a:spLocks noGrp="1"/>
          </p:cNvSpPr>
          <p:nvPr/>
        </p:nvSpPr>
        <p:spPr>
          <a:xfrm>
            <a:off x="628650" y="4838700"/>
            <a:ext cx="685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실제 장면 평가">
            <a:extLst>
              <a:ext uri="{FF2B5EF4-FFF2-40B4-BE49-F238E27FC236}">
                <a16:creationId xmlns:a16="http://schemas.microsoft.com/office/drawing/2014/main" id="{1C79AC86-B091-4D60-914B-7AA77EC14CF8}"/>
              </a:ext>
            </a:extLst>
          </p:cNvPr>
          <p:cNvSpPr>
            <a:spLocks noGrp="1"/>
          </p:cNvSpPr>
          <p:nvPr/>
        </p:nvSpPr>
        <p:spPr>
          <a:xfrm>
            <a:off x="1619250" y="4838700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실제 장면 평가</a:t>
            </a:r>
          </a:p>
        </p:txBody>
      </p:sp>
      <p:sp>
        <p:nvSpPr>
          <p:cNvPr id="14" name="복셀별 예측을 원래 위치에 모아 정답과 비교">
            <a:extLst>
              <a:ext uri="{FF2B5EF4-FFF2-40B4-BE49-F238E27FC236}">
                <a16:creationId xmlns:a16="http://schemas.microsoft.com/office/drawing/2014/main" id="{A234AB30-38FF-46C5-9952-5CA91A7F6784}"/>
              </a:ext>
            </a:extLst>
          </p:cNvPr>
          <p:cNvSpPr>
            <a:spLocks noGrp="1"/>
          </p:cNvSpPr>
          <p:nvPr/>
        </p:nvSpPr>
        <p:spPr>
          <a:xfrm>
            <a:off x="5410200" y="4867275"/>
            <a:ext cx="61341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복셀별 예측을 원래 위치에 모아 정답과 비교</a:t>
            </a:r>
          </a:p>
        </p:txBody>
      </p:sp>
    </p:spTree>
    <p:extLst>
      <p:ext uri="{BB962C8B-B14F-4D97-AF65-F5344CB8AC3E}">
        <p14:creationId xmlns:p14="http://schemas.microsoft.com/office/powerpoint/2010/main" val="228252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데이터 구성">
            <a:extLst>
              <a:ext uri="{FF2B5EF4-FFF2-40B4-BE49-F238E27FC236}">
                <a16:creationId xmlns:a16="http://schemas.microsoft.com/office/drawing/2014/main" id="{2E70BBCD-4B7A-49BB-87B2-0E25DE1AD5B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01. </a:t>
            </a:r>
            <a:r>
              <a:rPr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구성</a:t>
            </a:r>
            <a:endParaRPr sz="315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STPLS3D 합성 장면의 학습·검증과 실제 WMSC_poin">
            <a:extLst>
              <a:ext uri="{FF2B5EF4-FFF2-40B4-BE49-F238E27FC236}">
                <a16:creationId xmlns:a16="http://schemas.microsoft.com/office/drawing/2014/main" id="{174F7AE2-27CE-4951-8A3E-A91E7C07FDF6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STPLS3D 합성 장면의 학습·검증과 실제 WMSC_points 장면의 평가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" y="1981328"/>
            <a:ext cx="5581650" cy="3666869"/>
          </a:xfrm>
          <a:prstGeom prst="rect">
            <a:avLst/>
          </a:prstGeom>
        </p:spPr>
      </p:pic>
      <p:sp>
        <p:nvSpPr>
          <p:cNvPr id="5" name="실제 평가 장면: WMSC_points">
            <a:extLst>
              <a:ext uri="{FF2B5EF4-FFF2-40B4-BE49-F238E27FC236}">
                <a16:creationId xmlns:a16="http://schemas.microsoft.com/office/drawing/2014/main" id="{969FA2CF-7B70-4251-BD8E-FCDAC89E0BC3}"/>
              </a:ext>
            </a:extLst>
          </p:cNvPr>
          <p:cNvSpPr>
            <a:spLocks noGrp="1"/>
          </p:cNvSpPr>
          <p:nvPr/>
        </p:nvSpPr>
        <p:spPr>
          <a:xfrm>
            <a:off x="628650" y="5810250"/>
            <a:ext cx="5581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실제 평가 장면: WMSC_points</a:t>
            </a:r>
          </a:p>
        </p:txBody>
      </p:sp>
      <p:sp>
        <p:nvSpPr>
          <p:cNvPr id="6" name="Synthetic v1~v3">
            <a:extLst>
              <a:ext uri="{FF2B5EF4-FFF2-40B4-BE49-F238E27FC236}">
                <a16:creationId xmlns:a16="http://schemas.microsoft.com/office/drawing/2014/main" id="{1E4E68CC-777E-40C1-A4DD-0A30249FD3A3}"/>
              </a:ext>
            </a:extLst>
          </p:cNvPr>
          <p:cNvSpPr>
            <a:spLocks noGrp="1"/>
          </p:cNvSpPr>
          <p:nvPr/>
        </p:nvSpPr>
        <p:spPr>
          <a:xfrm>
            <a:off x="6705600" y="1743075"/>
            <a:ext cx="46291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Synthetic v1~v3</a:t>
            </a:r>
          </a:p>
        </p:txBody>
      </p:sp>
      <p:sp>
        <p:nvSpPr>
          <p:cNvPr id="7" name="50">
            <a:extLst>
              <a:ext uri="{FF2B5EF4-FFF2-40B4-BE49-F238E27FC236}">
                <a16:creationId xmlns:a16="http://schemas.microsoft.com/office/drawing/2014/main" id="{564240D0-2274-42BC-8BFB-0E78613339E2}"/>
              </a:ext>
            </a:extLst>
          </p:cNvPr>
          <p:cNvSpPr>
            <a:spLocks noGrp="1"/>
          </p:cNvSpPr>
          <p:nvPr/>
        </p:nvSpPr>
        <p:spPr>
          <a:xfrm>
            <a:off x="6724650" y="2428875"/>
            <a:ext cx="19335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7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sp>
        <p:nvSpPr>
          <p:cNvPr id="8" name="13">
            <a:extLst>
              <a:ext uri="{FF2B5EF4-FFF2-40B4-BE49-F238E27FC236}">
                <a16:creationId xmlns:a16="http://schemas.microsoft.com/office/drawing/2014/main" id="{2D7F12C5-FF4A-427E-AD5F-C2B24D8355B2}"/>
              </a:ext>
            </a:extLst>
          </p:cNvPr>
          <p:cNvSpPr>
            <a:spLocks noGrp="1"/>
          </p:cNvSpPr>
          <p:nvPr/>
        </p:nvSpPr>
        <p:spPr>
          <a:xfrm>
            <a:off x="9467850" y="2428875"/>
            <a:ext cx="18859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7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9" name="학습 장면">
            <a:extLst>
              <a:ext uri="{FF2B5EF4-FFF2-40B4-BE49-F238E27FC236}">
                <a16:creationId xmlns:a16="http://schemas.microsoft.com/office/drawing/2014/main" id="{529E3682-A9CE-4AA9-BE37-E209CE22C848}"/>
              </a:ext>
            </a:extLst>
          </p:cNvPr>
          <p:cNvSpPr>
            <a:spLocks noGrp="1"/>
          </p:cNvSpPr>
          <p:nvPr/>
        </p:nvSpPr>
        <p:spPr>
          <a:xfrm>
            <a:off x="6743700" y="3238500"/>
            <a:ext cx="20859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학습 장면</a:t>
            </a:r>
          </a:p>
        </p:txBody>
      </p:sp>
      <p:sp>
        <p:nvSpPr>
          <p:cNvPr id="10" name="검증 장면">
            <a:extLst>
              <a:ext uri="{FF2B5EF4-FFF2-40B4-BE49-F238E27FC236}">
                <a16:creationId xmlns:a16="http://schemas.microsoft.com/office/drawing/2014/main" id="{506D3E47-93ED-4B27-8D1B-FEF0BF60D8A6}"/>
              </a:ext>
            </a:extLst>
          </p:cNvPr>
          <p:cNvSpPr>
            <a:spLocks noGrp="1"/>
          </p:cNvSpPr>
          <p:nvPr/>
        </p:nvSpPr>
        <p:spPr>
          <a:xfrm>
            <a:off x="9477375" y="3238500"/>
            <a:ext cx="19335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검증 장면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86E4CD36-AF63-4973-8EB9-10D42B5ACCAA}"/>
              </a:ext>
            </a:extLst>
          </p:cNvPr>
          <p:cNvSpPr>
            <a:spLocks noGrp="1"/>
          </p:cNvSpPr>
          <p:nvPr/>
        </p:nvSpPr>
        <p:spPr>
          <a:xfrm>
            <a:off x="6715125" y="3886200"/>
            <a:ext cx="4752975" cy="0"/>
          </a:xfrm>
          <a:prstGeom prst="line">
            <a:avLst/>
          </a:prstGeom>
          <a:noFill/>
          <a:ln w="19050">
            <a:solidFill>
              <a:srgbClr val="D3DDE6"/>
            </a:solidFill>
          </a:ln>
        </p:spPr>
      </p:sp>
      <p:sp>
        <p:nvSpPr>
          <p:cNvPr id="12" name="실제 WMSC 1개 장면 평가">
            <a:extLst>
              <a:ext uri="{FF2B5EF4-FFF2-40B4-BE49-F238E27FC236}">
                <a16:creationId xmlns:a16="http://schemas.microsoft.com/office/drawing/2014/main" id="{C563985A-E8D4-47CB-94F6-FD80593EF69F}"/>
              </a:ext>
            </a:extLst>
          </p:cNvPr>
          <p:cNvSpPr>
            <a:spLocks noGrp="1"/>
          </p:cNvSpPr>
          <p:nvPr/>
        </p:nvSpPr>
        <p:spPr>
          <a:xfrm>
            <a:off x="6715125" y="4200525"/>
            <a:ext cx="4791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실제 WMSC 1개 장면 평가</a:t>
            </a:r>
          </a:p>
        </p:txBody>
      </p:sp>
      <p:sp>
        <p:nvSpPr>
          <p:cNvPr id="13" name="점유 복셀 2,139,806개">
            <a:extLst>
              <a:ext uri="{FF2B5EF4-FFF2-40B4-BE49-F238E27FC236}">
                <a16:creationId xmlns:a16="http://schemas.microsoft.com/office/drawing/2014/main" id="{B83CA72C-7C82-40A3-B852-167375307CE8}"/>
              </a:ext>
            </a:extLst>
          </p:cNvPr>
          <p:cNvSpPr>
            <a:spLocks noGrp="1"/>
          </p:cNvSpPr>
          <p:nvPr/>
        </p:nvSpPr>
        <p:spPr>
          <a:xfrm>
            <a:off x="6715125" y="4791075"/>
            <a:ext cx="4810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rPr>
              <a:t>점유 복셀 2,139,806개</a:t>
            </a:r>
          </a:p>
        </p:txBody>
      </p:sp>
      <p:sp>
        <p:nvSpPr>
          <p:cNvPr id="14" name="6개 클래스&#10;Ground, Building, Tree,&#10;Car">
            <a:extLst>
              <a:ext uri="{FF2B5EF4-FFF2-40B4-BE49-F238E27FC236}">
                <a16:creationId xmlns:a16="http://schemas.microsoft.com/office/drawing/2014/main" id="{39775CB4-28D8-4CA7-82F5-9C51CFCF2116}"/>
              </a:ext>
            </a:extLst>
          </p:cNvPr>
          <p:cNvSpPr>
            <a:spLocks noGrp="1"/>
          </p:cNvSpPr>
          <p:nvPr/>
        </p:nvSpPr>
        <p:spPr>
          <a:xfrm>
            <a:off x="6715125" y="5505450"/>
            <a:ext cx="4752975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6개 클래스</a:t>
            </a:r>
          </a:p>
          <a:p>
            <a:pPr algn="l">
              <a:def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Ground, Building, Tree,</a:t>
            </a:r>
          </a:p>
          <a:p>
            <a:pPr algn="l">
              <a:def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Car, Light pole, Fence</a:t>
            </a:r>
          </a:p>
        </p:txBody>
      </p:sp>
    </p:spTree>
    <p:extLst>
      <p:ext uri="{BB962C8B-B14F-4D97-AF65-F5344CB8AC3E}">
        <p14:creationId xmlns:p14="http://schemas.microsoft.com/office/powerpoint/2010/main" val="176453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정답 라벨과 클래스 통합">
            <a:extLst>
              <a:ext uri="{FF2B5EF4-FFF2-40B4-BE49-F238E27FC236}">
                <a16:creationId xmlns:a16="http://schemas.microsoft.com/office/drawing/2014/main" id="{4A2AACB3-10DE-4FB9-8B3C-AC487B8C546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02. </a:t>
            </a:r>
            <a:r>
              <a:rPr lang="ko-KR" altLang="en-US"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복셀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데이터 구축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라벨과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클래스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통합</a:t>
            </a:r>
            <a:endParaRPr sz="24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원본 클래스 투표를 먼저 수행한 뒤 공통 6개 클래스로 매핑">
            <a:extLst>
              <a:ext uri="{FF2B5EF4-FFF2-40B4-BE49-F238E27FC236}">
                <a16:creationId xmlns:a16="http://schemas.microsoft.com/office/drawing/2014/main" id="{1DED555D-8BA4-4A39-B85C-43CBC447FC02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원본 클래스 투표를 먼저 수행한 뒤 공통 6개 클래스로 매핑</a:t>
            </a:r>
          </a:p>
        </p:txBody>
      </p:sp>
      <p:sp>
        <p:nvSpPr>
          <p:cNvPr id="4" name="정답 라벨 결정">
            <a:extLst>
              <a:ext uri="{FF2B5EF4-FFF2-40B4-BE49-F238E27FC236}">
                <a16:creationId xmlns:a16="http://schemas.microsoft.com/office/drawing/2014/main" id="{2A311568-DAF8-407A-8401-6F1200D2DA8A}"/>
              </a:ext>
            </a:extLst>
          </p:cNvPr>
          <p:cNvSpPr>
            <a:spLocks noGrp="1"/>
          </p:cNvSpPr>
          <p:nvPr/>
        </p:nvSpPr>
        <p:spPr>
          <a:xfrm>
            <a:off x="628650" y="1733550"/>
            <a:ext cx="45434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정답 라벨 결정</a:t>
            </a:r>
          </a:p>
        </p:txBody>
      </p:sp>
      <p:sp>
        <p:nvSpPr>
          <p:cNvPr id="5" name="1  복셀 내부의 원본 클래스 빈도 집계&#10;2  동률 클래스의 ">
            <a:extLst>
              <a:ext uri="{FF2B5EF4-FFF2-40B4-BE49-F238E27FC236}">
                <a16:creationId xmlns:a16="http://schemas.microsoft.com/office/drawing/2014/main" id="{D8F5F824-DF48-47B1-9B18-97155A47B4C0}"/>
              </a:ext>
            </a:extLst>
          </p:cNvPr>
          <p:cNvSpPr>
            <a:spLocks noGrp="1"/>
          </p:cNvSpPr>
          <p:nvPr/>
        </p:nvSpPr>
        <p:spPr>
          <a:xfrm>
            <a:off x="628650" y="2352675"/>
            <a:ext cx="4543425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1  복셀 내부의 원본 클래스 빈도 집계</a:t>
            </a:r>
          </a:p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2  동률 클래스의 점 중</a:t>
            </a:r>
          </a:p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   중심에 가장 가까운 점의 라벨 선택</a:t>
            </a:r>
          </a:p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3  선택한 클래스를 Common-6로 통합</a:t>
            </a:r>
          </a:p>
        </p:txBody>
      </p:sp>
      <p:sp>
        <p:nvSpPr>
          <p:cNvPr id="6" name="순서에 따른 차이: 설명용 예시">
            <a:extLst>
              <a:ext uri="{FF2B5EF4-FFF2-40B4-BE49-F238E27FC236}">
                <a16:creationId xmlns:a16="http://schemas.microsoft.com/office/drawing/2014/main" id="{B958D442-786D-4A10-A9A3-E55453C2A0EF}"/>
              </a:ext>
            </a:extLst>
          </p:cNvPr>
          <p:cNvSpPr>
            <a:spLocks noGrp="1"/>
          </p:cNvSpPr>
          <p:nvPr/>
        </p:nvSpPr>
        <p:spPr>
          <a:xfrm>
            <a:off x="628650" y="4257675"/>
            <a:ext cx="45434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순서에 따른 차이: 설명용 예시</a:t>
            </a:r>
          </a:p>
        </p:txBody>
      </p:sp>
      <p:sp>
        <p:nvSpPr>
          <p:cNvPr id="7" name="Building 4표, Low veg. 3표, High veg">
            <a:extLst>
              <a:ext uri="{FF2B5EF4-FFF2-40B4-BE49-F238E27FC236}">
                <a16:creationId xmlns:a16="http://schemas.microsoft.com/office/drawing/2014/main" id="{9BD5CD7B-E7A1-43D5-97BA-9F638421662B}"/>
              </a:ext>
            </a:extLst>
          </p:cNvPr>
          <p:cNvSpPr>
            <a:spLocks noGrp="1"/>
          </p:cNvSpPr>
          <p:nvPr/>
        </p:nvSpPr>
        <p:spPr>
          <a:xfrm>
            <a:off x="628650" y="4781550"/>
            <a:ext cx="4543425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Building 4표, Low veg. 3표, High veg. 3표</a:t>
            </a:r>
          </a:p>
          <a:p>
            <a:endParaRPr sz="1725" b="0">
              <a:solidFill>
                <a:srgbClr val="27313C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7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원본 클래스 투표 후 통합: Building</a:t>
            </a:r>
          </a:p>
          <a:p>
            <a:pPr algn="l">
              <a:defRPr sz="17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먼저 통합하면 Tree 6표로 결과가 달라짐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5534025" y="1781175"/>
          <a:ext cx="6029325" cy="4114803"/>
        </p:xfrm>
        <a:graphic>
          <a:graphicData uri="http://schemas.openxmlformats.org/drawingml/2006/table">
            <a:tbl>
              <a:tblPr firstRow="1"/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Common-6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클래스 통합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Ground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Ground / Road / Dirt / Grass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Building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건물 및 인공 구조물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Tree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Low / Medium / High vegetation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Car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Vehicle / Truck / Military vehicle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Light pole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Light pole / Street sign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Fence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Fence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0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공통 복셀화 규칙">
            <a:extLst>
              <a:ext uri="{FF2B5EF4-FFF2-40B4-BE49-F238E27FC236}">
                <a16:creationId xmlns:a16="http://schemas.microsoft.com/office/drawing/2014/main" id="{9DF8C285-F0C0-439C-A120-F233A1B8B9C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02. </a:t>
            </a:r>
            <a:r>
              <a:rPr lang="ko-KR" altLang="en-US"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복셀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데이터 구축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공통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복셀화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규칙</a:t>
            </a:r>
            <a:endParaRPr sz="24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모든 조건에서 복셀 크기와 정답 라벨 결정 방법을 동일하게 적">
            <a:extLst>
              <a:ext uri="{FF2B5EF4-FFF2-40B4-BE49-F238E27FC236}">
                <a16:creationId xmlns:a16="http://schemas.microsoft.com/office/drawing/2014/main" id="{40A82A64-A74E-4556-902E-E2CB153E9034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모든 조건에서 복셀 크기와 정답 라벨 결정 방법을 동일하게 적용</a:t>
            </a:r>
          </a:p>
        </p:txBody>
      </p:sp>
      <p:sp>
        <p:nvSpPr>
          <p:cNvPr id="6" name="점이 들어 있는 복셀만 저장">
            <a:extLst>
              <a:ext uri="{FF2B5EF4-FFF2-40B4-BE49-F238E27FC236}">
                <a16:creationId xmlns:a16="http://schemas.microsoft.com/office/drawing/2014/main" id="{356C0FF7-88B5-470C-9303-CA6817EAA878}"/>
              </a:ext>
            </a:extLst>
          </p:cNvPr>
          <p:cNvSpPr>
            <a:spLocks noGrp="1"/>
          </p:cNvSpPr>
          <p:nvPr/>
        </p:nvSpPr>
        <p:spPr>
          <a:xfrm>
            <a:off x="5305425" y="1828800"/>
            <a:ext cx="62674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점이 들어 있는 복셀만 저장</a:t>
            </a:r>
          </a:p>
        </p:txBody>
      </p:sp>
      <p:sp>
        <p:nvSpPr>
          <p:cNvPr id="7" name="빈 격자를 제외한 복셀 좌표·속성 저장">
            <a:extLst>
              <a:ext uri="{FF2B5EF4-FFF2-40B4-BE49-F238E27FC236}">
                <a16:creationId xmlns:a16="http://schemas.microsoft.com/office/drawing/2014/main" id="{C604CA9F-6094-4AA5-9800-BB015E95C604}"/>
              </a:ext>
            </a:extLst>
          </p:cNvPr>
          <p:cNvSpPr>
            <a:spLocks noGrp="1"/>
          </p:cNvSpPr>
          <p:nvPr/>
        </p:nvSpPr>
        <p:spPr>
          <a:xfrm>
            <a:off x="5305425" y="2400300"/>
            <a:ext cx="620077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빈 격자를 제외한 복셀 좌표·속성 저장</a:t>
            </a:r>
          </a:p>
        </p:txBody>
      </p:sp>
      <p:sp>
        <p:nvSpPr>
          <p:cNvPr id="8" name="복셀별 정답 라벨 부여">
            <a:extLst>
              <a:ext uri="{FF2B5EF4-FFF2-40B4-BE49-F238E27FC236}">
                <a16:creationId xmlns:a16="http://schemas.microsoft.com/office/drawing/2014/main" id="{1C7B1898-69E6-4132-8688-659B7BFA6D49}"/>
              </a:ext>
            </a:extLst>
          </p:cNvPr>
          <p:cNvSpPr>
            <a:spLocks noGrp="1"/>
          </p:cNvSpPr>
          <p:nvPr/>
        </p:nvSpPr>
        <p:spPr>
          <a:xfrm>
            <a:off x="5305425" y="3448050"/>
            <a:ext cx="62674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복셀별 정답 라벨 부여</a:t>
            </a:r>
          </a:p>
        </p:txBody>
      </p:sp>
      <p:sp>
        <p:nvSpPr>
          <p:cNvPr id="9" name="원본 클래스의 최다득표로 정답 선정 후&#10;6개 공통 클래스로 통">
            <a:extLst>
              <a:ext uri="{FF2B5EF4-FFF2-40B4-BE49-F238E27FC236}">
                <a16:creationId xmlns:a16="http://schemas.microsoft.com/office/drawing/2014/main" id="{B3CC2789-7197-4FCD-851E-402F4BDEC092}"/>
              </a:ext>
            </a:extLst>
          </p:cNvPr>
          <p:cNvSpPr>
            <a:spLocks noGrp="1"/>
          </p:cNvSpPr>
          <p:nvPr/>
        </p:nvSpPr>
        <p:spPr>
          <a:xfrm>
            <a:off x="5305425" y="4010025"/>
            <a:ext cx="62007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원본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클래스의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최다득표로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선정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후</a:t>
            </a:r>
          </a:p>
          <a:p>
            <a:pPr algn="l">
              <a:def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6개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공통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클래스로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통합</a:t>
            </a:r>
            <a:endParaRPr sz="2025" b="0" dirty="0">
              <a:solidFill>
                <a:srgbClr val="27313C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패치가 커져도 복셀 해상도는 0.3 m로 유지">
            <a:extLst>
              <a:ext uri="{FF2B5EF4-FFF2-40B4-BE49-F238E27FC236}">
                <a16:creationId xmlns:a16="http://schemas.microsoft.com/office/drawing/2014/main" id="{BA921B02-5963-4634-B592-D70BD7E75EF8}"/>
              </a:ext>
            </a:extLst>
          </p:cNvPr>
          <p:cNvSpPr>
            <a:spLocks noGrp="1"/>
          </p:cNvSpPr>
          <p:nvPr/>
        </p:nvSpPr>
        <p:spPr>
          <a:xfrm>
            <a:off x="5305425" y="5514975"/>
            <a:ext cx="62007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rPr>
              <a:t>패치가 커져도 복셀 해상도는 0.3 m로 유지</a:t>
            </a:r>
          </a:p>
        </p:txBody>
      </p:sp>
      <p:pic>
        <p:nvPicPr>
          <p:cNvPr id="29" name="Image 0" descr="/mnt/data/work_clean_ppt/assets/v6_s024_img0.png">
            <a:extLst>
              <a:ext uri="{FF2B5EF4-FFF2-40B4-BE49-F238E27FC236}">
                <a16:creationId xmlns:a16="http://schemas.microsoft.com/office/drawing/2014/main" id="{EF10565A-7C13-4035-ED70-A8AAC2EA61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47" r="22779"/>
          <a:stretch/>
        </p:blipFill>
        <p:spPr>
          <a:xfrm>
            <a:off x="2840983" y="1738550"/>
            <a:ext cx="1108863" cy="1137270"/>
          </a:xfrm>
          <a:prstGeom prst="rect">
            <a:avLst/>
          </a:prstGeom>
        </p:spPr>
      </p:pic>
      <p:pic>
        <p:nvPicPr>
          <p:cNvPr id="30" name="Image 0" descr="/mnt/data/work_clean_ppt/assets/v6_s025_img0.png">
            <a:extLst>
              <a:ext uri="{FF2B5EF4-FFF2-40B4-BE49-F238E27FC236}">
                <a16:creationId xmlns:a16="http://schemas.microsoft.com/office/drawing/2014/main" id="{082F15CA-6153-1078-34B1-F08870AB5F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25" t="4424" r="18103" b="11558"/>
          <a:stretch/>
        </p:blipFill>
        <p:spPr>
          <a:xfrm>
            <a:off x="3628938" y="2512616"/>
            <a:ext cx="1146509" cy="1132870"/>
          </a:xfrm>
          <a:prstGeom prst="rect">
            <a:avLst/>
          </a:prstGeom>
        </p:spPr>
      </p:pic>
      <p:pic>
        <p:nvPicPr>
          <p:cNvPr id="31" name="Image 0" descr="/mnt/data/81b264ca-1b8a-4096-8992-fd98259e2dc0.png">
            <a:extLst>
              <a:ext uri="{FF2B5EF4-FFF2-40B4-BE49-F238E27FC236}">
                <a16:creationId xmlns:a16="http://schemas.microsoft.com/office/drawing/2014/main" id="{C76E37FA-97A3-34C1-DAC0-D7E14E6A1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46" y="2078480"/>
            <a:ext cx="2211551" cy="1452880"/>
          </a:xfrm>
          <a:prstGeom prst="rect">
            <a:avLst/>
          </a:prstGeom>
        </p:spPr>
      </p:pic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848CF921-1762-5125-C6BB-FB1A2E766A60}"/>
              </a:ext>
            </a:extLst>
          </p:cNvPr>
          <p:cNvSpPr/>
          <p:nvPr/>
        </p:nvSpPr>
        <p:spPr>
          <a:xfrm rot="20373605">
            <a:off x="2421638" y="2003306"/>
            <a:ext cx="459724" cy="1924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1735F6E-AC65-35D9-7839-F59608542FE8}"/>
              </a:ext>
            </a:extLst>
          </p:cNvPr>
          <p:cNvSpPr/>
          <p:nvPr/>
        </p:nvSpPr>
        <p:spPr>
          <a:xfrm rot="2523614">
            <a:off x="3679781" y="2517570"/>
            <a:ext cx="264729" cy="1924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1724DBF-6929-47DF-9590-516E56133972}"/>
              </a:ext>
            </a:extLst>
          </p:cNvPr>
          <p:cNvSpPr>
            <a:spLocks noGrp="1"/>
          </p:cNvSpPr>
          <p:nvPr/>
        </p:nvSpPr>
        <p:spPr>
          <a:xfrm>
            <a:off x="685800" y="3712475"/>
            <a:ext cx="96932" cy="95250"/>
          </a:xfrm>
          <a:prstGeom prst="ellipse">
            <a:avLst/>
          </a:prstGeom>
          <a:solidFill>
            <a:srgbClr val="078973"/>
          </a:solidFill>
          <a:ln w="0">
            <a:noFill/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62F73A0-02AC-8BDD-C599-DCEF10ED189E}"/>
              </a:ext>
            </a:extLst>
          </p:cNvPr>
          <p:cNvSpPr>
            <a:spLocks noGrp="1"/>
          </p:cNvSpPr>
          <p:nvPr/>
        </p:nvSpPr>
        <p:spPr>
          <a:xfrm>
            <a:off x="876300" y="3583707"/>
            <a:ext cx="1267460" cy="358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defRPr sz="1125" b="1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00" b="1" dirty="0">
                <a:solidFill>
                  <a:srgbClr val="5B657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Voxel</a:t>
            </a:r>
            <a:r>
              <a:rPr lang="ko-KR" altLang="en-US" sz="1200" b="1" dirty="0">
                <a:solidFill>
                  <a:srgbClr val="5B657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 </a:t>
            </a:r>
            <a:r>
              <a:rPr lang="en-US" altLang="ko-KR" sz="1200" b="1" dirty="0">
                <a:solidFill>
                  <a:srgbClr val="5B657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size</a:t>
            </a:r>
            <a:endParaRPr sz="1200" b="1" dirty="0">
              <a:solidFill>
                <a:srgbClr val="5B657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DejaVu San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6AC80ED-9549-FC4C-BBBD-BBADE5ADC1A9}"/>
              </a:ext>
            </a:extLst>
          </p:cNvPr>
          <p:cNvSpPr>
            <a:spLocks noGrp="1"/>
          </p:cNvSpPr>
          <p:nvPr/>
        </p:nvSpPr>
        <p:spPr>
          <a:xfrm>
            <a:off x="2296324" y="3583707"/>
            <a:ext cx="2638424" cy="4118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defRPr sz="1163" b="1">
                <a:solidFill>
                  <a:srgbClr val="2428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2428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0.3 × 0.3 × 0.3 m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1F6C598-4ED2-CFF2-0562-BD5FCEE623CD}"/>
              </a:ext>
            </a:extLst>
          </p:cNvPr>
          <p:cNvSpPr>
            <a:spLocks noGrp="1"/>
          </p:cNvSpPr>
          <p:nvPr/>
        </p:nvSpPr>
        <p:spPr>
          <a:xfrm>
            <a:off x="685800" y="4195779"/>
            <a:ext cx="96932" cy="95250"/>
          </a:xfrm>
          <a:prstGeom prst="ellipse">
            <a:avLst/>
          </a:prstGeom>
          <a:solidFill>
            <a:srgbClr val="078973"/>
          </a:solidFill>
          <a:ln w="0">
            <a:noFill/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928A88E-1615-AF60-3369-CBF12EE9724C}"/>
              </a:ext>
            </a:extLst>
          </p:cNvPr>
          <p:cNvSpPr>
            <a:spLocks noGrp="1"/>
          </p:cNvSpPr>
          <p:nvPr/>
        </p:nvSpPr>
        <p:spPr>
          <a:xfrm>
            <a:off x="876300" y="4066524"/>
            <a:ext cx="1267460" cy="358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defRPr sz="1125" b="1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B657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Storage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89F75E9-F824-3770-EDCA-B0D411B9D686}"/>
              </a:ext>
            </a:extLst>
          </p:cNvPr>
          <p:cNvSpPr>
            <a:spLocks noGrp="1"/>
          </p:cNvSpPr>
          <p:nvPr/>
        </p:nvSpPr>
        <p:spPr>
          <a:xfrm>
            <a:off x="2296323" y="4066524"/>
            <a:ext cx="2638425" cy="4118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defRPr sz="1163" b="1">
                <a:solidFill>
                  <a:srgbClr val="2428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428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Occupied voxels only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BA7F0EA-9DA7-C574-017C-285EDB522DE5}"/>
              </a:ext>
            </a:extLst>
          </p:cNvPr>
          <p:cNvSpPr>
            <a:spLocks noGrp="1"/>
          </p:cNvSpPr>
          <p:nvPr/>
        </p:nvSpPr>
        <p:spPr>
          <a:xfrm>
            <a:off x="685800" y="4679083"/>
            <a:ext cx="96932" cy="95250"/>
          </a:xfrm>
          <a:prstGeom prst="ellipse">
            <a:avLst/>
          </a:prstGeom>
          <a:solidFill>
            <a:srgbClr val="078973"/>
          </a:solidFill>
          <a:ln w="0">
            <a:noFill/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18D7632-4246-E2CC-06BA-45BDA9DB93F6}"/>
              </a:ext>
            </a:extLst>
          </p:cNvPr>
          <p:cNvSpPr>
            <a:spLocks noGrp="1"/>
          </p:cNvSpPr>
          <p:nvPr/>
        </p:nvSpPr>
        <p:spPr>
          <a:xfrm>
            <a:off x="876300" y="4549341"/>
            <a:ext cx="1267460" cy="358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defRPr sz="1125" b="1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B657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Feature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B602904-7ED7-0BD7-411C-0AC1CCF485A1}"/>
              </a:ext>
            </a:extLst>
          </p:cNvPr>
          <p:cNvSpPr>
            <a:spLocks noGrp="1"/>
          </p:cNvSpPr>
          <p:nvPr/>
        </p:nvSpPr>
        <p:spPr>
          <a:xfrm>
            <a:off x="2296323" y="4549341"/>
            <a:ext cx="2638425" cy="4118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9296"/>
          </a:bodyPr>
          <a:lstStyle/>
          <a:p>
            <a:pPr algn="l">
              <a:defRPr sz="1163" b="1">
                <a:solidFill>
                  <a:srgbClr val="2428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428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Occ + RGB + NormXYZ (7 ch)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8456D9E0-AFFC-4C72-2BB3-F3A67D15EB27}"/>
              </a:ext>
            </a:extLst>
          </p:cNvPr>
          <p:cNvSpPr>
            <a:spLocks noGrp="1"/>
          </p:cNvSpPr>
          <p:nvPr/>
        </p:nvSpPr>
        <p:spPr>
          <a:xfrm>
            <a:off x="685800" y="5162387"/>
            <a:ext cx="96932" cy="95250"/>
          </a:xfrm>
          <a:prstGeom prst="ellipse">
            <a:avLst/>
          </a:prstGeom>
          <a:solidFill>
            <a:srgbClr val="078973"/>
          </a:solidFill>
          <a:ln w="0">
            <a:noFill/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90A2431-0371-CFCF-6DF3-199C92E2952A}"/>
              </a:ext>
            </a:extLst>
          </p:cNvPr>
          <p:cNvSpPr>
            <a:spLocks noGrp="1"/>
          </p:cNvSpPr>
          <p:nvPr/>
        </p:nvSpPr>
        <p:spPr>
          <a:xfrm>
            <a:off x="876300" y="5032158"/>
            <a:ext cx="1267460" cy="358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defRPr sz="1125" b="1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00" b="1" dirty="0">
                <a:solidFill>
                  <a:srgbClr val="5B657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Voxel label</a:t>
            </a:r>
            <a:endParaRPr sz="1200" b="1" dirty="0">
              <a:solidFill>
                <a:srgbClr val="5B657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DejaVu Sans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C07176-1352-0ED0-4AFB-0A01F477CBDF}"/>
              </a:ext>
            </a:extLst>
          </p:cNvPr>
          <p:cNvSpPr>
            <a:spLocks noGrp="1"/>
          </p:cNvSpPr>
          <p:nvPr/>
        </p:nvSpPr>
        <p:spPr>
          <a:xfrm>
            <a:off x="2296324" y="5032158"/>
            <a:ext cx="2638424" cy="4118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defRPr sz="1163" b="1">
                <a:solidFill>
                  <a:srgbClr val="24282E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00" b="1" dirty="0">
                <a:solidFill>
                  <a:srgbClr val="2428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Majority voting</a:t>
            </a:r>
            <a:endParaRPr sz="1200" b="1" dirty="0">
              <a:solidFill>
                <a:srgbClr val="24282E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DejaVu Sans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4B3C5A6-E817-81AF-2C77-C0DA04224AE2}"/>
              </a:ext>
            </a:extLst>
          </p:cNvPr>
          <p:cNvSpPr>
            <a:spLocks noGrp="1"/>
          </p:cNvSpPr>
          <p:nvPr/>
        </p:nvSpPr>
        <p:spPr>
          <a:xfrm>
            <a:off x="685800" y="5645689"/>
            <a:ext cx="96932" cy="95250"/>
          </a:xfrm>
          <a:prstGeom prst="ellipse">
            <a:avLst/>
          </a:prstGeom>
          <a:solidFill>
            <a:srgbClr val="078973"/>
          </a:solidFill>
          <a:ln w="0">
            <a:noFill/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0BE2E56-BF59-802B-172E-34FEC387BC0F}"/>
              </a:ext>
            </a:extLst>
          </p:cNvPr>
          <p:cNvSpPr>
            <a:spLocks noGrp="1"/>
          </p:cNvSpPr>
          <p:nvPr/>
        </p:nvSpPr>
        <p:spPr>
          <a:xfrm>
            <a:off x="876300" y="5514975"/>
            <a:ext cx="1267460" cy="358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6350"/>
          </a:bodyPr>
          <a:lstStyle/>
          <a:p>
            <a:pPr algn="l">
              <a:defRPr sz="1125" b="1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5B657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Class mapping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9CC7031-6472-E41B-C4E8-2C5A5B6E7114}"/>
              </a:ext>
            </a:extLst>
          </p:cNvPr>
          <p:cNvSpPr>
            <a:spLocks noGrp="1"/>
          </p:cNvSpPr>
          <p:nvPr/>
        </p:nvSpPr>
        <p:spPr>
          <a:xfrm>
            <a:off x="2296324" y="5514975"/>
            <a:ext cx="2638424" cy="4118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defRPr sz="1163" b="1">
                <a:solidFill>
                  <a:srgbClr val="2428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2428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DejaVu Sans"/>
              </a:rPr>
              <a:t>19 classes → 6 classes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EE20968-203F-2CA3-F465-F7EC764767D5}"/>
              </a:ext>
            </a:extLst>
          </p:cNvPr>
          <p:cNvSpPr/>
          <p:nvPr/>
        </p:nvSpPr>
        <p:spPr>
          <a:xfrm>
            <a:off x="1149583" y="1846040"/>
            <a:ext cx="1241705" cy="180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STPLS3D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584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연구 필요성: 복셀 학습 데이터의 구성">
            <a:extLst>
              <a:ext uri="{FF2B5EF4-FFF2-40B4-BE49-F238E27FC236}">
                <a16:creationId xmlns:a16="http://schemas.microsoft.com/office/drawing/2014/main" id="{9732FD94-72CB-41F2-B4AD-73B4D80D06F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02. </a:t>
            </a:r>
            <a:r>
              <a:rPr lang="ko-KR" altLang="en-US"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복셀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데이터 구축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학습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데이터의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구성</a:t>
            </a:r>
            <a:endParaRPr sz="24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머신리더블 데이터 구축: 복셀 정보를 모델 입력 배열과 정답 ">
            <a:extLst>
              <a:ext uri="{FF2B5EF4-FFF2-40B4-BE49-F238E27FC236}">
                <a16:creationId xmlns:a16="http://schemas.microsoft.com/office/drawing/2014/main" id="{C30A6B63-EC86-4CAB-9DC0-0BC74B6BB388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복셀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정보를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배열과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라벨로</a:t>
            </a:r>
            <a:r>
              <a:rPr sz="1875" b="0" dirty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구조화</a:t>
            </a:r>
            <a:endParaRPr sz="1875" b="0" dirty="0">
              <a:solidFill>
                <a:srgbClr val="60708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복셀">
            <a:extLst>
              <a:ext uri="{FF2B5EF4-FFF2-40B4-BE49-F238E27FC236}">
                <a16:creationId xmlns:a16="http://schemas.microsoft.com/office/drawing/2014/main" id="{13565C4C-736D-4FD2-B8E8-5B5D7A0B98BA}"/>
              </a:ext>
            </a:extLst>
          </p:cNvPr>
          <p:cNvSpPr>
            <a:spLocks noGrp="1"/>
          </p:cNvSpPr>
          <p:nvPr/>
        </p:nvSpPr>
        <p:spPr>
          <a:xfrm>
            <a:off x="914400" y="185737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복셀</a:t>
            </a: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8DAA9C91-9773-4DD1-95F1-B8AFA2C077E2}"/>
              </a:ext>
            </a:extLst>
          </p:cNvPr>
          <p:cNvSpPr>
            <a:spLocks noGrp="1"/>
          </p:cNvSpPr>
          <p:nvPr/>
        </p:nvSpPr>
        <p:spPr>
          <a:xfrm>
            <a:off x="1095375" y="2476500"/>
            <a:ext cx="1647825" cy="342900"/>
          </a:xfrm>
          <a:custGeom>
            <a:avLst/>
            <a:gdLst/>
            <a:ahLst/>
            <a:cxnLst/>
            <a:rect l="0" t="0" r="0" b="0"/>
            <a:pathLst>
              <a:path w="1647825" h="342900">
                <a:moveTo>
                  <a:pt x="0" y="342900"/>
                </a:moveTo>
                <a:lnTo>
                  <a:pt x="342900" y="0"/>
                </a:lnTo>
                <a:lnTo>
                  <a:pt x="1647825" y="0"/>
                </a:lnTo>
                <a:lnTo>
                  <a:pt x="1304925" y="342900"/>
                </a:lnTo>
                <a:close/>
              </a:path>
            </a:pathLst>
          </a:custGeom>
          <a:solidFill>
            <a:srgbClr val="ECF3F7"/>
          </a:solidFill>
          <a:ln w="13335">
            <a:solidFill>
              <a:srgbClr val="2464A0"/>
            </a:solidFill>
          </a:ln>
        </p:spPr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D3F7C325-E6DB-4013-80BE-B760A8488C45}"/>
              </a:ext>
            </a:extLst>
          </p:cNvPr>
          <p:cNvSpPr>
            <a:spLocks noGrp="1"/>
          </p:cNvSpPr>
          <p:nvPr/>
        </p:nvSpPr>
        <p:spPr>
          <a:xfrm>
            <a:off x="2400300" y="2476500"/>
            <a:ext cx="342900" cy="1647825"/>
          </a:xfrm>
          <a:custGeom>
            <a:avLst/>
            <a:gdLst/>
            <a:ahLst/>
            <a:cxnLst/>
            <a:rect l="0" t="0" r="0" b="0"/>
            <a:pathLst>
              <a:path w="342900" h="1647825">
                <a:moveTo>
                  <a:pt x="0" y="342900"/>
                </a:moveTo>
                <a:lnTo>
                  <a:pt x="342900" y="0"/>
                </a:lnTo>
                <a:lnTo>
                  <a:pt x="342900" y="1304925"/>
                </a:lnTo>
                <a:lnTo>
                  <a:pt x="0" y="1647825"/>
                </a:lnTo>
                <a:close/>
              </a:path>
            </a:pathLst>
          </a:custGeom>
          <a:solidFill>
            <a:srgbClr val="A9C9DD"/>
          </a:solidFill>
          <a:ln w="13335">
            <a:solidFill>
              <a:srgbClr val="2464A0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077C796-99F8-414D-A14C-AB00BE03FCD3}"/>
              </a:ext>
            </a:extLst>
          </p:cNvPr>
          <p:cNvSpPr>
            <a:spLocks noGrp="1"/>
          </p:cNvSpPr>
          <p:nvPr/>
        </p:nvSpPr>
        <p:spPr>
          <a:xfrm>
            <a:off x="1095375" y="2819400"/>
            <a:ext cx="1304925" cy="1304925"/>
          </a:xfrm>
          <a:prstGeom prst="rect">
            <a:avLst/>
          </a:prstGeom>
          <a:solidFill>
            <a:srgbClr val="E5EFF6"/>
          </a:solidFill>
          <a:ln w="14288">
            <a:solidFill>
              <a:srgbClr val="2464A0"/>
            </a:solidFill>
          </a:ln>
        </p:spPr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9C59AD4-28C0-497D-951E-AD7394354C6F}"/>
              </a:ext>
            </a:extLst>
          </p:cNvPr>
          <p:cNvSpPr>
            <a:spLocks noGrp="1"/>
          </p:cNvSpPr>
          <p:nvPr/>
        </p:nvSpPr>
        <p:spPr>
          <a:xfrm>
            <a:off x="1352550" y="3105150"/>
            <a:ext cx="123825" cy="123825"/>
          </a:xfrm>
          <a:prstGeom prst="ellipse">
            <a:avLst/>
          </a:prstGeom>
          <a:solidFill>
            <a:srgbClr val="CC5348"/>
          </a:solidFill>
          <a:ln w="0">
            <a:noFill/>
          </a:ln>
        </p:spPr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E7A5235-8799-4D84-B17A-ED56B8402C59}"/>
              </a:ext>
            </a:extLst>
          </p:cNvPr>
          <p:cNvSpPr>
            <a:spLocks noGrp="1"/>
          </p:cNvSpPr>
          <p:nvPr/>
        </p:nvSpPr>
        <p:spPr>
          <a:xfrm>
            <a:off x="1724025" y="3333750"/>
            <a:ext cx="123825" cy="123825"/>
          </a:xfrm>
          <a:prstGeom prst="ellipse">
            <a:avLst/>
          </a:prstGeom>
          <a:solidFill>
            <a:srgbClr val="CC5348"/>
          </a:solidFill>
          <a:ln w="0">
            <a:noFill/>
          </a:ln>
        </p:spPr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6883239-46FE-4505-B431-C0F3FF4FD3B9}"/>
              </a:ext>
            </a:extLst>
          </p:cNvPr>
          <p:cNvSpPr>
            <a:spLocks noGrp="1"/>
          </p:cNvSpPr>
          <p:nvPr/>
        </p:nvSpPr>
        <p:spPr>
          <a:xfrm>
            <a:off x="2095500" y="3771900"/>
            <a:ext cx="123825" cy="123825"/>
          </a:xfrm>
          <a:prstGeom prst="ellipse">
            <a:avLst/>
          </a:prstGeom>
          <a:solidFill>
            <a:srgbClr val="347AB0"/>
          </a:solidFill>
          <a:ln w="0">
            <a:noFill/>
          </a:ln>
        </p:spPr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404336F-1289-469F-A5B7-92254B7F1154}"/>
              </a:ext>
            </a:extLst>
          </p:cNvPr>
          <p:cNvSpPr>
            <a:spLocks noGrp="1"/>
          </p:cNvSpPr>
          <p:nvPr/>
        </p:nvSpPr>
        <p:spPr>
          <a:xfrm>
            <a:off x="1533525" y="3857625"/>
            <a:ext cx="123825" cy="123825"/>
          </a:xfrm>
          <a:prstGeom prst="ellipse">
            <a:avLst/>
          </a:prstGeom>
          <a:solidFill>
            <a:srgbClr val="347AB0"/>
          </a:solidFill>
          <a:ln w="0">
            <a:noFill/>
          </a:ln>
        </p:spPr>
      </p:sp>
      <p:sp>
        <p:nvSpPr>
          <p:cNvPr id="12" name="한 복셀 내부의 점 집계">
            <a:extLst>
              <a:ext uri="{FF2B5EF4-FFF2-40B4-BE49-F238E27FC236}">
                <a16:creationId xmlns:a16="http://schemas.microsoft.com/office/drawing/2014/main" id="{4C0B9CE4-AF7A-45C6-B0D4-1FE8C49D0FAA}"/>
              </a:ext>
            </a:extLst>
          </p:cNvPr>
          <p:cNvSpPr>
            <a:spLocks noGrp="1"/>
          </p:cNvSpPr>
          <p:nvPr/>
        </p:nvSpPr>
        <p:spPr>
          <a:xfrm>
            <a:off x="638175" y="4600575"/>
            <a:ext cx="26003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한 복셀 내부의 점 집계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A5046603-C195-4C31-9D09-FE573C8AACAD}"/>
              </a:ext>
            </a:extLst>
          </p:cNvPr>
          <p:cNvSpPr>
            <a:spLocks noGrp="1"/>
          </p:cNvSpPr>
          <p:nvPr/>
        </p:nvSpPr>
        <p:spPr>
          <a:xfrm>
            <a:off x="2895600" y="3476625"/>
            <a:ext cx="523875" cy="0"/>
          </a:xfrm>
          <a:prstGeom prst="line">
            <a:avLst/>
          </a:prstGeom>
          <a:noFill/>
          <a:ln w="19050">
            <a:solidFill>
              <a:srgbClr val="8D98A5"/>
            </a:solidFill>
          </a:ln>
        </p:spPr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D433BB0E-C174-45E4-8B97-3F26C3B781C4}"/>
              </a:ext>
            </a:extLst>
          </p:cNvPr>
          <p:cNvSpPr>
            <a:spLocks noGrp="1"/>
          </p:cNvSpPr>
          <p:nvPr/>
        </p:nvSpPr>
        <p:spPr>
          <a:xfrm>
            <a:off x="3419475" y="2438400"/>
            <a:ext cx="0" cy="2895600"/>
          </a:xfrm>
          <a:prstGeom prst="line">
            <a:avLst/>
          </a:prstGeom>
          <a:noFill/>
          <a:ln w="19050">
            <a:solidFill>
              <a:srgbClr val="8D98A5"/>
            </a:solidFill>
          </a:ln>
        </p:spPr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A488CAA-F75A-4B6F-AFEB-230D77ED9898}"/>
              </a:ext>
            </a:extLst>
          </p:cNvPr>
          <p:cNvSpPr>
            <a:spLocks noGrp="1"/>
          </p:cNvSpPr>
          <p:nvPr/>
        </p:nvSpPr>
        <p:spPr>
          <a:xfrm>
            <a:off x="3419475" y="2343150"/>
            <a:ext cx="428625" cy="190500"/>
          </a:xfrm>
          <a:prstGeom prst="rightArrow">
            <a:avLst/>
          </a:prstGeom>
          <a:solidFill>
            <a:srgbClr val="2464A0"/>
          </a:solidFill>
          <a:ln w="0">
            <a:noFill/>
          </a:ln>
        </p:spPr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9BF6AFB-DF7D-4954-BA17-2AD7FAFE83BE}"/>
              </a:ext>
            </a:extLst>
          </p:cNvPr>
          <p:cNvSpPr>
            <a:spLocks noGrp="1"/>
          </p:cNvSpPr>
          <p:nvPr/>
        </p:nvSpPr>
        <p:spPr>
          <a:xfrm>
            <a:off x="3419475" y="3600450"/>
            <a:ext cx="428625" cy="190500"/>
          </a:xfrm>
          <a:prstGeom prst="rightArrow">
            <a:avLst/>
          </a:prstGeom>
          <a:solidFill>
            <a:srgbClr val="008C96"/>
          </a:solidFill>
          <a:ln w="0">
            <a:noFill/>
          </a:ln>
        </p:spPr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265F62C8-EC35-4463-B425-A53D36854475}"/>
              </a:ext>
            </a:extLst>
          </p:cNvPr>
          <p:cNvSpPr>
            <a:spLocks noGrp="1"/>
          </p:cNvSpPr>
          <p:nvPr/>
        </p:nvSpPr>
        <p:spPr>
          <a:xfrm>
            <a:off x="3419475" y="5229225"/>
            <a:ext cx="428625" cy="190500"/>
          </a:xfrm>
          <a:prstGeom prst="rightArrow">
            <a:avLst/>
          </a:prstGeom>
          <a:solidFill>
            <a:srgbClr val="B08742"/>
          </a:solidFill>
          <a:ln w="0">
            <a:noFill/>
          </a:ln>
        </p:spPr>
      </p:sp>
      <p:sp>
        <p:nvSpPr>
          <p:cNvPr id="18" name="좌표 배열 [N, 3]">
            <a:extLst>
              <a:ext uri="{FF2B5EF4-FFF2-40B4-BE49-F238E27FC236}">
                <a16:creationId xmlns:a16="http://schemas.microsoft.com/office/drawing/2014/main" id="{2094EBE7-8135-4538-B664-E0DFA867BAEF}"/>
              </a:ext>
            </a:extLst>
          </p:cNvPr>
          <p:cNvSpPr>
            <a:spLocks noGrp="1"/>
          </p:cNvSpPr>
          <p:nvPr/>
        </p:nvSpPr>
        <p:spPr>
          <a:xfrm>
            <a:off x="3981450" y="1743075"/>
            <a:ext cx="3181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rPr>
              <a:t>좌표 배열 [N, 3]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4EA6A932-BDA5-4D44-88DF-F923551E02B5}"/>
              </a:ext>
            </a:extLst>
          </p:cNvPr>
          <p:cNvSpPr>
            <a:spLocks noGrp="1"/>
          </p:cNvSpPr>
          <p:nvPr/>
        </p:nvSpPr>
        <p:spPr>
          <a:xfrm>
            <a:off x="4095750" y="2209800"/>
            <a:ext cx="0" cy="628650"/>
          </a:xfrm>
          <a:prstGeom prst="line">
            <a:avLst/>
          </a:prstGeom>
          <a:noFill/>
          <a:ln w="20955">
            <a:solidFill>
              <a:srgbClr val="2464A0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55182562-66C7-4F33-B118-2D090B7EC301}"/>
              </a:ext>
            </a:extLst>
          </p:cNvPr>
          <p:cNvSpPr>
            <a:spLocks noGrp="1"/>
          </p:cNvSpPr>
          <p:nvPr/>
        </p:nvSpPr>
        <p:spPr>
          <a:xfrm>
            <a:off x="4095750" y="2209800"/>
            <a:ext cx="142875" cy="0"/>
          </a:xfrm>
          <a:prstGeom prst="line">
            <a:avLst/>
          </a:prstGeom>
          <a:noFill/>
          <a:ln w="20955">
            <a:solidFill>
              <a:srgbClr val="2464A0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C384C077-12A7-4725-8B87-C3319BFDD4F3}"/>
              </a:ext>
            </a:extLst>
          </p:cNvPr>
          <p:cNvSpPr>
            <a:spLocks noGrp="1"/>
          </p:cNvSpPr>
          <p:nvPr/>
        </p:nvSpPr>
        <p:spPr>
          <a:xfrm>
            <a:off x="4095750" y="2838450"/>
            <a:ext cx="142875" cy="0"/>
          </a:xfrm>
          <a:prstGeom prst="line">
            <a:avLst/>
          </a:prstGeom>
          <a:noFill/>
          <a:ln w="20955">
            <a:solidFill>
              <a:srgbClr val="2464A0"/>
            </a:solidFill>
          </a:ln>
        </p:spPr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858F7FE2-73BA-4FD9-BF91-C84FED30B140}"/>
              </a:ext>
            </a:extLst>
          </p:cNvPr>
          <p:cNvSpPr>
            <a:spLocks noGrp="1"/>
          </p:cNvSpPr>
          <p:nvPr/>
        </p:nvSpPr>
        <p:spPr>
          <a:xfrm>
            <a:off x="7048500" y="2209800"/>
            <a:ext cx="0" cy="628650"/>
          </a:xfrm>
          <a:prstGeom prst="line">
            <a:avLst/>
          </a:prstGeom>
          <a:noFill/>
          <a:ln w="20955">
            <a:solidFill>
              <a:srgbClr val="2464A0"/>
            </a:solidFill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4EEEFB0C-75D7-492B-AF95-804724A5B044}"/>
              </a:ext>
            </a:extLst>
          </p:cNvPr>
          <p:cNvSpPr>
            <a:spLocks noGrp="1"/>
          </p:cNvSpPr>
          <p:nvPr/>
        </p:nvSpPr>
        <p:spPr>
          <a:xfrm>
            <a:off x="6905625" y="2209800"/>
            <a:ext cx="142875" cy="0"/>
          </a:xfrm>
          <a:prstGeom prst="line">
            <a:avLst/>
          </a:prstGeom>
          <a:noFill/>
          <a:ln w="20955">
            <a:solidFill>
              <a:srgbClr val="2464A0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A18F9C05-A62C-4746-A085-2E67AE2301DF}"/>
              </a:ext>
            </a:extLst>
          </p:cNvPr>
          <p:cNvSpPr>
            <a:spLocks noGrp="1"/>
          </p:cNvSpPr>
          <p:nvPr/>
        </p:nvSpPr>
        <p:spPr>
          <a:xfrm>
            <a:off x="6905625" y="2838450"/>
            <a:ext cx="142875" cy="0"/>
          </a:xfrm>
          <a:prstGeom prst="line">
            <a:avLst/>
          </a:prstGeom>
          <a:noFill/>
          <a:ln w="20955">
            <a:solidFill>
              <a:srgbClr val="2464A0"/>
            </a:solidFill>
          </a:ln>
        </p:spPr>
      </p:sp>
      <p:sp>
        <p:nvSpPr>
          <p:cNvPr id="25" name="i₁   j₁   k₁   …">
            <a:extLst>
              <a:ext uri="{FF2B5EF4-FFF2-40B4-BE49-F238E27FC236}">
                <a16:creationId xmlns:a16="http://schemas.microsoft.com/office/drawing/2014/main" id="{12416A4A-BAB6-4A12-A324-A97BBB8CA75A}"/>
              </a:ext>
            </a:extLst>
          </p:cNvPr>
          <p:cNvSpPr>
            <a:spLocks noGrp="1"/>
          </p:cNvSpPr>
          <p:nvPr/>
        </p:nvSpPr>
        <p:spPr>
          <a:xfrm>
            <a:off x="4333875" y="2276475"/>
            <a:ext cx="2476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i₁   j₁   k₁   …</a:t>
            </a:r>
          </a:p>
        </p:txBody>
      </p:sp>
      <p:sp>
        <p:nvSpPr>
          <p:cNvPr id="26" name="입력 특징 [N, 7]">
            <a:extLst>
              <a:ext uri="{FF2B5EF4-FFF2-40B4-BE49-F238E27FC236}">
                <a16:creationId xmlns:a16="http://schemas.microsoft.com/office/drawing/2014/main" id="{5D63BF10-643B-4370-AEF5-8E0839230CB8}"/>
              </a:ext>
            </a:extLst>
          </p:cNvPr>
          <p:cNvSpPr>
            <a:spLocks noGrp="1"/>
          </p:cNvSpPr>
          <p:nvPr/>
        </p:nvSpPr>
        <p:spPr>
          <a:xfrm>
            <a:off x="3981450" y="3000375"/>
            <a:ext cx="3181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입력 특징 [N, 7]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A09805AD-BB67-4D61-B132-5BFB961E50A4}"/>
              </a:ext>
            </a:extLst>
          </p:cNvPr>
          <p:cNvSpPr>
            <a:spLocks noGrp="1"/>
          </p:cNvSpPr>
          <p:nvPr/>
        </p:nvSpPr>
        <p:spPr>
          <a:xfrm>
            <a:off x="4095750" y="3467100"/>
            <a:ext cx="0" cy="628650"/>
          </a:xfrm>
          <a:prstGeom prst="line">
            <a:avLst/>
          </a:prstGeom>
          <a:noFill/>
          <a:ln w="20955">
            <a:solidFill>
              <a:srgbClr val="008C96"/>
            </a:solidFill>
          </a:ln>
        </p:spPr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51A57BAE-182D-4B12-AF8B-B9EF896762E2}"/>
              </a:ext>
            </a:extLst>
          </p:cNvPr>
          <p:cNvSpPr>
            <a:spLocks noGrp="1"/>
          </p:cNvSpPr>
          <p:nvPr/>
        </p:nvSpPr>
        <p:spPr>
          <a:xfrm>
            <a:off x="4095750" y="3467100"/>
            <a:ext cx="142875" cy="0"/>
          </a:xfrm>
          <a:prstGeom prst="line">
            <a:avLst/>
          </a:prstGeom>
          <a:noFill/>
          <a:ln w="20955">
            <a:solidFill>
              <a:srgbClr val="008C96"/>
            </a:solidFill>
          </a:ln>
        </p:spPr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3BCBBF41-6E89-4827-A809-7B83799F974F}"/>
              </a:ext>
            </a:extLst>
          </p:cNvPr>
          <p:cNvSpPr>
            <a:spLocks noGrp="1"/>
          </p:cNvSpPr>
          <p:nvPr/>
        </p:nvSpPr>
        <p:spPr>
          <a:xfrm>
            <a:off x="4095750" y="4095750"/>
            <a:ext cx="142875" cy="0"/>
          </a:xfrm>
          <a:prstGeom prst="line">
            <a:avLst/>
          </a:prstGeom>
          <a:noFill/>
          <a:ln w="20955">
            <a:solidFill>
              <a:srgbClr val="008C96"/>
            </a:solidFill>
          </a:ln>
        </p:spPr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A2FEE201-6BC6-4B2E-9A54-732FBB85A48A}"/>
              </a:ext>
            </a:extLst>
          </p:cNvPr>
          <p:cNvSpPr>
            <a:spLocks noGrp="1"/>
          </p:cNvSpPr>
          <p:nvPr/>
        </p:nvSpPr>
        <p:spPr>
          <a:xfrm>
            <a:off x="7048500" y="3467100"/>
            <a:ext cx="0" cy="628650"/>
          </a:xfrm>
          <a:prstGeom prst="line">
            <a:avLst/>
          </a:prstGeom>
          <a:noFill/>
          <a:ln w="20955">
            <a:solidFill>
              <a:srgbClr val="008C96"/>
            </a:solidFill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3D6530BA-813F-4DFF-93B6-37172B6E297A}"/>
              </a:ext>
            </a:extLst>
          </p:cNvPr>
          <p:cNvSpPr>
            <a:spLocks noGrp="1"/>
          </p:cNvSpPr>
          <p:nvPr/>
        </p:nvSpPr>
        <p:spPr>
          <a:xfrm>
            <a:off x="6905625" y="3467100"/>
            <a:ext cx="142875" cy="0"/>
          </a:xfrm>
          <a:prstGeom prst="line">
            <a:avLst/>
          </a:prstGeom>
          <a:noFill/>
          <a:ln w="20955">
            <a:solidFill>
              <a:srgbClr val="008C96"/>
            </a:solidFill>
          </a:ln>
        </p:spPr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89AC9866-9E1F-43FD-BA40-FF587CD829F8}"/>
              </a:ext>
            </a:extLst>
          </p:cNvPr>
          <p:cNvSpPr>
            <a:spLocks noGrp="1"/>
          </p:cNvSpPr>
          <p:nvPr/>
        </p:nvSpPr>
        <p:spPr>
          <a:xfrm>
            <a:off x="6905625" y="4095750"/>
            <a:ext cx="142875" cy="0"/>
          </a:xfrm>
          <a:prstGeom prst="line">
            <a:avLst/>
          </a:prstGeom>
          <a:noFill/>
          <a:ln w="20955">
            <a:solidFill>
              <a:srgbClr val="008C96"/>
            </a:solidFill>
          </a:ln>
        </p:spPr>
      </p:sp>
      <p:sp>
        <p:nvSpPr>
          <p:cNvPr id="33" name="f₁   f₂   …   f₇">
            <a:extLst>
              <a:ext uri="{FF2B5EF4-FFF2-40B4-BE49-F238E27FC236}">
                <a16:creationId xmlns:a16="http://schemas.microsoft.com/office/drawing/2014/main" id="{46BE0F2A-3CBF-4121-81CB-023230AE1CF6}"/>
              </a:ext>
            </a:extLst>
          </p:cNvPr>
          <p:cNvSpPr>
            <a:spLocks noGrp="1"/>
          </p:cNvSpPr>
          <p:nvPr/>
        </p:nvSpPr>
        <p:spPr>
          <a:xfrm>
            <a:off x="4333875" y="3533775"/>
            <a:ext cx="2476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f₁   f₂   …   f₇</a:t>
            </a:r>
          </a:p>
        </p:txBody>
      </p:sp>
      <p:sp>
        <p:nvSpPr>
          <p:cNvPr id="34" name="정답 라벨 [N]">
            <a:extLst>
              <a:ext uri="{FF2B5EF4-FFF2-40B4-BE49-F238E27FC236}">
                <a16:creationId xmlns:a16="http://schemas.microsoft.com/office/drawing/2014/main" id="{10AEB7F1-B86F-4874-8CE8-E07692DF5A86}"/>
              </a:ext>
            </a:extLst>
          </p:cNvPr>
          <p:cNvSpPr>
            <a:spLocks noGrp="1"/>
          </p:cNvSpPr>
          <p:nvPr/>
        </p:nvSpPr>
        <p:spPr>
          <a:xfrm>
            <a:off x="3981450" y="4638675"/>
            <a:ext cx="3181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9A79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9A793E"/>
                </a:solidFill>
                <a:latin typeface="Malgun Gothic"/>
                <a:ea typeface="Malgun Gothic"/>
                <a:cs typeface="Malgun Gothic"/>
              </a:rPr>
              <a:t>정답 라벨 [N]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D4EE7E7F-4704-43CF-8C1F-17142F068226}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0" cy="628650"/>
          </a:xfrm>
          <a:prstGeom prst="line">
            <a:avLst/>
          </a:prstGeom>
          <a:noFill/>
          <a:ln w="20955">
            <a:solidFill>
              <a:srgbClr val="9A793E"/>
            </a:solidFill>
          </a:ln>
        </p:spPr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30C980A5-EDD6-4A9F-84D0-1DE18AE2E1D5}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142875" cy="0"/>
          </a:xfrm>
          <a:prstGeom prst="line">
            <a:avLst/>
          </a:prstGeom>
          <a:noFill/>
          <a:ln w="20955">
            <a:solidFill>
              <a:srgbClr val="9A793E"/>
            </a:solidFill>
          </a:ln>
        </p:spPr>
      </p:sp>
      <p:sp>
        <p:nvSpPr>
          <p:cNvPr id="37" name="직선 연결선 36">
            <a:extLst>
              <a:ext uri="{FF2B5EF4-FFF2-40B4-BE49-F238E27FC236}">
                <a16:creationId xmlns:a16="http://schemas.microsoft.com/office/drawing/2014/main" id="{91E32BA2-CE0B-4A09-8328-DEDC2088AAFB}"/>
              </a:ext>
            </a:extLst>
          </p:cNvPr>
          <p:cNvSpPr>
            <a:spLocks noGrp="1"/>
          </p:cNvSpPr>
          <p:nvPr/>
        </p:nvSpPr>
        <p:spPr>
          <a:xfrm>
            <a:off x="4095750" y="5734050"/>
            <a:ext cx="142875" cy="0"/>
          </a:xfrm>
          <a:prstGeom prst="line">
            <a:avLst/>
          </a:prstGeom>
          <a:noFill/>
          <a:ln w="20955">
            <a:solidFill>
              <a:srgbClr val="9A793E"/>
            </a:solidFill>
          </a:ln>
        </p:spPr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5228342-6743-4F3C-BB1B-9A43EAD285E6}"/>
              </a:ext>
            </a:extLst>
          </p:cNvPr>
          <p:cNvSpPr>
            <a:spLocks noGrp="1"/>
          </p:cNvSpPr>
          <p:nvPr/>
        </p:nvSpPr>
        <p:spPr>
          <a:xfrm>
            <a:off x="7048500" y="5105400"/>
            <a:ext cx="0" cy="628650"/>
          </a:xfrm>
          <a:prstGeom prst="line">
            <a:avLst/>
          </a:prstGeom>
          <a:noFill/>
          <a:ln w="20955">
            <a:solidFill>
              <a:srgbClr val="9A793E"/>
            </a:solidFill>
          </a:ln>
        </p:spPr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2E71D729-D22C-4B56-9A0D-51AB7DB5DC93}"/>
              </a:ext>
            </a:extLst>
          </p:cNvPr>
          <p:cNvSpPr>
            <a:spLocks noGrp="1"/>
          </p:cNvSpPr>
          <p:nvPr/>
        </p:nvSpPr>
        <p:spPr>
          <a:xfrm>
            <a:off x="6905625" y="5105400"/>
            <a:ext cx="142875" cy="0"/>
          </a:xfrm>
          <a:prstGeom prst="line">
            <a:avLst/>
          </a:prstGeom>
          <a:noFill/>
          <a:ln w="20955">
            <a:solidFill>
              <a:srgbClr val="9A793E"/>
            </a:solidFill>
          </a:ln>
        </p:spPr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F2C0F2A1-B808-4782-A86B-9364999CDF6E}"/>
              </a:ext>
            </a:extLst>
          </p:cNvPr>
          <p:cNvSpPr>
            <a:spLocks noGrp="1"/>
          </p:cNvSpPr>
          <p:nvPr/>
        </p:nvSpPr>
        <p:spPr>
          <a:xfrm>
            <a:off x="6905625" y="5734050"/>
            <a:ext cx="142875" cy="0"/>
          </a:xfrm>
          <a:prstGeom prst="line">
            <a:avLst/>
          </a:prstGeom>
          <a:noFill/>
          <a:ln w="20955">
            <a:solidFill>
              <a:srgbClr val="9A793E"/>
            </a:solidFill>
          </a:ln>
        </p:spPr>
      </p:sp>
      <p:sp>
        <p:nvSpPr>
          <p:cNvPr id="41" name="y₁   y₂   …   yN">
            <a:extLst>
              <a:ext uri="{FF2B5EF4-FFF2-40B4-BE49-F238E27FC236}">
                <a16:creationId xmlns:a16="http://schemas.microsoft.com/office/drawing/2014/main" id="{D7047C8D-6FE8-4CF6-906E-2BDEC6E6DD0A}"/>
              </a:ext>
            </a:extLst>
          </p:cNvPr>
          <p:cNvSpPr>
            <a:spLocks noGrp="1"/>
          </p:cNvSpPr>
          <p:nvPr/>
        </p:nvSpPr>
        <p:spPr>
          <a:xfrm>
            <a:off x="4333875" y="5172075"/>
            <a:ext cx="2476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y₁   y₂   …   yN</a:t>
            </a:r>
          </a:p>
        </p:txBody>
      </p:sp>
      <p:sp>
        <p:nvSpPr>
          <p:cNvPr id="42" name="직선 연결선 41">
            <a:extLst>
              <a:ext uri="{FF2B5EF4-FFF2-40B4-BE49-F238E27FC236}">
                <a16:creationId xmlns:a16="http://schemas.microsoft.com/office/drawing/2014/main" id="{F33CAC5F-57F4-4CC5-A105-D937555AE8BF}"/>
              </a:ext>
            </a:extLst>
          </p:cNvPr>
          <p:cNvSpPr>
            <a:spLocks noGrp="1"/>
          </p:cNvSpPr>
          <p:nvPr/>
        </p:nvSpPr>
        <p:spPr>
          <a:xfrm>
            <a:off x="7372350" y="2447925"/>
            <a:ext cx="495300" cy="0"/>
          </a:xfrm>
          <a:prstGeom prst="line">
            <a:avLst/>
          </a:prstGeom>
          <a:noFill/>
          <a:ln w="19050">
            <a:solidFill>
              <a:srgbClr val="2464A0"/>
            </a:solidFill>
          </a:ln>
        </p:spPr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50AD5C1A-58D6-4B9A-85C5-904E90A0BD17}"/>
              </a:ext>
            </a:extLst>
          </p:cNvPr>
          <p:cNvSpPr>
            <a:spLocks noGrp="1"/>
          </p:cNvSpPr>
          <p:nvPr/>
        </p:nvSpPr>
        <p:spPr>
          <a:xfrm>
            <a:off x="7372350" y="3705225"/>
            <a:ext cx="495300" cy="0"/>
          </a:xfrm>
          <a:prstGeom prst="line">
            <a:avLst/>
          </a:prstGeom>
          <a:noFill/>
          <a:ln w="19050">
            <a:solidFill>
              <a:srgbClr val="008C96"/>
            </a:solidFill>
          </a:ln>
        </p:spPr>
      </p:sp>
      <p:sp>
        <p:nvSpPr>
          <p:cNvPr id="44" name="직선 연결선 43">
            <a:extLst>
              <a:ext uri="{FF2B5EF4-FFF2-40B4-BE49-F238E27FC236}">
                <a16:creationId xmlns:a16="http://schemas.microsoft.com/office/drawing/2014/main" id="{CB9C0299-FF9F-47A5-929A-E1695A0223AA}"/>
              </a:ext>
            </a:extLst>
          </p:cNvPr>
          <p:cNvSpPr>
            <a:spLocks noGrp="1"/>
          </p:cNvSpPr>
          <p:nvPr/>
        </p:nvSpPr>
        <p:spPr>
          <a:xfrm>
            <a:off x="7867650" y="2447925"/>
            <a:ext cx="0" cy="1257300"/>
          </a:xfrm>
          <a:prstGeom prst="line">
            <a:avLst/>
          </a:prstGeom>
          <a:noFill/>
          <a:ln w="19050">
            <a:solidFill>
              <a:srgbClr val="2464A0"/>
            </a:solidFill>
          </a:ln>
        </p:spPr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859AB121-88E1-43CF-9084-D87A1387E9B7}"/>
              </a:ext>
            </a:extLst>
          </p:cNvPr>
          <p:cNvSpPr>
            <a:spLocks noGrp="1"/>
          </p:cNvSpPr>
          <p:nvPr/>
        </p:nvSpPr>
        <p:spPr>
          <a:xfrm>
            <a:off x="7867650" y="2971800"/>
            <a:ext cx="619125" cy="228600"/>
          </a:xfrm>
          <a:prstGeom prst="rightArrow">
            <a:avLst/>
          </a:prstGeom>
          <a:solidFill>
            <a:srgbClr val="2464A0"/>
          </a:solidFill>
          <a:ln w="0">
            <a:noFill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A47D235-0464-4C6B-9960-823CE0EAE7F3}"/>
              </a:ext>
            </a:extLst>
          </p:cNvPr>
          <p:cNvSpPr>
            <a:spLocks noGrp="1"/>
          </p:cNvSpPr>
          <p:nvPr/>
        </p:nvSpPr>
        <p:spPr>
          <a:xfrm>
            <a:off x="8639175" y="2200275"/>
            <a:ext cx="2533650" cy="1790700"/>
          </a:xfrm>
          <a:prstGeom prst="rect">
            <a:avLst/>
          </a:prstGeom>
          <a:solidFill>
            <a:srgbClr val="F0F5F9"/>
          </a:solidFill>
          <a:ln w="14288">
            <a:solidFill>
              <a:srgbClr val="2464A0"/>
            </a:solidFill>
          </a:ln>
        </p:spPr>
      </p:sp>
      <p:sp>
        <p:nvSpPr>
          <p:cNvPr id="47" name="Sparse 3D CNN">
            <a:extLst>
              <a:ext uri="{FF2B5EF4-FFF2-40B4-BE49-F238E27FC236}">
                <a16:creationId xmlns:a16="http://schemas.microsoft.com/office/drawing/2014/main" id="{1429D009-50D9-447B-A6C1-C77371FF5270}"/>
              </a:ext>
            </a:extLst>
          </p:cNvPr>
          <p:cNvSpPr>
            <a:spLocks noGrp="1"/>
          </p:cNvSpPr>
          <p:nvPr/>
        </p:nvSpPr>
        <p:spPr>
          <a:xfrm>
            <a:off x="8782050" y="2457450"/>
            <a:ext cx="2247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Sparse 3D CNN</a:t>
            </a:r>
          </a:p>
        </p:txBody>
      </p:sp>
      <p:sp>
        <p:nvSpPr>
          <p:cNvPr id="48" name="위치와 특징을 활용한&#10;복셀별 클래스 예측">
            <a:extLst>
              <a:ext uri="{FF2B5EF4-FFF2-40B4-BE49-F238E27FC236}">
                <a16:creationId xmlns:a16="http://schemas.microsoft.com/office/drawing/2014/main" id="{74A757D1-D73D-41A8-83B7-8192BB89660A}"/>
              </a:ext>
            </a:extLst>
          </p:cNvPr>
          <p:cNvSpPr>
            <a:spLocks noGrp="1"/>
          </p:cNvSpPr>
          <p:nvPr/>
        </p:nvSpPr>
        <p:spPr>
          <a:xfrm>
            <a:off x="8782050" y="3105150"/>
            <a:ext cx="2247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위치와 특징을 활용한</a:t>
            </a:r>
          </a:p>
          <a:p>
            <a:pPr algn="ctr">
              <a:defRPr sz="180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복셀별 클래스 예측</a:t>
            </a:r>
          </a:p>
        </p:txBody>
      </p:sp>
      <p:sp>
        <p:nvSpPr>
          <p:cNvPr id="49" name="화살표: 아래쪽 48">
            <a:extLst>
              <a:ext uri="{FF2B5EF4-FFF2-40B4-BE49-F238E27FC236}">
                <a16:creationId xmlns:a16="http://schemas.microsoft.com/office/drawing/2014/main" id="{8C4DEF65-6805-4DAA-981A-58F5F4DC61FC}"/>
              </a:ext>
            </a:extLst>
          </p:cNvPr>
          <p:cNvSpPr>
            <a:spLocks noGrp="1"/>
          </p:cNvSpPr>
          <p:nvPr/>
        </p:nvSpPr>
        <p:spPr>
          <a:xfrm>
            <a:off x="9782175" y="4124325"/>
            <a:ext cx="238125" cy="581025"/>
          </a:xfrm>
          <a:prstGeom prst="downArrow">
            <a:avLst/>
          </a:prstGeom>
          <a:solidFill>
            <a:srgbClr val="2464A0"/>
          </a:solidFill>
          <a:ln w="0">
            <a:noFill/>
          </a:ln>
        </p:spPr>
      </p:sp>
      <p:sp>
        <p:nvSpPr>
          <p:cNvPr id="50" name="예측 결과">
            <a:extLst>
              <a:ext uri="{FF2B5EF4-FFF2-40B4-BE49-F238E27FC236}">
                <a16:creationId xmlns:a16="http://schemas.microsoft.com/office/drawing/2014/main" id="{0F010F63-B610-4402-95CD-C68DAF60D6C4}"/>
              </a:ext>
            </a:extLst>
          </p:cNvPr>
          <p:cNvSpPr>
            <a:spLocks noGrp="1"/>
          </p:cNvSpPr>
          <p:nvPr/>
        </p:nvSpPr>
        <p:spPr>
          <a:xfrm>
            <a:off x="10287000" y="4276725"/>
            <a:ext cx="12287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예측 결과</a:t>
            </a:r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82CD51BD-E6BF-4E6F-83A0-47C3F5F773B8}"/>
              </a:ext>
            </a:extLst>
          </p:cNvPr>
          <p:cNvSpPr>
            <a:spLocks noGrp="1"/>
          </p:cNvSpPr>
          <p:nvPr/>
        </p:nvSpPr>
        <p:spPr>
          <a:xfrm>
            <a:off x="7372350" y="5229225"/>
            <a:ext cx="990600" cy="219075"/>
          </a:xfrm>
          <a:prstGeom prst="rightArrow">
            <a:avLst/>
          </a:prstGeom>
          <a:solidFill>
            <a:srgbClr val="B08742"/>
          </a:solidFill>
          <a:ln w="0">
            <a:noFill/>
          </a:ln>
        </p:spPr>
      </p:sp>
      <p:sp>
        <p:nvSpPr>
          <p:cNvPr id="52" name="예측·정답 비교">
            <a:extLst>
              <a:ext uri="{FF2B5EF4-FFF2-40B4-BE49-F238E27FC236}">
                <a16:creationId xmlns:a16="http://schemas.microsoft.com/office/drawing/2014/main" id="{4E5C8D75-CA8A-4012-9558-4189769CB992}"/>
              </a:ext>
            </a:extLst>
          </p:cNvPr>
          <p:cNvSpPr>
            <a:spLocks noGrp="1"/>
          </p:cNvSpPr>
          <p:nvPr/>
        </p:nvSpPr>
        <p:spPr>
          <a:xfrm>
            <a:off x="8591550" y="5095875"/>
            <a:ext cx="26479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예측·정답 비교</a:t>
            </a:r>
          </a:p>
        </p:txBody>
      </p:sp>
      <p:sp>
        <p:nvSpPr>
          <p:cNvPr id="53" name="지도학습 수행">
            <a:extLst>
              <a:ext uri="{FF2B5EF4-FFF2-40B4-BE49-F238E27FC236}">
                <a16:creationId xmlns:a16="http://schemas.microsoft.com/office/drawing/2014/main" id="{5796FC38-436E-4031-92F3-F2172FD6B690}"/>
              </a:ext>
            </a:extLst>
          </p:cNvPr>
          <p:cNvSpPr>
            <a:spLocks noGrp="1"/>
          </p:cNvSpPr>
          <p:nvPr/>
        </p:nvSpPr>
        <p:spPr>
          <a:xfrm>
            <a:off x="8620125" y="5591175"/>
            <a:ext cx="2571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지도학습 수행</a:t>
            </a:r>
          </a:p>
        </p:txBody>
      </p:sp>
      <p:sp>
        <p:nvSpPr>
          <p:cNvPr id="54" name="N: 점유 복셀 수. 색상 대표값과 입력 공간 범위의 구성에 ">
            <a:extLst>
              <a:ext uri="{FF2B5EF4-FFF2-40B4-BE49-F238E27FC236}">
                <a16:creationId xmlns:a16="http://schemas.microsoft.com/office/drawing/2014/main" id="{D946BD50-2B97-46BF-839D-CE9920DC13C3}"/>
              </a:ext>
            </a:extLst>
          </p:cNvPr>
          <p:cNvSpPr>
            <a:spLocks noGrp="1"/>
          </p:cNvSpPr>
          <p:nvPr/>
        </p:nvSpPr>
        <p:spPr>
          <a:xfrm>
            <a:off x="628650" y="6229350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N: 점유 복셀 수. 색상 대표값과 입력 공간 범위의 구성에 따른 학습 정보 차이</a:t>
            </a:r>
          </a:p>
        </p:txBody>
      </p:sp>
    </p:spTree>
    <p:extLst>
      <p:ext uri="{BB962C8B-B14F-4D97-AF65-F5344CB8AC3E}">
        <p14:creationId xmlns:p14="http://schemas.microsoft.com/office/powerpoint/2010/main" val="461404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색상 대표값: 평균 RGB와 RGB-16">
            <a:extLst>
              <a:ext uri="{FF2B5EF4-FFF2-40B4-BE49-F238E27FC236}">
                <a16:creationId xmlns:a16="http://schemas.microsoft.com/office/drawing/2014/main" id="{A7676616-B1BE-468D-9C2C-5CC94CF8287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02. </a:t>
            </a:r>
            <a:r>
              <a:rPr lang="ko-KR" altLang="en-US"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복셀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데이터 구축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색상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대표값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평균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RGB와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RGB-16</a:t>
            </a:r>
          </a:p>
        </p:txBody>
      </p:sp>
      <p:sp>
        <p:nvSpPr>
          <p:cNvPr id="2" name="가장 많은 점이 속한 색상 구간의 원본 RGB 평균 산출">
            <a:extLst>
              <a:ext uri="{FF2B5EF4-FFF2-40B4-BE49-F238E27FC236}">
                <a16:creationId xmlns:a16="http://schemas.microsoft.com/office/drawing/2014/main" id="{24284DB3-8922-447C-B470-DC44B45893F0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가장 많은 점이 속한 색상 구간의 원본 RGB 평균 산출</a:t>
            </a:r>
          </a:p>
        </p:txBody>
      </p:sp>
      <p:sp>
        <p:nvSpPr>
          <p:cNvPr id="4" name="R·G·B 각각 16개 구간        16 × 16 × 1">
            <a:extLst>
              <a:ext uri="{FF2B5EF4-FFF2-40B4-BE49-F238E27FC236}">
                <a16:creationId xmlns:a16="http://schemas.microsoft.com/office/drawing/2014/main" id="{90C12170-D158-4ED6-8E63-1AEB9208D0F2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R·G·B 각각 16개 구간        16 × 16 × 16 = 4,096개 RGB 조합</a:t>
            </a:r>
          </a:p>
        </p:txBody>
      </p:sp>
      <p:sp>
        <p:nvSpPr>
          <p:cNvPr id="5" name="구간 폭 16: 0~15, 16~31, …, 240~255">
            <a:extLst>
              <a:ext uri="{FF2B5EF4-FFF2-40B4-BE49-F238E27FC236}">
                <a16:creationId xmlns:a16="http://schemas.microsoft.com/office/drawing/2014/main" id="{0BFE2593-B86C-4B1E-A37F-F26C9E31C397}"/>
              </a:ext>
            </a:extLst>
          </p:cNvPr>
          <p:cNvSpPr>
            <a:spLocks noGrp="1"/>
          </p:cNvSpPr>
          <p:nvPr/>
        </p:nvSpPr>
        <p:spPr>
          <a:xfrm>
            <a:off x="628650" y="2209800"/>
            <a:ext cx="1093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구간 폭 16: 0~15, 16~31, …, 240~255</a:t>
            </a:r>
          </a:p>
        </p:txBody>
      </p:sp>
      <p:sp>
        <p:nvSpPr>
          <p:cNvPr id="6" name="한 복셀 안의 점: 설명용 예시">
            <a:extLst>
              <a:ext uri="{FF2B5EF4-FFF2-40B4-BE49-F238E27FC236}">
                <a16:creationId xmlns:a16="http://schemas.microsoft.com/office/drawing/2014/main" id="{16EA25F6-CCCC-4A01-895B-AEF785661CFF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4191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한 복셀 안의 점: 설명용 예시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6E6A1B6-F378-4C38-8611-FCA824C58889}"/>
              </a:ext>
            </a:extLst>
          </p:cNvPr>
          <p:cNvSpPr>
            <a:spLocks noGrp="1"/>
          </p:cNvSpPr>
          <p:nvPr/>
        </p:nvSpPr>
        <p:spPr>
          <a:xfrm>
            <a:off x="904875" y="3476625"/>
            <a:ext cx="276225" cy="276225"/>
          </a:xfrm>
          <a:prstGeom prst="ellipse">
            <a:avLst/>
          </a:prstGeom>
          <a:solidFill>
            <a:srgbClr val="CA3636"/>
          </a:solidFill>
          <a:ln w="0">
            <a:noFill/>
          </a:ln>
        </p:spPr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412B06A-58DC-42CB-8069-CDF04914A0BC}"/>
              </a:ext>
            </a:extLst>
          </p:cNvPr>
          <p:cNvSpPr>
            <a:spLocks noGrp="1"/>
          </p:cNvSpPr>
          <p:nvPr/>
        </p:nvSpPr>
        <p:spPr>
          <a:xfrm>
            <a:off x="1485900" y="3476625"/>
            <a:ext cx="276225" cy="276225"/>
          </a:xfrm>
          <a:prstGeom prst="ellipse">
            <a:avLst/>
          </a:prstGeom>
          <a:solidFill>
            <a:srgbClr val="CA3636"/>
          </a:solidFill>
          <a:ln w="0">
            <a:noFill/>
          </a:ln>
        </p:spPr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7A344CB-D5A5-4896-9759-AB91968631A1}"/>
              </a:ext>
            </a:extLst>
          </p:cNvPr>
          <p:cNvSpPr>
            <a:spLocks noGrp="1"/>
          </p:cNvSpPr>
          <p:nvPr/>
        </p:nvSpPr>
        <p:spPr>
          <a:xfrm>
            <a:off x="2066925" y="3476625"/>
            <a:ext cx="276225" cy="276225"/>
          </a:xfrm>
          <a:prstGeom prst="ellipse">
            <a:avLst/>
          </a:prstGeom>
          <a:solidFill>
            <a:srgbClr val="CA3636"/>
          </a:solidFill>
          <a:ln w="0">
            <a:noFill/>
          </a:ln>
        </p:spPr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EC8BE0B-45BC-4F1C-A418-F7C3058C61DC}"/>
              </a:ext>
            </a:extLst>
          </p:cNvPr>
          <p:cNvSpPr>
            <a:spLocks noGrp="1"/>
          </p:cNvSpPr>
          <p:nvPr/>
        </p:nvSpPr>
        <p:spPr>
          <a:xfrm>
            <a:off x="2647950" y="3476625"/>
            <a:ext cx="276225" cy="276225"/>
          </a:xfrm>
          <a:prstGeom prst="ellipse">
            <a:avLst/>
          </a:prstGeom>
          <a:solidFill>
            <a:srgbClr val="CA3636"/>
          </a:solidFill>
          <a:ln w="0">
            <a:noFill/>
          </a:ln>
        </p:spPr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4667625-792F-4D07-AA17-024B213B87D2}"/>
              </a:ext>
            </a:extLst>
          </p:cNvPr>
          <p:cNvSpPr>
            <a:spLocks noGrp="1"/>
          </p:cNvSpPr>
          <p:nvPr/>
        </p:nvSpPr>
        <p:spPr>
          <a:xfrm>
            <a:off x="3228975" y="3476625"/>
            <a:ext cx="276225" cy="276225"/>
          </a:xfrm>
          <a:prstGeom prst="ellipse">
            <a:avLst/>
          </a:prstGeom>
          <a:solidFill>
            <a:srgbClr val="CA3636"/>
          </a:solidFill>
          <a:ln w="0">
            <a:noFill/>
          </a:ln>
        </p:spPr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C5428F7-FA78-4107-B079-B93B3846F46D}"/>
              </a:ext>
            </a:extLst>
          </p:cNvPr>
          <p:cNvSpPr>
            <a:spLocks noGrp="1"/>
          </p:cNvSpPr>
          <p:nvPr/>
        </p:nvSpPr>
        <p:spPr>
          <a:xfrm>
            <a:off x="904875" y="4029075"/>
            <a:ext cx="276225" cy="276225"/>
          </a:xfrm>
          <a:prstGeom prst="ellipse">
            <a:avLst/>
          </a:prstGeom>
          <a:solidFill>
            <a:srgbClr val="CA3636"/>
          </a:solidFill>
          <a:ln w="0">
            <a:noFill/>
          </a:ln>
        </p:spPr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7570E4F-A47E-48CB-A61D-822BF9175013}"/>
              </a:ext>
            </a:extLst>
          </p:cNvPr>
          <p:cNvSpPr>
            <a:spLocks noGrp="1"/>
          </p:cNvSpPr>
          <p:nvPr/>
        </p:nvSpPr>
        <p:spPr>
          <a:xfrm>
            <a:off x="1485900" y="4029075"/>
            <a:ext cx="276225" cy="276225"/>
          </a:xfrm>
          <a:prstGeom prst="ellipse">
            <a:avLst/>
          </a:prstGeom>
          <a:solidFill>
            <a:srgbClr val="3434CA"/>
          </a:solidFill>
          <a:ln w="0">
            <a:noFill/>
          </a:ln>
        </p:spPr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F2442F4-221E-4386-93E0-E372EA3D0AA0}"/>
              </a:ext>
            </a:extLst>
          </p:cNvPr>
          <p:cNvSpPr>
            <a:spLocks noGrp="1"/>
          </p:cNvSpPr>
          <p:nvPr/>
        </p:nvSpPr>
        <p:spPr>
          <a:xfrm>
            <a:off x="2066925" y="4029075"/>
            <a:ext cx="276225" cy="276225"/>
          </a:xfrm>
          <a:prstGeom prst="ellipse">
            <a:avLst/>
          </a:prstGeom>
          <a:solidFill>
            <a:srgbClr val="3434CA"/>
          </a:solidFill>
          <a:ln w="0">
            <a:noFill/>
          </a:ln>
        </p:spPr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CA6050A-6D2F-4DE6-9AB6-4B71619F6C03}"/>
              </a:ext>
            </a:extLst>
          </p:cNvPr>
          <p:cNvSpPr>
            <a:spLocks noGrp="1"/>
          </p:cNvSpPr>
          <p:nvPr/>
        </p:nvSpPr>
        <p:spPr>
          <a:xfrm>
            <a:off x="2647950" y="4029075"/>
            <a:ext cx="276225" cy="276225"/>
          </a:xfrm>
          <a:prstGeom prst="ellipse">
            <a:avLst/>
          </a:prstGeom>
          <a:solidFill>
            <a:srgbClr val="3434CA"/>
          </a:solidFill>
          <a:ln w="0">
            <a:noFill/>
          </a:ln>
        </p:spPr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92E7CA5-10C4-4CE4-97E2-52DF661DF218}"/>
              </a:ext>
            </a:extLst>
          </p:cNvPr>
          <p:cNvSpPr>
            <a:spLocks noGrp="1"/>
          </p:cNvSpPr>
          <p:nvPr/>
        </p:nvSpPr>
        <p:spPr>
          <a:xfrm>
            <a:off x="3228975" y="4029075"/>
            <a:ext cx="276225" cy="276225"/>
          </a:xfrm>
          <a:prstGeom prst="ellipse">
            <a:avLst/>
          </a:prstGeom>
          <a:solidFill>
            <a:srgbClr val="3434CA"/>
          </a:solidFill>
          <a:ln w="0">
            <a:noFill/>
          </a:ln>
        </p:spPr>
      </p:sp>
      <p:sp>
        <p:nvSpPr>
          <p:cNvPr id="17" name="구간 A: (12, 3, 3), 6개&#10;원본 평균 (202, 5">
            <a:extLst>
              <a:ext uri="{FF2B5EF4-FFF2-40B4-BE49-F238E27FC236}">
                <a16:creationId xmlns:a16="http://schemas.microsoft.com/office/drawing/2014/main" id="{FCEB21E3-2DF5-43E5-A2AC-5DE576AD24FA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40005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구간 A: (12, 3, 3), 6개</a:t>
            </a:r>
          </a:p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원본 평균 (202, 54, 54)</a:t>
            </a:r>
          </a:p>
        </p:txBody>
      </p:sp>
      <p:sp>
        <p:nvSpPr>
          <p:cNvPr id="18" name="구간 B: (3, 3, 12), 4개&#10;원본 평균 (52, 52">
            <a:extLst>
              <a:ext uri="{FF2B5EF4-FFF2-40B4-BE49-F238E27FC236}">
                <a16:creationId xmlns:a16="http://schemas.microsoft.com/office/drawing/2014/main" id="{64A79A3C-520B-45E2-AFB7-DAB1DBC7E7D2}"/>
              </a:ext>
            </a:extLst>
          </p:cNvPr>
          <p:cNvSpPr>
            <a:spLocks noGrp="1"/>
          </p:cNvSpPr>
          <p:nvPr/>
        </p:nvSpPr>
        <p:spPr>
          <a:xfrm>
            <a:off x="685800" y="5629275"/>
            <a:ext cx="40005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구간 B: (3, 3, 12), 4개</a:t>
            </a:r>
          </a:p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원본 평균 (52, 52, 202)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66C21EA9-B9F4-4DC4-BBDB-26B1CA646033}"/>
              </a:ext>
            </a:extLst>
          </p:cNvPr>
          <p:cNvSpPr>
            <a:spLocks noGrp="1"/>
          </p:cNvSpPr>
          <p:nvPr/>
        </p:nvSpPr>
        <p:spPr>
          <a:xfrm>
            <a:off x="3876675" y="3829050"/>
            <a:ext cx="904875" cy="0"/>
          </a:xfrm>
          <a:prstGeom prst="line">
            <a:avLst/>
          </a:prstGeom>
          <a:noFill/>
          <a:ln w="19050">
            <a:solidFill>
              <a:srgbClr val="8D98A5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5B4623EE-D7F4-4A27-908D-013CC0FAF0B9}"/>
              </a:ext>
            </a:extLst>
          </p:cNvPr>
          <p:cNvSpPr>
            <a:spLocks noGrp="1"/>
          </p:cNvSpPr>
          <p:nvPr/>
        </p:nvSpPr>
        <p:spPr>
          <a:xfrm>
            <a:off x="4781550" y="3248025"/>
            <a:ext cx="0" cy="1885950"/>
          </a:xfrm>
          <a:prstGeom prst="line">
            <a:avLst/>
          </a:prstGeom>
          <a:noFill/>
          <a:ln w="19050">
            <a:solidFill>
              <a:srgbClr val="8D98A5"/>
            </a:solidFill>
          </a:ln>
        </p:spPr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4D2E00CA-375D-47DC-B93E-87D17445F4A5}"/>
              </a:ext>
            </a:extLst>
          </p:cNvPr>
          <p:cNvSpPr>
            <a:spLocks noGrp="1"/>
          </p:cNvSpPr>
          <p:nvPr/>
        </p:nvSpPr>
        <p:spPr>
          <a:xfrm>
            <a:off x="4781550" y="3143250"/>
            <a:ext cx="523875" cy="209550"/>
          </a:xfrm>
          <a:prstGeom prst="rightArrow">
            <a:avLst/>
          </a:prstGeom>
          <a:solidFill>
            <a:srgbClr val="2464A0"/>
          </a:solidFill>
          <a:ln w="0">
            <a:noFill/>
          </a:ln>
        </p:spPr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682F7CB-7B44-45D3-9F1B-2C0337B24C8F}"/>
              </a:ext>
            </a:extLst>
          </p:cNvPr>
          <p:cNvSpPr>
            <a:spLocks noGrp="1"/>
          </p:cNvSpPr>
          <p:nvPr/>
        </p:nvSpPr>
        <p:spPr>
          <a:xfrm>
            <a:off x="4781550" y="5029200"/>
            <a:ext cx="523875" cy="209550"/>
          </a:xfrm>
          <a:prstGeom prst="rightArrow">
            <a:avLst/>
          </a:prstGeom>
          <a:solidFill>
            <a:srgbClr val="008C96"/>
          </a:solidFill>
          <a:ln w="0">
            <a:noFill/>
          </a:ln>
        </p:spPr>
      </p:sp>
      <p:sp>
        <p:nvSpPr>
          <p:cNvPr id="23" name="전체 점의 RGB 평균">
            <a:extLst>
              <a:ext uri="{FF2B5EF4-FFF2-40B4-BE49-F238E27FC236}">
                <a16:creationId xmlns:a16="http://schemas.microsoft.com/office/drawing/2014/main" id="{B9568739-FECC-46FF-9CB2-998EED98280C}"/>
              </a:ext>
            </a:extLst>
          </p:cNvPr>
          <p:cNvSpPr>
            <a:spLocks noGrp="1"/>
          </p:cNvSpPr>
          <p:nvPr/>
        </p:nvSpPr>
        <p:spPr>
          <a:xfrm>
            <a:off x="5610225" y="2733675"/>
            <a:ext cx="56102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전체 점의 RGB 평균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CDC6A0-8475-4717-B670-03D23017EFCA}"/>
              </a:ext>
            </a:extLst>
          </p:cNvPr>
          <p:cNvSpPr>
            <a:spLocks noGrp="1"/>
          </p:cNvSpPr>
          <p:nvPr/>
        </p:nvSpPr>
        <p:spPr>
          <a:xfrm>
            <a:off x="5610225" y="3343275"/>
            <a:ext cx="800100" cy="800100"/>
          </a:xfrm>
          <a:prstGeom prst="rect">
            <a:avLst/>
          </a:prstGeom>
          <a:solidFill>
            <a:srgbClr val="8E3571"/>
          </a:solidFill>
          <a:ln w="0">
            <a:noFill/>
          </a:ln>
        </p:spPr>
      </p:sp>
      <p:sp>
        <p:nvSpPr>
          <p:cNvPr id="25" name="(142, 53.2, 113.2)">
            <a:extLst>
              <a:ext uri="{FF2B5EF4-FFF2-40B4-BE49-F238E27FC236}">
                <a16:creationId xmlns:a16="http://schemas.microsoft.com/office/drawing/2014/main" id="{3AA448E5-3280-49F1-AE1C-26B5CE9A9C42}"/>
              </a:ext>
            </a:extLst>
          </p:cNvPr>
          <p:cNvSpPr>
            <a:spLocks noGrp="1"/>
          </p:cNvSpPr>
          <p:nvPr/>
        </p:nvSpPr>
        <p:spPr>
          <a:xfrm>
            <a:off x="6705600" y="3552825"/>
            <a:ext cx="47339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(142, 53.2, 113.2)</a:t>
            </a:r>
          </a:p>
        </p:txBody>
      </p:sp>
      <p:sp>
        <p:nvSpPr>
          <p:cNvPr id="26" name="RGB-16: 선택 구간만 평균">
            <a:extLst>
              <a:ext uri="{FF2B5EF4-FFF2-40B4-BE49-F238E27FC236}">
                <a16:creationId xmlns:a16="http://schemas.microsoft.com/office/drawing/2014/main" id="{66A8CE49-9A4F-45EB-A264-D287485926C0}"/>
              </a:ext>
            </a:extLst>
          </p:cNvPr>
          <p:cNvSpPr>
            <a:spLocks noGrp="1"/>
          </p:cNvSpPr>
          <p:nvPr/>
        </p:nvSpPr>
        <p:spPr>
          <a:xfrm>
            <a:off x="5610225" y="4572000"/>
            <a:ext cx="58483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RGB-16: 선택 구간만 평균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EFBC5B-970F-48E9-80C1-824941DAE16C}"/>
              </a:ext>
            </a:extLst>
          </p:cNvPr>
          <p:cNvSpPr>
            <a:spLocks noGrp="1"/>
          </p:cNvSpPr>
          <p:nvPr/>
        </p:nvSpPr>
        <p:spPr>
          <a:xfrm>
            <a:off x="5610225" y="5238750"/>
            <a:ext cx="800100" cy="800100"/>
          </a:xfrm>
          <a:prstGeom prst="rect">
            <a:avLst/>
          </a:prstGeom>
          <a:solidFill>
            <a:srgbClr val="CA3636"/>
          </a:solidFill>
          <a:ln w="0">
            <a:noFill/>
          </a:ln>
        </p:spPr>
      </p:sp>
      <p:sp>
        <p:nvSpPr>
          <p:cNvPr id="28" name="(202, 54, 54)">
            <a:extLst>
              <a:ext uri="{FF2B5EF4-FFF2-40B4-BE49-F238E27FC236}">
                <a16:creationId xmlns:a16="http://schemas.microsoft.com/office/drawing/2014/main" id="{DC9532E5-4D15-42D3-839F-127ABFF18194}"/>
              </a:ext>
            </a:extLst>
          </p:cNvPr>
          <p:cNvSpPr>
            <a:spLocks noGrp="1"/>
          </p:cNvSpPr>
          <p:nvPr/>
        </p:nvSpPr>
        <p:spPr>
          <a:xfrm>
            <a:off x="6705600" y="5448300"/>
            <a:ext cx="47339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(202, 54, 54)</a:t>
            </a:r>
          </a:p>
        </p:txBody>
      </p:sp>
    </p:spTree>
    <p:extLst>
      <p:ext uri="{BB962C8B-B14F-4D97-AF65-F5344CB8AC3E}">
        <p14:creationId xmlns:p14="http://schemas.microsoft.com/office/powerpoint/2010/main" val="95748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공간 구성: Cube와 Full-Z">
            <a:extLst>
              <a:ext uri="{FF2B5EF4-FFF2-40B4-BE49-F238E27FC236}">
                <a16:creationId xmlns:a16="http://schemas.microsoft.com/office/drawing/2014/main" id="{89866BC5-35D5-48FF-8E4F-3D440391E27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02. </a:t>
            </a:r>
            <a:r>
              <a:rPr lang="ko-KR" altLang="en-US"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복셀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데이터 구축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공간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구성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Cube와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Full-Z</a:t>
            </a:r>
          </a:p>
        </p:txBody>
      </p:sp>
      <p:sp>
        <p:nvSpPr>
          <p:cNvPr id="2" name="같은 XY 범위에서 높이를 나누어 입력할지, 함께 입력할지 비">
            <a:extLst>
              <a:ext uri="{FF2B5EF4-FFF2-40B4-BE49-F238E27FC236}">
                <a16:creationId xmlns:a16="http://schemas.microsoft.com/office/drawing/2014/main" id="{C352DFEE-6D15-4EEB-B811-10EAC4FD9F5E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같은 XY 범위에서 높이를 나누어 입력할지, 함께 입력할지 비교</a:t>
            </a:r>
          </a:p>
        </p:txBody>
      </p:sp>
      <p:sp>
        <p:nvSpPr>
          <p:cNvPr id="4" name="Cube">
            <a:extLst>
              <a:ext uri="{FF2B5EF4-FFF2-40B4-BE49-F238E27FC236}">
                <a16:creationId xmlns:a16="http://schemas.microsoft.com/office/drawing/2014/main" id="{6D9DD483-3579-4DA9-93B4-E16D1B834990}"/>
              </a:ext>
            </a:extLst>
          </p:cNvPr>
          <p:cNvSpPr>
            <a:spLocks noGrp="1"/>
          </p:cNvSpPr>
          <p:nvPr/>
        </p:nvSpPr>
        <p:spPr>
          <a:xfrm>
            <a:off x="1114425" y="1724025"/>
            <a:ext cx="4238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Cube</a:t>
            </a:r>
          </a:p>
        </p:txBody>
      </p:sp>
      <p:sp>
        <p:nvSpPr>
          <p:cNvPr id="5" name="Full-Z">
            <a:extLst>
              <a:ext uri="{FF2B5EF4-FFF2-40B4-BE49-F238E27FC236}">
                <a16:creationId xmlns:a16="http://schemas.microsoft.com/office/drawing/2014/main" id="{ACC8FAE6-6B1E-4F18-B9E6-FBE038A88CC2}"/>
              </a:ext>
            </a:extLst>
          </p:cNvPr>
          <p:cNvSpPr>
            <a:spLocks noGrp="1"/>
          </p:cNvSpPr>
          <p:nvPr/>
        </p:nvSpPr>
        <p:spPr>
          <a:xfrm>
            <a:off x="6896100" y="1724025"/>
            <a:ext cx="4238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Full-Z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25650" y="2286000"/>
            <a:ext cx="1663700" cy="27432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34325" y="2286000"/>
            <a:ext cx="1562100" cy="2743200"/>
          </a:xfrm>
          <a:prstGeom prst="rect">
            <a:avLst/>
          </a:prstGeom>
        </p:spPr>
      </p:pic>
      <p:sp>
        <p:nvSpPr>
          <p:cNvPr id="8" name="P × P × P">
            <a:extLst>
              <a:ext uri="{FF2B5EF4-FFF2-40B4-BE49-F238E27FC236}">
                <a16:creationId xmlns:a16="http://schemas.microsoft.com/office/drawing/2014/main" id="{B1BC42BB-570E-4520-8797-91BEA590933C}"/>
              </a:ext>
            </a:extLst>
          </p:cNvPr>
          <p:cNvSpPr>
            <a:spLocks noGrp="1"/>
          </p:cNvSpPr>
          <p:nvPr/>
        </p:nvSpPr>
        <p:spPr>
          <a:xfrm>
            <a:off x="1114425" y="5114925"/>
            <a:ext cx="42386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P × P × P</a:t>
            </a:r>
          </a:p>
        </p:txBody>
      </p:sp>
      <p:sp>
        <p:nvSpPr>
          <p:cNvPr id="9" name="P × P × Hs">
            <a:extLst>
              <a:ext uri="{FF2B5EF4-FFF2-40B4-BE49-F238E27FC236}">
                <a16:creationId xmlns:a16="http://schemas.microsoft.com/office/drawing/2014/main" id="{232E8E2C-589C-4C78-9DB1-0CB9E381A002}"/>
              </a:ext>
            </a:extLst>
          </p:cNvPr>
          <p:cNvSpPr>
            <a:spLocks noGrp="1"/>
          </p:cNvSpPr>
          <p:nvPr/>
        </p:nvSpPr>
        <p:spPr>
          <a:xfrm>
            <a:off x="6896100" y="5114925"/>
            <a:ext cx="42386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P × P × Hs</a:t>
            </a:r>
          </a:p>
        </p:txBody>
      </p:sp>
      <p:sp>
        <p:nvSpPr>
          <p:cNvPr id="10" name="X·Y·Z를 같은 길이로 잘라 입력">
            <a:extLst>
              <a:ext uri="{FF2B5EF4-FFF2-40B4-BE49-F238E27FC236}">
                <a16:creationId xmlns:a16="http://schemas.microsoft.com/office/drawing/2014/main" id="{34593D18-0FE0-4C3C-93EF-3040B2C8A837}"/>
              </a:ext>
            </a:extLst>
          </p:cNvPr>
          <p:cNvSpPr>
            <a:spLocks noGrp="1"/>
          </p:cNvSpPr>
          <p:nvPr/>
        </p:nvSpPr>
        <p:spPr>
          <a:xfrm>
            <a:off x="742950" y="5629275"/>
            <a:ext cx="5124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X·Y·Z를 같은 길이로 잘라 입력</a:t>
            </a:r>
          </a:p>
        </p:txBody>
      </p:sp>
      <p:sp>
        <p:nvSpPr>
          <p:cNvPr id="11" name="X·Y를 자르고 장면의 전체 높이를 포함">
            <a:extLst>
              <a:ext uri="{FF2B5EF4-FFF2-40B4-BE49-F238E27FC236}">
                <a16:creationId xmlns:a16="http://schemas.microsoft.com/office/drawing/2014/main" id="{EE488CBA-DAD7-4A51-8568-52CB5DABB23C}"/>
              </a:ext>
            </a:extLst>
          </p:cNvPr>
          <p:cNvSpPr>
            <a:spLocks noGrp="1"/>
          </p:cNvSpPr>
          <p:nvPr/>
        </p:nvSpPr>
        <p:spPr>
          <a:xfrm>
            <a:off x="6200775" y="5629275"/>
            <a:ext cx="53625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X·Y를 자르고 장면의 전체 높이를 포함</a:t>
            </a:r>
          </a:p>
        </p:txBody>
      </p:sp>
      <p:sp>
        <p:nvSpPr>
          <p:cNvPr id="12" name="Hs: 장면의 점유 복셀 높이 범위. 빈 복셀은 입력에서 제외">
            <a:extLst>
              <a:ext uri="{FF2B5EF4-FFF2-40B4-BE49-F238E27FC236}">
                <a16:creationId xmlns:a16="http://schemas.microsoft.com/office/drawing/2014/main" id="{48003C90-31BA-4EA8-AAFF-7BBD576D8A65}"/>
              </a:ext>
            </a:extLst>
          </p:cNvPr>
          <p:cNvSpPr>
            <a:spLocks noGrp="1"/>
          </p:cNvSpPr>
          <p:nvPr/>
        </p:nvSpPr>
        <p:spPr>
          <a:xfrm>
            <a:off x="628650" y="6229350"/>
            <a:ext cx="10477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Hs: 장면의 점유 복셀 높이 범위. 빈 복셀은 입력에서 제외</a:t>
            </a:r>
          </a:p>
        </p:txBody>
      </p:sp>
    </p:spTree>
    <p:extLst>
      <p:ext uri="{BB962C8B-B14F-4D97-AF65-F5344CB8AC3E}">
        <p14:creationId xmlns:p14="http://schemas.microsoft.com/office/powerpoint/2010/main" val="1382536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실험 설계">
            <a:extLst>
              <a:ext uri="{FF2B5EF4-FFF2-40B4-BE49-F238E27FC236}">
                <a16:creationId xmlns:a16="http://schemas.microsoft.com/office/drawing/2014/main" id="{10B64802-F56F-4A0A-9511-169F5F4C0BF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03. 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입력 </a:t>
            </a:r>
            <a:r>
              <a:rPr lang="ko-KR" altLang="en-US"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구성별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학습 방법</a:t>
            </a:r>
            <a:endParaRPr sz="315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색상 2종과 공간 구성 2종을 조합하고, 각 조합에 패치 크기">
            <a:extLst>
              <a:ext uri="{FF2B5EF4-FFF2-40B4-BE49-F238E27FC236}">
                <a16:creationId xmlns:a16="http://schemas.microsoft.com/office/drawing/2014/main" id="{C7A6B9BF-8824-43AD-B2EB-4FAB9CB91948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색상 2종과 공간 구성 2종을 조합하고, 각 조합에 패치 크기 3종 적용</a:t>
            </a:r>
          </a:p>
        </p:txBody>
      </p:sp>
      <p:graphicFrame>
        <p:nvGraphicFramePr>
          <p:cNvPr id="10" name="표 9"/>
          <p:cNvGraphicFramePr/>
          <p:nvPr/>
        </p:nvGraphicFramePr>
        <p:xfrm>
          <a:off x="628650" y="1724025"/>
          <a:ext cx="10934700" cy="2933700"/>
        </p:xfrm>
        <a:graphic>
          <a:graphicData uri="http://schemas.openxmlformats.org/drawingml/2006/table">
            <a:tbl>
              <a:tblPr firstRow="1"/>
              <a:tblGrid>
                <a:gridCol w="318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방식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색상 대표값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공간 구성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Baseline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점의 RGB 평균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Cube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RGB-16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색상 구간의 RGB 평균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Cube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Full-Z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점의 RGB 평균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높이 포함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Full-Z+RGB-16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색상 구간의 RGB 평균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높이 포함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/>
          <p:nvPr/>
        </p:nvGraphicFramePr>
        <p:xfrm>
          <a:off x="628650" y="4962525"/>
          <a:ext cx="10934700" cy="1009650"/>
        </p:xfrm>
        <a:graphic>
          <a:graphicData uri="http://schemas.openxmlformats.org/drawingml/2006/table">
            <a:tbl>
              <a:tblPr firstRow="1"/>
              <a:tblGrid>
                <a:gridCol w="318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패치 크기 P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128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XY 한 변의 길이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9.6 m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19.2 m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38.4 m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총 12개 조건. 복셀 해상도·모델·최대 epoch 공통 적용">
            <a:extLst>
              <a:ext uri="{FF2B5EF4-FFF2-40B4-BE49-F238E27FC236}">
                <a16:creationId xmlns:a16="http://schemas.microsoft.com/office/drawing/2014/main" id="{0D3F8708-4548-4E65-9A94-F0D4E4220C91}"/>
              </a:ext>
            </a:extLst>
          </p:cNvPr>
          <p:cNvSpPr>
            <a:spLocks noGrp="1"/>
          </p:cNvSpPr>
          <p:nvPr/>
        </p:nvSpPr>
        <p:spPr>
          <a:xfrm>
            <a:off x="628650" y="6229350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총 12개 조건. 복셀 해상도·모델·최대 epoch 공통 적용, stride = P</a:t>
            </a:r>
          </a:p>
        </p:txBody>
      </p:sp>
    </p:spTree>
    <p:extLst>
      <p:ext uri="{BB962C8B-B14F-4D97-AF65-F5344CB8AC3E}">
        <p14:creationId xmlns:p14="http://schemas.microsoft.com/office/powerpoint/2010/main" val="679256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공통 모델과 학습 설정">
            <a:extLst>
              <a:ext uri="{FF2B5EF4-FFF2-40B4-BE49-F238E27FC236}">
                <a16:creationId xmlns:a16="http://schemas.microsoft.com/office/drawing/2014/main" id="{22952D52-22B2-45D3-9BB0-39D394EAACE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03. 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입력 </a:t>
            </a:r>
            <a:r>
              <a:rPr lang="ko-KR" altLang="en-US"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구성별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학습 방법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공통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모델과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학습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설정</a:t>
            </a:r>
            <a:endParaRPr sz="24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9" name="표 8"/>
          <p:cNvGraphicFramePr/>
          <p:nvPr/>
        </p:nvGraphicFramePr>
        <p:xfrm>
          <a:off x="628650" y="1590675"/>
          <a:ext cx="5629275" cy="3597186"/>
        </p:xfrm>
        <a:graphic>
          <a:graphicData uri="http://schemas.openxmlformats.org/drawingml/2006/table">
            <a:tbl>
              <a:tblPr firstRow="1"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186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Sparse 3D CNN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/ 출력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입력 채널 / 6개 클래스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Encoder 채널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16, 32, 64, 128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블록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SubM 3×3×3, residual block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문맥 특징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ASPP d=1/2/4, patch global context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Decoder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Upsampling과 skip 연결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186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파라미터 수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4,496,467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/>
          <p:nvPr/>
        </p:nvGraphicFramePr>
        <p:xfrm>
          <a:off x="6610350" y="1590675"/>
          <a:ext cx="4953000" cy="4344670"/>
        </p:xfrm>
        <a:graphic>
          <a:graphicData uri="http://schemas.openxmlformats.org/drawingml/2006/table">
            <a:tbl>
              <a:tblPr firstRow="1"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항목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GPU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RTX 5090 1대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Framework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PyTorch / Native sparse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Batch / 최대 epoch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 / 35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Optimizer / 초기 LR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AdamW / 0.002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Weight decay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0.0001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Scheduler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CosineAnnealingLR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정밀도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FP16 AMP, sparse 누적 FP32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체크포인트 선택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mIoU 최고값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Main loss = 0.50 Weighted CE + 0.3">
            <a:extLst>
              <a:ext uri="{FF2B5EF4-FFF2-40B4-BE49-F238E27FC236}">
                <a16:creationId xmlns:a16="http://schemas.microsoft.com/office/drawing/2014/main" id="{7FA2B4E2-1815-43CF-A76E-14F635F0C0E8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524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Main loss = 0.50 Weighted CE + 0.30 Lovasz-Softmax + 0.20 Dice</a:t>
            </a:r>
          </a:p>
        </p:txBody>
      </p:sp>
      <p:sp>
        <p:nvSpPr>
          <p:cNvPr id="6" name="보조 semantic head와 boundary head의 l">
            <a:extLst>
              <a:ext uri="{FF2B5EF4-FFF2-40B4-BE49-F238E27FC236}">
                <a16:creationId xmlns:a16="http://schemas.microsoft.com/office/drawing/2014/main" id="{4B01C6FE-ECF0-4C17-A5AC-D01130FCC811}"/>
              </a:ext>
            </a:extLst>
          </p:cNvPr>
          <p:cNvSpPr>
            <a:spLocks noGrp="1"/>
          </p:cNvSpPr>
          <p:nvPr/>
        </p:nvSpPr>
        <p:spPr>
          <a:xfrm>
            <a:off x="628650" y="615315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보조 semantic head와 boundary head의 loss를 추가 적용</a:t>
            </a:r>
          </a:p>
        </p:txBody>
      </p:sp>
    </p:spTree>
    <p:extLst>
      <p:ext uri="{BB962C8B-B14F-4D97-AF65-F5344CB8AC3E}">
        <p14:creationId xmlns:p14="http://schemas.microsoft.com/office/powerpoint/2010/main" val="508139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평가 방법과 지표">
            <a:extLst>
              <a:ext uri="{FF2B5EF4-FFF2-40B4-BE49-F238E27FC236}">
                <a16:creationId xmlns:a16="http://schemas.microsoft.com/office/drawing/2014/main" id="{0A9C7E60-FE5A-459F-84AE-FEAE82B042B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04. 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실제 장면 평가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평가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방법과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지표</a:t>
            </a:r>
            <a:endParaRPr sz="24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실제 장면의 점유 복셀을 기준으로 예측과 정답의 비교 수행">
            <a:extLst>
              <a:ext uri="{FF2B5EF4-FFF2-40B4-BE49-F238E27FC236}">
                <a16:creationId xmlns:a16="http://schemas.microsoft.com/office/drawing/2014/main" id="{5409DDD0-B73E-449C-88E5-B85425D9BC52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실제 장면의 점유 복셀을 기준으로 예측과 정답의 비교 수행</a:t>
            </a:r>
          </a:p>
        </p:txBody>
      </p:sp>
      <p:sp>
        <p:nvSpPr>
          <p:cNvPr id="4" name="한 클래스의 정답·예측 비교">
            <a:extLst>
              <a:ext uri="{FF2B5EF4-FFF2-40B4-BE49-F238E27FC236}">
                <a16:creationId xmlns:a16="http://schemas.microsoft.com/office/drawing/2014/main" id="{8BBE4A31-29C7-4429-A8A0-D260A4668EC6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048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한 클래스의 정답·예측 비교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31EE6E-A2C7-45B3-A9C6-D9D1ADC2155F}"/>
              </a:ext>
            </a:extLst>
          </p:cNvPr>
          <p:cNvSpPr>
            <a:spLocks noGrp="1"/>
          </p:cNvSpPr>
          <p:nvPr/>
        </p:nvSpPr>
        <p:spPr>
          <a:xfrm>
            <a:off x="962025" y="2600325"/>
            <a:ext cx="2228850" cy="1638300"/>
          </a:xfrm>
          <a:prstGeom prst="rect">
            <a:avLst/>
          </a:prstGeom>
          <a:solidFill>
            <a:srgbClr val="DFEAF4"/>
          </a:solidFill>
          <a:ln w="19050">
            <a:solidFill>
              <a:srgbClr val="2464A0"/>
            </a:solidFill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1B10A1-B2C1-49F0-8E48-087DA1EF04A8}"/>
              </a:ext>
            </a:extLst>
          </p:cNvPr>
          <p:cNvSpPr>
            <a:spLocks noGrp="1"/>
          </p:cNvSpPr>
          <p:nvPr/>
        </p:nvSpPr>
        <p:spPr>
          <a:xfrm>
            <a:off x="2190750" y="3343275"/>
            <a:ext cx="2228850" cy="1638300"/>
          </a:xfrm>
          <a:prstGeom prst="rect">
            <a:avLst/>
          </a:prstGeom>
          <a:solidFill>
            <a:srgbClr val="D8EEEE"/>
          </a:solidFill>
          <a:ln w="19050">
            <a:solidFill>
              <a:srgbClr val="008C96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31A590-7505-47F5-99B7-0597B7C859D8}"/>
              </a:ext>
            </a:extLst>
          </p:cNvPr>
          <p:cNvSpPr>
            <a:spLocks noGrp="1"/>
          </p:cNvSpPr>
          <p:nvPr/>
        </p:nvSpPr>
        <p:spPr>
          <a:xfrm>
            <a:off x="2190750" y="3343275"/>
            <a:ext cx="1000125" cy="895350"/>
          </a:xfrm>
          <a:prstGeom prst="rect">
            <a:avLst/>
          </a:prstGeom>
          <a:solidFill>
            <a:srgbClr val="729FB9"/>
          </a:solidFill>
          <a:ln w="0">
            <a:noFill/>
          </a:ln>
        </p:spPr>
      </p:sp>
      <p:sp>
        <p:nvSpPr>
          <p:cNvPr id="8" name="정답 영역">
            <a:extLst>
              <a:ext uri="{FF2B5EF4-FFF2-40B4-BE49-F238E27FC236}">
                <a16:creationId xmlns:a16="http://schemas.microsoft.com/office/drawing/2014/main" id="{F4B4BC6E-86B9-46BD-8A16-ED8CAA0AEC6B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20764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rPr>
              <a:t>정답 영역</a:t>
            </a:r>
          </a:p>
        </p:txBody>
      </p:sp>
      <p:sp>
        <p:nvSpPr>
          <p:cNvPr id="9" name="예측 영역">
            <a:extLst>
              <a:ext uri="{FF2B5EF4-FFF2-40B4-BE49-F238E27FC236}">
                <a16:creationId xmlns:a16="http://schemas.microsoft.com/office/drawing/2014/main" id="{FF773144-0F55-4754-A240-3841262653A7}"/>
              </a:ext>
            </a:extLst>
          </p:cNvPr>
          <p:cNvSpPr>
            <a:spLocks noGrp="1"/>
          </p:cNvSpPr>
          <p:nvPr/>
        </p:nvSpPr>
        <p:spPr>
          <a:xfrm>
            <a:off x="3095625" y="5076825"/>
            <a:ext cx="2047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예측 영역</a:t>
            </a:r>
          </a:p>
        </p:txBody>
      </p:sp>
      <p:sp>
        <p:nvSpPr>
          <p:cNvPr id="10" name="FN">
            <a:extLst>
              <a:ext uri="{FF2B5EF4-FFF2-40B4-BE49-F238E27FC236}">
                <a16:creationId xmlns:a16="http://schemas.microsoft.com/office/drawing/2014/main" id="{47EF7276-E0BC-4093-AD84-A6003AAFD7EE}"/>
              </a:ext>
            </a:extLst>
          </p:cNvPr>
          <p:cNvSpPr>
            <a:spLocks noGrp="1"/>
          </p:cNvSpPr>
          <p:nvPr/>
        </p:nvSpPr>
        <p:spPr>
          <a:xfrm>
            <a:off x="1352550" y="3228975"/>
            <a:ext cx="7334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246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>
                <a:solidFill>
                  <a:srgbClr val="2464A0"/>
                </a:solidFill>
                <a:latin typeface="Malgun Gothic"/>
                <a:ea typeface="Malgun Gothic"/>
                <a:cs typeface="Malgun Gothic"/>
              </a:rPr>
              <a:t>FN</a:t>
            </a:r>
          </a:p>
        </p:txBody>
      </p:sp>
      <p:sp>
        <p:nvSpPr>
          <p:cNvPr id="11" name="TP">
            <a:extLst>
              <a:ext uri="{FF2B5EF4-FFF2-40B4-BE49-F238E27FC236}">
                <a16:creationId xmlns:a16="http://schemas.microsoft.com/office/drawing/2014/main" id="{AF217471-D694-4310-A9BD-952F1971D7C6}"/>
              </a:ext>
            </a:extLst>
          </p:cNvPr>
          <p:cNvSpPr>
            <a:spLocks noGrp="1"/>
          </p:cNvSpPr>
          <p:nvPr/>
        </p:nvSpPr>
        <p:spPr>
          <a:xfrm>
            <a:off x="2324100" y="3590925"/>
            <a:ext cx="7334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TP</a:t>
            </a:r>
          </a:p>
        </p:txBody>
      </p:sp>
      <p:sp>
        <p:nvSpPr>
          <p:cNvPr id="12" name="FP">
            <a:extLst>
              <a:ext uri="{FF2B5EF4-FFF2-40B4-BE49-F238E27FC236}">
                <a16:creationId xmlns:a16="http://schemas.microsoft.com/office/drawing/2014/main" id="{1AB56C06-B7B8-435D-BF87-773E18DC8EB9}"/>
              </a:ext>
            </a:extLst>
          </p:cNvPr>
          <p:cNvSpPr>
            <a:spLocks noGrp="1"/>
          </p:cNvSpPr>
          <p:nvPr/>
        </p:nvSpPr>
        <p:spPr>
          <a:xfrm>
            <a:off x="3381375" y="4191000"/>
            <a:ext cx="7334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FP</a:t>
            </a:r>
          </a:p>
        </p:txBody>
      </p:sp>
      <p:sp>
        <p:nvSpPr>
          <p:cNvPr id="13" name="IoU = TP / (TP + FP + FN)">
            <a:extLst>
              <a:ext uri="{FF2B5EF4-FFF2-40B4-BE49-F238E27FC236}">
                <a16:creationId xmlns:a16="http://schemas.microsoft.com/office/drawing/2014/main" id="{E7C447FA-DE80-430C-AFA9-668D4536F7CD}"/>
              </a:ext>
            </a:extLst>
          </p:cNvPr>
          <p:cNvSpPr>
            <a:spLocks noGrp="1"/>
          </p:cNvSpPr>
          <p:nvPr/>
        </p:nvSpPr>
        <p:spPr>
          <a:xfrm>
            <a:off x="628650" y="5657850"/>
            <a:ext cx="5286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IoU = TP / (TP + FP + FN)</a:t>
            </a:r>
          </a:p>
        </p:txBody>
      </p:sp>
      <p:sp>
        <p:nvSpPr>
          <p:cNvPr id="14" name="mIoU">
            <a:extLst>
              <a:ext uri="{FF2B5EF4-FFF2-40B4-BE49-F238E27FC236}">
                <a16:creationId xmlns:a16="http://schemas.microsoft.com/office/drawing/2014/main" id="{D3C29879-13F8-4C73-91B2-693A77EF87BB}"/>
              </a:ext>
            </a:extLst>
          </p:cNvPr>
          <p:cNvSpPr>
            <a:spLocks noGrp="1"/>
          </p:cNvSpPr>
          <p:nvPr/>
        </p:nvSpPr>
        <p:spPr>
          <a:xfrm>
            <a:off x="6543675" y="1809750"/>
            <a:ext cx="4714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mIoU</a:t>
            </a:r>
          </a:p>
        </p:txBody>
      </p:sp>
      <p:sp>
        <p:nvSpPr>
          <p:cNvPr id="15" name="6개 클래스 IoU의 평균&#10;각 클래스를 같은 비중으로 평가">
            <a:extLst>
              <a:ext uri="{FF2B5EF4-FFF2-40B4-BE49-F238E27FC236}">
                <a16:creationId xmlns:a16="http://schemas.microsoft.com/office/drawing/2014/main" id="{18E36142-C016-4DFE-B955-C4D9354A91B6}"/>
              </a:ext>
            </a:extLst>
          </p:cNvPr>
          <p:cNvSpPr>
            <a:spLocks noGrp="1"/>
          </p:cNvSpPr>
          <p:nvPr/>
        </p:nvSpPr>
        <p:spPr>
          <a:xfrm>
            <a:off x="6543675" y="2400300"/>
            <a:ext cx="47720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6개 클래스 IoU의 평균</a:t>
            </a:r>
          </a:p>
          <a:p>
            <a:pPr algn="l">
              <a:def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각 클래스를 같은 비중으로 평가</a:t>
            </a:r>
          </a:p>
        </p:txBody>
      </p:sp>
      <p:sp>
        <p:nvSpPr>
          <p:cNvPr id="16" name="Accuracy">
            <a:extLst>
              <a:ext uri="{FF2B5EF4-FFF2-40B4-BE49-F238E27FC236}">
                <a16:creationId xmlns:a16="http://schemas.microsoft.com/office/drawing/2014/main" id="{0C7E97CE-F839-414B-8600-929EECF26BA6}"/>
              </a:ext>
            </a:extLst>
          </p:cNvPr>
          <p:cNvSpPr>
            <a:spLocks noGrp="1"/>
          </p:cNvSpPr>
          <p:nvPr/>
        </p:nvSpPr>
        <p:spPr>
          <a:xfrm>
            <a:off x="6543675" y="3543300"/>
            <a:ext cx="4714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Accuracy</a:t>
            </a:r>
          </a:p>
        </p:txBody>
      </p:sp>
      <p:sp>
        <p:nvSpPr>
          <p:cNvPr id="17" name="전체 복셀 중 정답 비율">
            <a:extLst>
              <a:ext uri="{FF2B5EF4-FFF2-40B4-BE49-F238E27FC236}">
                <a16:creationId xmlns:a16="http://schemas.microsoft.com/office/drawing/2014/main" id="{91A7FF49-C567-45B2-A42A-A132CF62CC36}"/>
              </a:ext>
            </a:extLst>
          </p:cNvPr>
          <p:cNvSpPr>
            <a:spLocks noGrp="1"/>
          </p:cNvSpPr>
          <p:nvPr/>
        </p:nvSpPr>
        <p:spPr>
          <a:xfrm>
            <a:off x="6543675" y="4114800"/>
            <a:ext cx="47720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전체 복셀 중 정답 비율</a:t>
            </a:r>
          </a:p>
        </p:txBody>
      </p:sp>
      <p:sp>
        <p:nvSpPr>
          <p:cNvPr id="18" name="Macro F1">
            <a:extLst>
              <a:ext uri="{FF2B5EF4-FFF2-40B4-BE49-F238E27FC236}">
                <a16:creationId xmlns:a16="http://schemas.microsoft.com/office/drawing/2014/main" id="{E4E5DDE6-005C-4C74-BB7B-9EB468A478C5}"/>
              </a:ext>
            </a:extLst>
          </p:cNvPr>
          <p:cNvSpPr>
            <a:spLocks noGrp="1"/>
          </p:cNvSpPr>
          <p:nvPr/>
        </p:nvSpPr>
        <p:spPr>
          <a:xfrm>
            <a:off x="6543675" y="4962525"/>
            <a:ext cx="4714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Macro F1</a:t>
            </a:r>
          </a:p>
        </p:txBody>
      </p:sp>
      <p:sp>
        <p:nvSpPr>
          <p:cNvPr id="19" name="클래스별 정밀도·재현율의 조화평균 후&#10;6개 클래스의 평균 산출">
            <a:extLst>
              <a:ext uri="{FF2B5EF4-FFF2-40B4-BE49-F238E27FC236}">
                <a16:creationId xmlns:a16="http://schemas.microsoft.com/office/drawing/2014/main" id="{489904AA-E075-4CFE-A49A-3602D64B976A}"/>
              </a:ext>
            </a:extLst>
          </p:cNvPr>
          <p:cNvSpPr>
            <a:spLocks noGrp="1"/>
          </p:cNvSpPr>
          <p:nvPr/>
        </p:nvSpPr>
        <p:spPr>
          <a:xfrm>
            <a:off x="6543675" y="5524500"/>
            <a:ext cx="49339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클래스별 정밀도·재현율의 조화평균 후</a:t>
            </a:r>
          </a:p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6개 클래스의 평균 산출</a:t>
            </a:r>
          </a:p>
        </p:txBody>
      </p:sp>
      <p:sp>
        <p:nvSpPr>
          <p:cNvPr id="20" name="Coverage 100%: 평가 대상 복셀 전체에 대한 예측 ">
            <a:extLst>
              <a:ext uri="{FF2B5EF4-FFF2-40B4-BE49-F238E27FC236}">
                <a16:creationId xmlns:a16="http://schemas.microsoft.com/office/drawing/2014/main" id="{D05B586A-C009-4F2B-B8C6-529FF83509F5}"/>
              </a:ext>
            </a:extLst>
          </p:cNvPr>
          <p:cNvSpPr>
            <a:spLocks noGrp="1"/>
          </p:cNvSpPr>
          <p:nvPr/>
        </p:nvSpPr>
        <p:spPr>
          <a:xfrm>
            <a:off x="628650" y="6315075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Coverage 100%: 평가 대상 복셀 전체에 대한 예측 완료</a:t>
            </a:r>
          </a:p>
        </p:txBody>
      </p:sp>
    </p:spTree>
    <p:extLst>
      <p:ext uri="{BB962C8B-B14F-4D97-AF65-F5344CB8AC3E}">
        <p14:creationId xmlns:p14="http://schemas.microsoft.com/office/powerpoint/2010/main" val="1333302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전체 정량 평가 결과">
            <a:extLst>
              <a:ext uri="{FF2B5EF4-FFF2-40B4-BE49-F238E27FC236}">
                <a16:creationId xmlns:a16="http://schemas.microsoft.com/office/drawing/2014/main" id="{5FB2A5CD-1E59-4D29-9F51-C38578C2D8C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04. 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실제 장면 평가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정량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평가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sz="24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WMSC_points / Common-6 / 단위 %">
            <a:extLst>
              <a:ext uri="{FF2B5EF4-FFF2-40B4-BE49-F238E27FC236}">
                <a16:creationId xmlns:a16="http://schemas.microsoft.com/office/drawing/2014/main" id="{BC162727-35DD-4005-BE8F-FBF777A41AF9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WMSC_points / Common-6 / 단위 %</a:t>
            </a:r>
          </a:p>
        </p:txBody>
      </p:sp>
      <p:graphicFrame>
        <p:nvGraphicFramePr>
          <p:cNvPr id="9" name="표 8"/>
          <p:cNvGraphicFramePr/>
          <p:nvPr/>
        </p:nvGraphicFramePr>
        <p:xfrm>
          <a:off x="628650" y="1562100"/>
          <a:ext cx="10934700" cy="4429126"/>
        </p:xfrm>
        <a:graphic>
          <a:graphicData uri="http://schemas.openxmlformats.org/drawingml/2006/table">
            <a:tbl>
              <a:tblPr firstRow="1"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방식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Accuracy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mIoU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Macro F1</a:t>
                      </a:r>
                    </a:p>
                  </a:txBody>
                  <a:tcPr marL="95250" marR="95250" marT="28575" marB="28575" anchor="ctr">
                    <a:solidFill>
                      <a:srgbClr val="19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Baseline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80.82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39.39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51.72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Baseline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83.17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44.35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57.61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Baseline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128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79.80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46.35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59.75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RGB-16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78.39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42.62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56.86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RGB-16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83.84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43.86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56.87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RGB-16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128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82.55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47.73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61.09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Full-Z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76.93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43.13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57.36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Full-Z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86.50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47.62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59.90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Full-Z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128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85.47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45.51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57.61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Full-Z+RGB-16</a:t>
                      </a:r>
                    </a:p>
                  </a:txBody>
                  <a:tcPr marL="95250" marR="95250" marT="28575" marB="28575" anchor="ctr">
                    <a:solidFill>
                      <a:srgbClr val="E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5250" marR="95250" marT="28575" marB="28575" anchor="ctr">
                    <a:solidFill>
                      <a:srgbClr val="E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85.34</a:t>
                      </a:r>
                    </a:p>
                  </a:txBody>
                  <a:tcPr marL="95250" marR="95250" marT="28575" marB="28575" anchor="ctr">
                    <a:solidFill>
                      <a:srgbClr val="E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48.86</a:t>
                      </a:r>
                    </a:p>
                  </a:txBody>
                  <a:tcPr marL="95250" marR="95250" marT="28575" marB="28575" anchor="ctr">
                    <a:solidFill>
                      <a:srgbClr val="E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61.20</a:t>
                      </a:r>
                    </a:p>
                  </a:txBody>
                  <a:tcPr marL="95250" marR="95250" marT="28575" marB="28575" anchor="ctr">
                    <a:solidFill>
                      <a:srgbClr val="E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Full-Z+RGB-16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82.94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47.20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60.54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Full-Z+RGB-16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128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83.08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47.65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7313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60.81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Baseline / P32: 일부 epoch의 loss NaN">
            <a:extLst>
              <a:ext uri="{FF2B5EF4-FFF2-40B4-BE49-F238E27FC236}">
                <a16:creationId xmlns:a16="http://schemas.microsoft.com/office/drawing/2014/main" id="{DD7237B5-A618-4F3A-938F-83A6A16637D8}"/>
              </a:ext>
            </a:extLst>
          </p:cNvPr>
          <p:cNvSpPr>
            <a:spLocks noGrp="1"/>
          </p:cNvSpPr>
          <p:nvPr/>
        </p:nvSpPr>
        <p:spPr>
          <a:xfrm>
            <a:off x="628650" y="6191250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Baseline / P32: 일부 epoch의 loss NaN 기록. 최고 Accuracy는 Full-Z / P64.</a:t>
            </a:r>
          </a:p>
        </p:txBody>
      </p:sp>
    </p:spTree>
    <p:extLst>
      <p:ext uri="{BB962C8B-B14F-4D97-AF65-F5344CB8AC3E}">
        <p14:creationId xmlns:p14="http://schemas.microsoft.com/office/powerpoint/2010/main" val="1398780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입력 방식별 최고 성능">
            <a:extLst>
              <a:ext uri="{FF2B5EF4-FFF2-40B4-BE49-F238E27FC236}">
                <a16:creationId xmlns:a16="http://schemas.microsoft.com/office/drawing/2014/main" id="{89A425F2-95BA-436E-A91C-869175CD11A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04. 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실제 장면 평가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방식별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최고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성능</a:t>
            </a:r>
            <a:endParaRPr sz="24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각 입력 방식의 패치 크기 3종 중 가장 높은 mIoU를 비교">
            <a:extLst>
              <a:ext uri="{FF2B5EF4-FFF2-40B4-BE49-F238E27FC236}">
                <a16:creationId xmlns:a16="http://schemas.microsoft.com/office/drawing/2014/main" id="{002E5F7B-4608-420F-AA41-95D1E119C6BA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각 입력 방식의 패치 크기 3종 중 가장 높은 mIoU를 비교 (단위 %)</a:t>
            </a:r>
          </a:p>
        </p:txBody>
      </p:sp>
      <p:graphicFrame>
        <p:nvGraphicFramePr>
          <p:cNvPr id="13" name="Chart"/>
          <p:cNvGraphicFramePr/>
          <p:nvPr>
            <p:extLst>
              <p:ext uri="{D42A27DB-BD31-4B8C-83A1-F6EECF244321}">
                <p14:modId xmlns:p14="http://schemas.microsoft.com/office/powerpoint/2010/main" val="2685339613"/>
              </p:ext>
            </p:extLst>
          </p:nvPr>
        </p:nvGraphicFramePr>
        <p:xfrm>
          <a:off x="609600" y="1809750"/>
          <a:ext cx="77152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ull-Z+RGB-16 / P32">
            <a:extLst>
              <a:ext uri="{FF2B5EF4-FFF2-40B4-BE49-F238E27FC236}">
                <a16:creationId xmlns:a16="http://schemas.microsoft.com/office/drawing/2014/main" id="{B3CD371E-9E0E-4AC8-A5C8-EC2B4EABE347}"/>
              </a:ext>
            </a:extLst>
          </p:cNvPr>
          <p:cNvSpPr>
            <a:spLocks noGrp="1"/>
          </p:cNvSpPr>
          <p:nvPr/>
        </p:nvSpPr>
        <p:spPr>
          <a:xfrm>
            <a:off x="8591550" y="1981200"/>
            <a:ext cx="30003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Full-Z+RGB-16 / P32</a:t>
            </a:r>
          </a:p>
        </p:txBody>
      </p:sp>
      <p:sp>
        <p:nvSpPr>
          <p:cNvPr id="6" name="mIoU">
            <a:extLst>
              <a:ext uri="{FF2B5EF4-FFF2-40B4-BE49-F238E27FC236}">
                <a16:creationId xmlns:a16="http://schemas.microsoft.com/office/drawing/2014/main" id="{679C40F7-DBE9-4E54-A005-92BEE5948563}"/>
              </a:ext>
            </a:extLst>
          </p:cNvPr>
          <p:cNvSpPr>
            <a:spLocks noGrp="1"/>
          </p:cNvSpPr>
          <p:nvPr/>
        </p:nvSpPr>
        <p:spPr>
          <a:xfrm>
            <a:off x="8591550" y="3086100"/>
            <a:ext cx="29813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mIoU</a:t>
            </a:r>
          </a:p>
        </p:txBody>
      </p:sp>
      <p:sp>
        <p:nvSpPr>
          <p:cNvPr id="7" name="48.86%">
            <a:extLst>
              <a:ext uri="{FF2B5EF4-FFF2-40B4-BE49-F238E27FC236}">
                <a16:creationId xmlns:a16="http://schemas.microsoft.com/office/drawing/2014/main" id="{0946BB80-787A-4FD8-A880-E77B51EAE090}"/>
              </a:ext>
            </a:extLst>
          </p:cNvPr>
          <p:cNvSpPr>
            <a:spLocks noGrp="1"/>
          </p:cNvSpPr>
          <p:nvPr/>
        </p:nvSpPr>
        <p:spPr>
          <a:xfrm>
            <a:off x="8591550" y="3486150"/>
            <a:ext cx="29813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48.86%</a:t>
            </a:r>
          </a:p>
        </p:txBody>
      </p:sp>
      <p:sp>
        <p:nvSpPr>
          <p:cNvPr id="8" name="Macro F1  61.20%&#10;Accuracy  85.34%">
            <a:extLst>
              <a:ext uri="{FF2B5EF4-FFF2-40B4-BE49-F238E27FC236}">
                <a16:creationId xmlns:a16="http://schemas.microsoft.com/office/drawing/2014/main" id="{4EBAD3B0-53B0-4324-833E-BE60781C8B6A}"/>
              </a:ext>
            </a:extLst>
          </p:cNvPr>
          <p:cNvSpPr>
            <a:spLocks noGrp="1"/>
          </p:cNvSpPr>
          <p:nvPr/>
        </p:nvSpPr>
        <p:spPr>
          <a:xfrm>
            <a:off x="8591550" y="4524375"/>
            <a:ext cx="29813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Macro F1  61.20%</a:t>
            </a:r>
          </a:p>
          <a:p>
            <a:pPr algn="l">
              <a:def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Accuracy  85.34%</a:t>
            </a:r>
          </a:p>
        </p:txBody>
      </p:sp>
      <p:sp>
        <p:nvSpPr>
          <p:cNvPr id="9" name="평가 대상 WMSC 1개 장면. 최고 Accuracy 86.5">
            <a:extLst>
              <a:ext uri="{FF2B5EF4-FFF2-40B4-BE49-F238E27FC236}">
                <a16:creationId xmlns:a16="http://schemas.microsoft.com/office/drawing/2014/main" id="{C6614CD5-A7DA-457A-8122-DC2079569ED5}"/>
              </a:ext>
            </a:extLst>
          </p:cNvPr>
          <p:cNvSpPr>
            <a:spLocks noGrp="1"/>
          </p:cNvSpPr>
          <p:nvPr/>
        </p:nvSpPr>
        <p:spPr>
          <a:xfrm>
            <a:off x="628650" y="6019800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평가 대상 WMSC 1개 장면. 최고 Accuracy 86.50% (Full-Z / P64)</a:t>
            </a:r>
          </a:p>
        </p:txBody>
      </p:sp>
    </p:spTree>
    <p:extLst>
      <p:ext uri="{BB962C8B-B14F-4D97-AF65-F5344CB8AC3E}">
        <p14:creationId xmlns:p14="http://schemas.microsoft.com/office/powerpoint/2010/main" val="2122369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패치 크기에 따른 mIoU">
            <a:extLst>
              <a:ext uri="{FF2B5EF4-FFF2-40B4-BE49-F238E27FC236}">
                <a16:creationId xmlns:a16="http://schemas.microsoft.com/office/drawing/2014/main" id="{79700518-7CF4-4895-87A1-120195E9544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04. 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실제 장면 평가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패치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크기에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따른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mIoU</a:t>
            </a:r>
            <a:r>
              <a:rPr lang="en-US"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비교 분석</a:t>
            </a:r>
            <a:endParaRPr sz="24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입력 구성별 패치 크기 변화에 따른 mIoU 비교">
            <a:extLst>
              <a:ext uri="{FF2B5EF4-FFF2-40B4-BE49-F238E27FC236}">
                <a16:creationId xmlns:a16="http://schemas.microsoft.com/office/drawing/2014/main" id="{EFEA0BC4-74ED-44A0-81AA-F5325F3E5A0E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입력 구성별 패치 크기 변화에 따른 mIoU 비교</a:t>
            </a:r>
          </a:p>
        </p:txBody>
      </p:sp>
      <p:graphicFrame>
        <p:nvGraphicFramePr>
          <p:cNvPr id="14" name="Chart"/>
          <p:cNvGraphicFramePr/>
          <p:nvPr>
            <p:extLst>
              <p:ext uri="{D42A27DB-BD31-4B8C-83A1-F6EECF244321}">
                <p14:modId xmlns:p14="http://schemas.microsoft.com/office/powerpoint/2010/main" val="2187496388"/>
              </p:ext>
            </p:extLst>
          </p:nvPr>
        </p:nvGraphicFramePr>
        <p:xfrm>
          <a:off x="628650" y="1695450"/>
          <a:ext cx="73533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GB-16 적용 효과">
            <a:extLst>
              <a:ext uri="{FF2B5EF4-FFF2-40B4-BE49-F238E27FC236}">
                <a16:creationId xmlns:a16="http://schemas.microsoft.com/office/drawing/2014/main" id="{D14EF152-99B9-4B17-AC81-03DEAA3681FD}"/>
              </a:ext>
            </a:extLst>
          </p:cNvPr>
          <p:cNvSpPr>
            <a:spLocks noGrp="1"/>
          </p:cNvSpPr>
          <p:nvPr/>
        </p:nvSpPr>
        <p:spPr>
          <a:xfrm>
            <a:off x="8429625" y="1971675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RGB-16 적용 효과</a:t>
            </a:r>
          </a:p>
        </p:txBody>
      </p:sp>
      <p:sp>
        <p:nvSpPr>
          <p:cNvPr id="6" name="Full-Z / P32">
            <a:extLst>
              <a:ext uri="{FF2B5EF4-FFF2-40B4-BE49-F238E27FC236}">
                <a16:creationId xmlns:a16="http://schemas.microsoft.com/office/drawing/2014/main" id="{976B23BE-B74E-485E-9ACB-E7D2FAC227A7}"/>
              </a:ext>
            </a:extLst>
          </p:cNvPr>
          <p:cNvSpPr>
            <a:spLocks noGrp="1"/>
          </p:cNvSpPr>
          <p:nvPr/>
        </p:nvSpPr>
        <p:spPr>
          <a:xfrm>
            <a:off x="8429625" y="280987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Full-Z / P32</a:t>
            </a:r>
          </a:p>
        </p:txBody>
      </p:sp>
      <p:sp>
        <p:nvSpPr>
          <p:cNvPr id="7" name="+5.73%p">
            <a:extLst>
              <a:ext uri="{FF2B5EF4-FFF2-40B4-BE49-F238E27FC236}">
                <a16:creationId xmlns:a16="http://schemas.microsoft.com/office/drawing/2014/main" id="{9F94CC99-3DA3-4750-A69C-918639EA937E}"/>
              </a:ext>
            </a:extLst>
          </p:cNvPr>
          <p:cNvSpPr>
            <a:spLocks noGrp="1"/>
          </p:cNvSpPr>
          <p:nvPr/>
        </p:nvSpPr>
        <p:spPr>
          <a:xfrm>
            <a:off x="8429625" y="3257550"/>
            <a:ext cx="314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+5.73%p</a:t>
            </a:r>
          </a:p>
        </p:txBody>
      </p:sp>
      <p:sp>
        <p:nvSpPr>
          <p:cNvPr id="8" name="43.13%에서 48.86%">
            <a:extLst>
              <a:ext uri="{FF2B5EF4-FFF2-40B4-BE49-F238E27FC236}">
                <a16:creationId xmlns:a16="http://schemas.microsoft.com/office/drawing/2014/main" id="{39DA9DF1-6F1F-4DAE-9503-6B56D948D627}"/>
              </a:ext>
            </a:extLst>
          </p:cNvPr>
          <p:cNvSpPr>
            <a:spLocks noGrp="1"/>
          </p:cNvSpPr>
          <p:nvPr/>
        </p:nvSpPr>
        <p:spPr>
          <a:xfrm>
            <a:off x="8429625" y="392430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43.13%</a:t>
            </a:r>
            <a:r>
              <a:rPr lang="en-US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</a:t>
            </a:r>
            <a:r>
              <a:rPr sz="1800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48.86%</a:t>
            </a:r>
          </a:p>
        </p:txBody>
      </p:sp>
      <p:sp>
        <p:nvSpPr>
          <p:cNvPr id="9" name="P64에서는 Cube와 Full-Z&#10;모두 mIoU가 소폭 감소">
            <a:extLst>
              <a:ext uri="{FF2B5EF4-FFF2-40B4-BE49-F238E27FC236}">
                <a16:creationId xmlns:a16="http://schemas.microsoft.com/office/drawing/2014/main" id="{84854660-A450-477B-9FB4-D78D3C51D956}"/>
              </a:ext>
            </a:extLst>
          </p:cNvPr>
          <p:cNvSpPr>
            <a:spLocks noGrp="1"/>
          </p:cNvSpPr>
          <p:nvPr/>
        </p:nvSpPr>
        <p:spPr>
          <a:xfrm>
            <a:off x="8429625" y="4772025"/>
            <a:ext cx="3143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P64에서는 Cube와 Full-Z</a:t>
            </a:r>
          </a:p>
          <a:p>
            <a:pPr algn="l">
              <a:def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모두 mIoU가 소폭 감소</a:t>
            </a:r>
          </a:p>
        </p:txBody>
      </p:sp>
      <p:sp>
        <p:nvSpPr>
          <p:cNvPr id="10" name="패치 크기와 색상 표현의 조합을 고려한 입력 구성 선택 필요">
            <a:extLst>
              <a:ext uri="{FF2B5EF4-FFF2-40B4-BE49-F238E27FC236}">
                <a16:creationId xmlns:a16="http://schemas.microsoft.com/office/drawing/2014/main" id="{8929D755-DDF0-4DE3-9B40-E9E99B708E0E}"/>
              </a:ext>
            </a:extLst>
          </p:cNvPr>
          <p:cNvSpPr>
            <a:spLocks noGrp="1"/>
          </p:cNvSpPr>
          <p:nvPr/>
        </p:nvSpPr>
        <p:spPr>
          <a:xfrm>
            <a:off x="628650" y="6076950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패치 크기와 색상 표현의 조합을 고려한 입력 구성 선택 필요</a:t>
            </a:r>
          </a:p>
        </p:txBody>
      </p:sp>
    </p:spTree>
    <p:extLst>
      <p:ext uri="{BB962C8B-B14F-4D97-AF65-F5344CB8AC3E}">
        <p14:creationId xmlns:p14="http://schemas.microsoft.com/office/powerpoint/2010/main" val="1939251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클래스별 분할 결과">
            <a:extLst>
              <a:ext uri="{FF2B5EF4-FFF2-40B4-BE49-F238E27FC236}">
                <a16:creationId xmlns:a16="http://schemas.microsoft.com/office/drawing/2014/main" id="{C06AE345-02CC-4415-8770-FCD7EAF9F69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04. 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실제 장면 평가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클래스별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분할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sz="24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Full-Z+RGB-16 / P32">
            <a:extLst>
              <a:ext uri="{FF2B5EF4-FFF2-40B4-BE49-F238E27FC236}">
                <a16:creationId xmlns:a16="http://schemas.microsoft.com/office/drawing/2014/main" id="{AC3BE2AD-69E3-45A6-A414-B8613F57FD95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Full-Z+RGB-16 / P32</a:t>
            </a:r>
          </a:p>
        </p:txBody>
      </p:sp>
      <p:sp>
        <p:nvSpPr>
          <p:cNvPr id="4" name="클래스별 IoU (%)">
            <a:extLst>
              <a:ext uri="{FF2B5EF4-FFF2-40B4-BE49-F238E27FC236}">
                <a16:creationId xmlns:a16="http://schemas.microsoft.com/office/drawing/2014/main" id="{1A3EDF2F-01CA-4DEC-AECD-00A54DA81FEB}"/>
              </a:ext>
            </a:extLst>
          </p:cNvPr>
          <p:cNvSpPr>
            <a:spLocks noGrp="1"/>
          </p:cNvSpPr>
          <p:nvPr/>
        </p:nvSpPr>
        <p:spPr>
          <a:xfrm>
            <a:off x="628650" y="1666875"/>
            <a:ext cx="4876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클래스별 IoU (%)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590550" y="2152650"/>
          <a:ext cx="5200650" cy="3533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혼동행렬: 행은 정답, 열은 예측">
            <a:extLst>
              <a:ext uri="{FF2B5EF4-FFF2-40B4-BE49-F238E27FC236}">
                <a16:creationId xmlns:a16="http://schemas.microsoft.com/office/drawing/2014/main" id="{04572B9D-318D-47B5-A620-4B21D6071022}"/>
              </a:ext>
            </a:extLst>
          </p:cNvPr>
          <p:cNvSpPr>
            <a:spLocks noGrp="1"/>
          </p:cNvSpPr>
          <p:nvPr/>
        </p:nvSpPr>
        <p:spPr>
          <a:xfrm>
            <a:off x="6238875" y="1395412"/>
            <a:ext cx="5391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025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Confusion</a:t>
            </a:r>
            <a:r>
              <a:rPr lang="ko-KR" altLang="en-US" sz="2025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2025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Matrix</a:t>
            </a:r>
            <a:endParaRPr sz="2025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Fence IoU 7.0%, Recall 14%. 실제 Fen">
            <a:extLst>
              <a:ext uri="{FF2B5EF4-FFF2-40B4-BE49-F238E27FC236}">
                <a16:creationId xmlns:a16="http://schemas.microsoft.com/office/drawing/2014/main" id="{315B8BD1-066D-403F-945C-07EF15D338F0}"/>
              </a:ext>
            </a:extLst>
          </p:cNvPr>
          <p:cNvSpPr>
            <a:spLocks noGrp="1"/>
          </p:cNvSpPr>
          <p:nvPr/>
        </p:nvSpPr>
        <p:spPr>
          <a:xfrm>
            <a:off x="628650" y="6153150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Fence IoU 7.0%, Recall 14%. 실제 Fence의 67%에서 Ground 오분류 발생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943310-54C7-DCA9-369B-CFDC50E753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6"/>
          <a:stretch/>
        </p:blipFill>
        <p:spPr>
          <a:xfrm>
            <a:off x="6010275" y="1736724"/>
            <a:ext cx="4743450" cy="424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623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실제 장면 분할 결과">
            <a:extLst>
              <a:ext uri="{FF2B5EF4-FFF2-40B4-BE49-F238E27FC236}">
                <a16:creationId xmlns:a16="http://schemas.microsoft.com/office/drawing/2014/main" id="{2325E9AA-0CA4-4A16-B1FA-D7159A2AB44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04. </a:t>
            </a: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실제 장면 평가 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분할</a:t>
            </a:r>
            <a:r>
              <a:rPr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lang="en-US"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4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비교</a:t>
            </a:r>
            <a:endParaRPr sz="24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Full-Z+RGB-16 / P32">
            <a:extLst>
              <a:ext uri="{FF2B5EF4-FFF2-40B4-BE49-F238E27FC236}">
                <a16:creationId xmlns:a16="http://schemas.microsoft.com/office/drawing/2014/main" id="{C141F0D0-70C8-496C-B2B7-52AE1D454E32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109347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Full-Z+RGB-16 / P32</a:t>
            </a:r>
          </a:p>
        </p:txBody>
      </p:sp>
      <p:sp>
        <p:nvSpPr>
          <p:cNvPr id="4" name="Ground">
            <a:extLst>
              <a:ext uri="{FF2B5EF4-FFF2-40B4-BE49-F238E27FC236}">
                <a16:creationId xmlns:a16="http://schemas.microsoft.com/office/drawing/2014/main" id="{34B3DEB4-0DBC-4AE9-9F49-95D326C5C08A}"/>
              </a:ext>
            </a:extLst>
          </p:cNvPr>
          <p:cNvSpPr>
            <a:spLocks noGrp="1"/>
          </p:cNvSpPr>
          <p:nvPr/>
        </p:nvSpPr>
        <p:spPr>
          <a:xfrm>
            <a:off x="666750" y="1647825"/>
            <a:ext cx="1762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Ground</a:t>
            </a:r>
          </a:p>
        </p:txBody>
      </p:sp>
      <p:sp>
        <p:nvSpPr>
          <p:cNvPr id="5" name="Building">
            <a:extLst>
              <a:ext uri="{FF2B5EF4-FFF2-40B4-BE49-F238E27FC236}">
                <a16:creationId xmlns:a16="http://schemas.microsoft.com/office/drawing/2014/main" id="{1D06D26F-3A4E-4477-9F1F-F4D81BF03177}"/>
              </a:ext>
            </a:extLst>
          </p:cNvPr>
          <p:cNvSpPr>
            <a:spLocks noGrp="1"/>
          </p:cNvSpPr>
          <p:nvPr/>
        </p:nvSpPr>
        <p:spPr>
          <a:xfrm>
            <a:off x="2495550" y="1647825"/>
            <a:ext cx="1762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DD24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DD242A"/>
                </a:solidFill>
                <a:latin typeface="Malgun Gothic"/>
                <a:ea typeface="Malgun Gothic"/>
                <a:cs typeface="Malgun Gothic"/>
              </a:rPr>
              <a:t>Building</a:t>
            </a:r>
          </a:p>
        </p:txBody>
      </p:sp>
      <p:sp>
        <p:nvSpPr>
          <p:cNvPr id="6" name="Tree">
            <a:extLst>
              <a:ext uri="{FF2B5EF4-FFF2-40B4-BE49-F238E27FC236}">
                <a16:creationId xmlns:a16="http://schemas.microsoft.com/office/drawing/2014/main" id="{DA00AD8A-CD51-4DE9-90AF-F764AC746E53}"/>
              </a:ext>
            </a:extLst>
          </p:cNvPr>
          <p:cNvSpPr>
            <a:spLocks noGrp="1"/>
          </p:cNvSpPr>
          <p:nvPr/>
        </p:nvSpPr>
        <p:spPr>
          <a:xfrm>
            <a:off x="4324350" y="1647825"/>
            <a:ext cx="1762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09C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09C31"/>
                </a:solidFill>
                <a:latin typeface="Malgun Gothic"/>
                <a:ea typeface="Malgun Gothic"/>
                <a:cs typeface="Malgun Gothic"/>
              </a:rPr>
              <a:t>Tree</a:t>
            </a:r>
          </a:p>
        </p:txBody>
      </p:sp>
      <p:sp>
        <p:nvSpPr>
          <p:cNvPr id="7" name="Car">
            <a:extLst>
              <a:ext uri="{FF2B5EF4-FFF2-40B4-BE49-F238E27FC236}">
                <a16:creationId xmlns:a16="http://schemas.microsoft.com/office/drawing/2014/main" id="{3072EB06-34C9-4ECB-833A-5623853F11D0}"/>
              </a:ext>
            </a:extLst>
          </p:cNvPr>
          <p:cNvSpPr>
            <a:spLocks noGrp="1"/>
          </p:cNvSpPr>
          <p:nvPr/>
        </p:nvSpPr>
        <p:spPr>
          <a:xfrm>
            <a:off x="6153150" y="1647825"/>
            <a:ext cx="1762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37EB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37EB1"/>
                </a:solidFill>
                <a:latin typeface="Malgun Gothic"/>
                <a:ea typeface="Malgun Gothic"/>
                <a:cs typeface="Malgun Gothic"/>
              </a:rPr>
              <a:t>Car</a:t>
            </a:r>
          </a:p>
        </p:txBody>
      </p:sp>
      <p:sp>
        <p:nvSpPr>
          <p:cNvPr id="8" name="Light pole">
            <a:extLst>
              <a:ext uri="{FF2B5EF4-FFF2-40B4-BE49-F238E27FC236}">
                <a16:creationId xmlns:a16="http://schemas.microsoft.com/office/drawing/2014/main" id="{6E12C24D-1601-49FB-BD71-2304DF9E5881}"/>
              </a:ext>
            </a:extLst>
          </p:cNvPr>
          <p:cNvSpPr>
            <a:spLocks noGrp="1"/>
          </p:cNvSpPr>
          <p:nvPr/>
        </p:nvSpPr>
        <p:spPr>
          <a:xfrm>
            <a:off x="7981950" y="1647825"/>
            <a:ext cx="1762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DAA3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DAA300"/>
                </a:solidFill>
                <a:latin typeface="Malgun Gothic"/>
                <a:ea typeface="Malgun Gothic"/>
                <a:cs typeface="Malgun Gothic"/>
              </a:rPr>
              <a:t>Light pole</a:t>
            </a:r>
          </a:p>
        </p:txBody>
      </p:sp>
      <p:sp>
        <p:nvSpPr>
          <p:cNvPr id="9" name="Fence">
            <a:extLst>
              <a:ext uri="{FF2B5EF4-FFF2-40B4-BE49-F238E27FC236}">
                <a16:creationId xmlns:a16="http://schemas.microsoft.com/office/drawing/2014/main" id="{1476D48F-0101-4E33-BF92-85186C8B605A}"/>
              </a:ext>
            </a:extLst>
          </p:cNvPr>
          <p:cNvSpPr>
            <a:spLocks noGrp="1"/>
          </p:cNvSpPr>
          <p:nvPr/>
        </p:nvSpPr>
        <p:spPr>
          <a:xfrm>
            <a:off x="9810750" y="1647825"/>
            <a:ext cx="1762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93491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93491F"/>
                </a:solidFill>
                <a:latin typeface="Malgun Gothic"/>
                <a:ea typeface="Malgun Gothic"/>
                <a:cs typeface="Malgun Gothic"/>
              </a:rPr>
              <a:t>Fence</a:t>
            </a:r>
          </a:p>
        </p:txBody>
      </p:sp>
      <p:sp>
        <p:nvSpPr>
          <p:cNvPr id="10" name="정답 라벨">
            <a:extLst>
              <a:ext uri="{FF2B5EF4-FFF2-40B4-BE49-F238E27FC236}">
                <a16:creationId xmlns:a16="http://schemas.microsoft.com/office/drawing/2014/main" id="{1C0FD46E-3114-48F8-B506-3DD53044B1BB}"/>
              </a:ext>
            </a:extLst>
          </p:cNvPr>
          <p:cNvSpPr>
            <a:spLocks noGrp="1"/>
          </p:cNvSpPr>
          <p:nvPr/>
        </p:nvSpPr>
        <p:spPr>
          <a:xfrm>
            <a:off x="666750" y="2200275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정답 라벨</a:t>
            </a:r>
          </a:p>
        </p:txBody>
      </p:sp>
      <p:sp>
        <p:nvSpPr>
          <p:cNvPr id="11" name="예측 결과">
            <a:extLst>
              <a:ext uri="{FF2B5EF4-FFF2-40B4-BE49-F238E27FC236}">
                <a16:creationId xmlns:a16="http://schemas.microsoft.com/office/drawing/2014/main" id="{4DBCFC53-BB73-41EF-BEEE-75DCD776F8C7}"/>
              </a:ext>
            </a:extLst>
          </p:cNvPr>
          <p:cNvSpPr>
            <a:spLocks noGrp="1"/>
          </p:cNvSpPr>
          <p:nvPr/>
        </p:nvSpPr>
        <p:spPr>
          <a:xfrm>
            <a:off x="6381750" y="2200275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예측 결과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" y="2792647"/>
            <a:ext cx="5238750" cy="3120555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24600" y="2794523"/>
            <a:ext cx="5238750" cy="3116804"/>
          </a:xfrm>
          <a:prstGeom prst="rect">
            <a:avLst/>
          </a:prstGeom>
        </p:spPr>
      </p:pic>
      <p:sp>
        <p:nvSpPr>
          <p:cNvPr id="14" name="Accuracy 85.34%         mIoU 48.86">
            <a:extLst>
              <a:ext uri="{FF2B5EF4-FFF2-40B4-BE49-F238E27FC236}">
                <a16:creationId xmlns:a16="http://schemas.microsoft.com/office/drawing/2014/main" id="{ACCBD54A-DED3-4394-A3F4-CF0B189547CF}"/>
              </a:ext>
            </a:extLst>
          </p:cNvPr>
          <p:cNvSpPr>
            <a:spLocks noGrp="1"/>
          </p:cNvSpPr>
          <p:nvPr/>
        </p:nvSpPr>
        <p:spPr>
          <a:xfrm>
            <a:off x="628650" y="6105525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Accuracy 85.34%         mIoU 48.86%         Macro F1 61.20%</a:t>
            </a:r>
          </a:p>
        </p:txBody>
      </p:sp>
    </p:spTree>
    <p:extLst>
      <p:ext uri="{BB962C8B-B14F-4D97-AF65-F5344CB8AC3E}">
        <p14:creationId xmlns:p14="http://schemas.microsoft.com/office/powerpoint/2010/main" val="1864031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결론 및 후속 연구">
            <a:extLst>
              <a:ext uri="{FF2B5EF4-FFF2-40B4-BE49-F238E27FC236}">
                <a16:creationId xmlns:a16="http://schemas.microsoft.com/office/drawing/2014/main" id="{E3F9C22A-B470-4AC1-94B9-2D0E710B5F7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05. </a:t>
            </a:r>
            <a:r>
              <a:rPr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결론</a:t>
            </a:r>
            <a:r>
              <a:rPr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후속</a:t>
            </a:r>
            <a:r>
              <a:rPr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연구</a:t>
            </a:r>
            <a:endParaRPr sz="315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복셀 학습 데이터의 색상·공간 구성에 따른&#10;객체 분할 성능 차">
            <a:extLst>
              <a:ext uri="{FF2B5EF4-FFF2-40B4-BE49-F238E27FC236}">
                <a16:creationId xmlns:a16="http://schemas.microsoft.com/office/drawing/2014/main" id="{00ED75B6-94BA-4718-8437-6F2A0AACA6E4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34700" cy="4882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복셀</a:t>
            </a:r>
            <a:r>
              <a:rPr sz="27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학습</a:t>
            </a:r>
            <a:r>
              <a:rPr sz="27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데이터의</a:t>
            </a:r>
            <a:r>
              <a:rPr sz="27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색상·공간</a:t>
            </a:r>
            <a:r>
              <a:rPr sz="27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구성에</a:t>
            </a:r>
            <a:r>
              <a:rPr sz="27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따른</a:t>
            </a:r>
            <a:r>
              <a:rPr lang="en-US" sz="27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객체</a:t>
            </a:r>
            <a:r>
              <a:rPr sz="27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분할</a:t>
            </a:r>
            <a:r>
              <a:rPr sz="27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성능</a:t>
            </a:r>
            <a:r>
              <a:rPr sz="27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차이</a:t>
            </a:r>
            <a:r>
              <a:rPr sz="27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27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본 실험의 최고 mIoU">
            <a:extLst>
              <a:ext uri="{FF2B5EF4-FFF2-40B4-BE49-F238E27FC236}">
                <a16:creationId xmlns:a16="http://schemas.microsoft.com/office/drawing/2014/main" id="{9247E120-4FA7-4761-8F50-9BB48CFE80BD}"/>
              </a:ext>
            </a:extLst>
          </p:cNvPr>
          <p:cNvSpPr>
            <a:spLocks noGrp="1"/>
          </p:cNvSpPr>
          <p:nvPr/>
        </p:nvSpPr>
        <p:spPr>
          <a:xfrm>
            <a:off x="628650" y="3933825"/>
            <a:ext cx="85282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6070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dirty="0" err="1">
                <a:solidFill>
                  <a:srgbClr val="607080"/>
                </a:solidFill>
                <a:latin typeface="Malgun Gothic"/>
                <a:ea typeface="Malgun Gothic"/>
                <a:cs typeface="Malgun Gothic"/>
              </a:rPr>
              <a:t>mIoU</a:t>
            </a:r>
            <a:endParaRPr sz="2025" b="0" dirty="0">
              <a:solidFill>
                <a:srgbClr val="60708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48.86%">
            <a:extLst>
              <a:ext uri="{FF2B5EF4-FFF2-40B4-BE49-F238E27FC236}">
                <a16:creationId xmlns:a16="http://schemas.microsoft.com/office/drawing/2014/main" id="{7CC1138A-5CAD-46F8-ADC7-59A3457A0018}"/>
              </a:ext>
            </a:extLst>
          </p:cNvPr>
          <p:cNvSpPr>
            <a:spLocks noGrp="1"/>
          </p:cNvSpPr>
          <p:nvPr/>
        </p:nvSpPr>
        <p:spPr>
          <a:xfrm>
            <a:off x="1628775" y="3695700"/>
            <a:ext cx="39147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75" b="1">
                <a:solidFill>
                  <a:srgbClr val="008C96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 dirty="0">
                <a:solidFill>
                  <a:srgbClr val="008C96"/>
                </a:solidFill>
                <a:latin typeface="Malgun Gothic"/>
                <a:ea typeface="Malgun Gothic"/>
                <a:cs typeface="Malgun Gothic"/>
              </a:rPr>
              <a:t>48.86%</a:t>
            </a:r>
          </a:p>
        </p:txBody>
      </p:sp>
      <p:sp>
        <p:nvSpPr>
          <p:cNvPr id="6" name="Full-Z+RGB-16 / P32">
            <a:extLst>
              <a:ext uri="{FF2B5EF4-FFF2-40B4-BE49-F238E27FC236}">
                <a16:creationId xmlns:a16="http://schemas.microsoft.com/office/drawing/2014/main" id="{F3822669-4FF5-4306-A729-118CD39B53DA}"/>
              </a:ext>
            </a:extLst>
          </p:cNvPr>
          <p:cNvSpPr>
            <a:spLocks noGrp="1"/>
          </p:cNvSpPr>
          <p:nvPr/>
        </p:nvSpPr>
        <p:spPr>
          <a:xfrm>
            <a:off x="628650" y="3193312"/>
            <a:ext cx="4381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Full-Z+RGB-16 / P32</a:t>
            </a:r>
          </a:p>
        </p:txBody>
      </p:sp>
      <p:sp>
        <p:nvSpPr>
          <p:cNvPr id="7" name="결과의 적용 범위">
            <a:extLst>
              <a:ext uri="{FF2B5EF4-FFF2-40B4-BE49-F238E27FC236}">
                <a16:creationId xmlns:a16="http://schemas.microsoft.com/office/drawing/2014/main" id="{CA0AB84E-8B72-4BAC-943D-23C407515345}"/>
              </a:ext>
            </a:extLst>
          </p:cNvPr>
          <p:cNvSpPr>
            <a:spLocks noGrp="1"/>
          </p:cNvSpPr>
          <p:nvPr/>
        </p:nvSpPr>
        <p:spPr>
          <a:xfrm>
            <a:off x="5543550" y="3162300"/>
            <a:ext cx="60102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결과의 적용 범위</a:t>
            </a:r>
          </a:p>
        </p:txBody>
      </p:sp>
      <p:sp>
        <p:nvSpPr>
          <p:cNvPr id="8" name="실제 평가는 WMSC 한 장면에 한정&#10;패치 수와 학습 업데이트">
            <a:extLst>
              <a:ext uri="{FF2B5EF4-FFF2-40B4-BE49-F238E27FC236}">
                <a16:creationId xmlns:a16="http://schemas.microsoft.com/office/drawing/2014/main" id="{300AE748-A7D2-42F2-9913-2466A2BB9F7E}"/>
              </a:ext>
            </a:extLst>
          </p:cNvPr>
          <p:cNvSpPr>
            <a:spLocks noGrp="1"/>
          </p:cNvSpPr>
          <p:nvPr/>
        </p:nvSpPr>
        <p:spPr>
          <a:xfrm>
            <a:off x="5543550" y="3743325"/>
            <a:ext cx="60102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평가는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WMSC 한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장면에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한정</a:t>
            </a:r>
            <a:endParaRPr sz="2025" b="0" dirty="0">
              <a:solidFill>
                <a:srgbClr val="27313C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후속 실험">
            <a:extLst>
              <a:ext uri="{FF2B5EF4-FFF2-40B4-BE49-F238E27FC236}">
                <a16:creationId xmlns:a16="http://schemas.microsoft.com/office/drawing/2014/main" id="{91B45AF6-92A7-48BE-ACE8-9BAFCDD0F089}"/>
              </a:ext>
            </a:extLst>
          </p:cNvPr>
          <p:cNvSpPr>
            <a:spLocks noGrp="1"/>
          </p:cNvSpPr>
          <p:nvPr/>
        </p:nvSpPr>
        <p:spPr>
          <a:xfrm>
            <a:off x="5543550" y="5057775"/>
            <a:ext cx="6010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175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Future Works</a:t>
            </a:r>
            <a:endParaRPr sz="2175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학습 횟수 통제와 반복 실험&#10;추가 실제 장면 평가 및 작은 객">
            <a:extLst>
              <a:ext uri="{FF2B5EF4-FFF2-40B4-BE49-F238E27FC236}">
                <a16:creationId xmlns:a16="http://schemas.microsoft.com/office/drawing/2014/main" id="{6C54F8E1-4256-4536-8608-67ABC30DE144}"/>
              </a:ext>
            </a:extLst>
          </p:cNvPr>
          <p:cNvSpPr>
            <a:spLocks noGrp="1"/>
          </p:cNvSpPr>
          <p:nvPr/>
        </p:nvSpPr>
        <p:spPr>
          <a:xfrm>
            <a:off x="5543550" y="5553075"/>
            <a:ext cx="60102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추가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장면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평가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작은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객체의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오류</a:t>
            </a:r>
            <a:r>
              <a:rPr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분석</a:t>
            </a:r>
            <a:endParaRPr lang="en-US" sz="2025" dirty="0">
              <a:solidFill>
                <a:srgbClr val="27313C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2025" b="0">
                <a:solidFill>
                  <a:srgbClr val="27313C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25" b="0" dirty="0">
                <a:solidFill>
                  <a:srgbClr val="27313C"/>
                </a:solidFill>
                <a:latin typeface="Malgun Gothic"/>
                <a:ea typeface="Malgun Gothic"/>
                <a:cs typeface="Malgun Gothic"/>
              </a:rPr>
              <a:t>실제 우리나라 데이터 분석</a:t>
            </a:r>
            <a:endParaRPr lang="en-US" sz="2025" b="0" dirty="0">
              <a:solidFill>
                <a:srgbClr val="27313C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58963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결론 및 후속 연구">
            <a:extLst>
              <a:ext uri="{FF2B5EF4-FFF2-40B4-BE49-F238E27FC236}">
                <a16:creationId xmlns:a16="http://schemas.microsoft.com/office/drawing/2014/main" id="{E3F9C22A-B470-4AC1-94B9-2D0E710B5F79}"/>
              </a:ext>
            </a:extLst>
          </p:cNvPr>
          <p:cNvSpPr>
            <a:spLocks noGrp="1"/>
          </p:cNvSpPr>
          <p:nvPr/>
        </p:nvSpPr>
        <p:spPr>
          <a:xfrm>
            <a:off x="609600" y="50783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감사합니다</a:t>
            </a:r>
            <a:r>
              <a:rPr lang="en-US" altLang="ko-KR" sz="315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315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결론 및 후속 연구">
            <a:extLst>
              <a:ext uri="{FF2B5EF4-FFF2-40B4-BE49-F238E27FC236}">
                <a16:creationId xmlns:a16="http://schemas.microsoft.com/office/drawing/2014/main" id="{F47288B7-0048-B391-69F1-ACAEE24C703B}"/>
              </a:ext>
            </a:extLst>
          </p:cNvPr>
          <p:cNvSpPr>
            <a:spLocks noGrp="1"/>
          </p:cNvSpPr>
          <p:nvPr/>
        </p:nvSpPr>
        <p:spPr>
          <a:xfrm>
            <a:off x="609600" y="1385333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>
                <a:solidFill>
                  <a:srgbClr val="192E4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99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Q</a:t>
            </a:r>
            <a:r>
              <a:rPr lang="en-US" altLang="ko-KR" sz="7200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&amp;</a:t>
            </a:r>
            <a:r>
              <a:rPr lang="en-US" altLang="ko-KR" sz="19900" b="1" dirty="0">
                <a:solidFill>
                  <a:srgbClr val="192E46"/>
                </a:solidFill>
                <a:latin typeface="Malgun Gothic"/>
                <a:ea typeface="Malgun Gothic"/>
                <a:cs typeface="Malgun Gothic"/>
              </a:rPr>
              <a:t>A</a:t>
            </a:r>
            <a:endParaRPr sz="19900" b="1" dirty="0">
              <a:solidFill>
                <a:srgbClr val="192E46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168892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2609</Words>
  <Application>Microsoft Office PowerPoint</Application>
  <DocSecurity>0</DocSecurity>
  <PresentationFormat>와이드스크린</PresentationFormat>
  <Paragraphs>445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DejaVu Sans</vt:lpstr>
      <vt:lpstr>KoPub돋움체 Medium</vt:lpstr>
      <vt:lpstr>Malgun Gothic</vt:lpstr>
      <vt:lpstr>Malgun Gothic</vt:lpstr>
      <vt:lpstr>Arial</vt:lpstr>
      <vt:lpstr>Calibri</vt:lpstr>
      <vt:lpstr>Wingdings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82</cp:revision>
  <dcterms:created xsi:type="dcterms:W3CDTF">2026-09-21T08:20:56Z</dcterms:created>
  <dcterms:modified xsi:type="dcterms:W3CDTF">2026-09-29T05:19:00Z</dcterms:modified>
</cp:coreProperties>
</file>